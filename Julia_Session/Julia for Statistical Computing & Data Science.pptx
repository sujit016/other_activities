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58" r:id="rId3"/>
    <p:sldId id="297" r:id="rId4"/>
    <p:sldId id="298" r:id="rId5"/>
    <p:sldId id="296" r:id="rId6"/>
    <p:sldId id="299" r:id="rId7"/>
    <p:sldId id="300" r:id="rId8"/>
    <p:sldId id="301" r:id="rId9"/>
    <p:sldId id="302" r:id="rId10"/>
    <p:sldId id="303" r:id="rId11"/>
    <p:sldId id="304" r:id="rId12"/>
    <p:sldId id="265" r:id="rId13"/>
    <p:sldId id="312" r:id="rId14"/>
    <p:sldId id="308" r:id="rId15"/>
    <p:sldId id="309" r:id="rId16"/>
    <p:sldId id="260" r:id="rId17"/>
    <p:sldId id="283" r:id="rId18"/>
    <p:sldId id="290" r:id="rId19"/>
    <p:sldId id="313" r:id="rId20"/>
    <p:sldId id="261" r:id="rId21"/>
    <p:sldId id="267" r:id="rId22"/>
    <p:sldId id="266" r:id="rId23"/>
    <p:sldId id="268" r:id="rId24"/>
    <p:sldId id="269" r:id="rId25"/>
    <p:sldId id="270" r:id="rId26"/>
    <p:sldId id="271" r:id="rId27"/>
    <p:sldId id="272" r:id="rId28"/>
    <p:sldId id="273" r:id="rId29"/>
    <p:sldId id="274" r:id="rId30"/>
    <p:sldId id="275" r:id="rId31"/>
    <p:sldId id="276" r:id="rId32"/>
    <p:sldId id="277" r:id="rId33"/>
    <p:sldId id="264" r:id="rId34"/>
    <p:sldId id="314" r:id="rId35"/>
    <p:sldId id="310" r:id="rId36"/>
    <p:sldId id="311" r:id="rId37"/>
    <p:sldId id="307" r:id="rId38"/>
    <p:sldId id="315" r:id="rId39"/>
    <p:sldId id="317" r:id="rId40"/>
    <p:sldId id="31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3813" autoAdjust="0"/>
  </p:normalViewPr>
  <p:slideViewPr>
    <p:cSldViewPr snapToGrid="0">
      <p:cViewPr varScale="1">
        <p:scale>
          <a:sx n="62" d="100"/>
          <a:sy n="62" d="100"/>
        </p:scale>
        <p:origin x="16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B15B50-8F16-4968-BAF4-D3DE7F1D38FD}" type="datetimeFigureOut">
              <a:rPr lang="en-IN" smtClean="0"/>
              <a:t>13-02-2026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8B939C-D8C0-43C5-B928-D28BC299278E}" type="slidenum">
              <a:rPr lang="en-IN" smtClean="0"/>
              <a:t>‹#›</a:t>
            </a:fld>
            <a:endParaRPr lang="en-IN" dirty="0"/>
          </a:p>
        </p:txBody>
      </p:sp>
    </p:spTree>
    <p:extLst>
      <p:ext uri="{BB962C8B-B14F-4D97-AF65-F5344CB8AC3E}">
        <p14:creationId xmlns:p14="http://schemas.microsoft.com/office/powerpoint/2010/main" val="1393326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8B939C-D8C0-43C5-B928-D28BC299278E}" type="slidenum">
              <a:rPr lang="en-IN" smtClean="0"/>
              <a:t>1</a:t>
            </a:fld>
            <a:endParaRPr lang="en-IN" dirty="0"/>
          </a:p>
        </p:txBody>
      </p:sp>
    </p:spTree>
    <p:extLst>
      <p:ext uri="{BB962C8B-B14F-4D97-AF65-F5344CB8AC3E}">
        <p14:creationId xmlns:p14="http://schemas.microsoft.com/office/powerpoint/2010/main" val="2135555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8B939C-D8C0-43C5-B928-D28BC299278E}" type="slidenum">
              <a:rPr lang="en-IN" smtClean="0"/>
              <a:t>2</a:t>
            </a:fld>
            <a:endParaRPr lang="en-IN" dirty="0"/>
          </a:p>
        </p:txBody>
      </p:sp>
    </p:spTree>
    <p:extLst>
      <p:ext uri="{BB962C8B-B14F-4D97-AF65-F5344CB8AC3E}">
        <p14:creationId xmlns:p14="http://schemas.microsoft.com/office/powerpoint/2010/main" val="32156631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6557B-34BB-548B-96D0-689EE7589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02FB8-C8DE-78EE-642E-627C51290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1BFD3A-90AF-D02E-5C1E-5F28793E5A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9E32C0-0916-B478-E9E9-5B135BC51E27}"/>
              </a:ext>
            </a:extLst>
          </p:cNvPr>
          <p:cNvSpPr>
            <a:spLocks noGrp="1"/>
          </p:cNvSpPr>
          <p:nvPr>
            <p:ph type="sldNum" sz="quarter" idx="5"/>
          </p:nvPr>
        </p:nvSpPr>
        <p:spPr/>
        <p:txBody>
          <a:bodyPr/>
          <a:lstStyle/>
          <a:p>
            <a:fld id="{5B8B939C-D8C0-43C5-B928-D28BC299278E}" type="slidenum">
              <a:rPr lang="en-IN" smtClean="0"/>
              <a:t>3</a:t>
            </a:fld>
            <a:endParaRPr lang="en-IN" dirty="0"/>
          </a:p>
        </p:txBody>
      </p:sp>
    </p:spTree>
    <p:extLst>
      <p:ext uri="{BB962C8B-B14F-4D97-AF65-F5344CB8AC3E}">
        <p14:creationId xmlns:p14="http://schemas.microsoft.com/office/powerpoint/2010/main" val="2567305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8BB7B-C18F-1BC4-35FB-036E318DC2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8E738E-F06E-435D-448E-DABB6B5AB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5F02F2-06A4-C4BE-B6A3-5C8D07FC6D4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2E9F6B0-C059-DD5C-B14A-6BDF44137F2C}"/>
              </a:ext>
            </a:extLst>
          </p:cNvPr>
          <p:cNvSpPr>
            <a:spLocks noGrp="1"/>
          </p:cNvSpPr>
          <p:nvPr>
            <p:ph type="sldNum" sz="quarter" idx="5"/>
          </p:nvPr>
        </p:nvSpPr>
        <p:spPr/>
        <p:txBody>
          <a:bodyPr/>
          <a:lstStyle/>
          <a:p>
            <a:fld id="{5B8B939C-D8C0-43C5-B928-D28BC299278E}" type="slidenum">
              <a:rPr lang="en-IN" smtClean="0"/>
              <a:t>4</a:t>
            </a:fld>
            <a:endParaRPr lang="en-IN" dirty="0"/>
          </a:p>
        </p:txBody>
      </p:sp>
    </p:spTree>
    <p:extLst>
      <p:ext uri="{BB962C8B-B14F-4D97-AF65-F5344CB8AC3E}">
        <p14:creationId xmlns:p14="http://schemas.microsoft.com/office/powerpoint/2010/main" val="2465580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8B939C-D8C0-43C5-B928-D28BC299278E}" type="slidenum">
              <a:rPr lang="en-IN" smtClean="0"/>
              <a:t>5</a:t>
            </a:fld>
            <a:endParaRPr lang="en-IN" dirty="0"/>
          </a:p>
        </p:txBody>
      </p:sp>
    </p:spTree>
    <p:extLst>
      <p:ext uri="{BB962C8B-B14F-4D97-AF65-F5344CB8AC3E}">
        <p14:creationId xmlns:p14="http://schemas.microsoft.com/office/powerpoint/2010/main" val="422619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8B939C-D8C0-43C5-B928-D28BC299278E}" type="slidenum">
              <a:rPr lang="en-IN" smtClean="0"/>
              <a:t>6</a:t>
            </a:fld>
            <a:endParaRPr lang="en-IN" dirty="0"/>
          </a:p>
        </p:txBody>
      </p:sp>
    </p:spTree>
    <p:extLst>
      <p:ext uri="{BB962C8B-B14F-4D97-AF65-F5344CB8AC3E}">
        <p14:creationId xmlns:p14="http://schemas.microsoft.com/office/powerpoint/2010/main" val="1510483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A9A29-4BBB-FD21-8B81-91CFC5EDA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E6743-32C0-747F-04C5-9B61A14F58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6E008-1056-4224-50CA-A0A30DFDF26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589A304-85D2-45B1-DF30-86523CCBD18E}"/>
              </a:ext>
            </a:extLst>
          </p:cNvPr>
          <p:cNvSpPr>
            <a:spLocks noGrp="1"/>
          </p:cNvSpPr>
          <p:nvPr>
            <p:ph type="sldNum" sz="quarter" idx="5"/>
          </p:nvPr>
        </p:nvSpPr>
        <p:spPr/>
        <p:txBody>
          <a:bodyPr/>
          <a:lstStyle/>
          <a:p>
            <a:fld id="{5B8B939C-D8C0-43C5-B928-D28BC299278E}" type="slidenum">
              <a:rPr lang="en-IN" smtClean="0"/>
              <a:t>7</a:t>
            </a:fld>
            <a:endParaRPr lang="en-IN" dirty="0"/>
          </a:p>
        </p:txBody>
      </p:sp>
    </p:spTree>
    <p:extLst>
      <p:ext uri="{BB962C8B-B14F-4D97-AF65-F5344CB8AC3E}">
        <p14:creationId xmlns:p14="http://schemas.microsoft.com/office/powerpoint/2010/main" val="34413283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C063C-4765-7B3D-0BAC-C948DEF1E6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15AC81-233D-2C8F-DC6F-0AB26014B7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51EB6-7751-0047-4DBF-DF20B1178DE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8736EE8-BD44-E25F-D828-F9353C75C60A}"/>
              </a:ext>
            </a:extLst>
          </p:cNvPr>
          <p:cNvSpPr>
            <a:spLocks noGrp="1"/>
          </p:cNvSpPr>
          <p:nvPr>
            <p:ph type="sldNum" sz="quarter" idx="5"/>
          </p:nvPr>
        </p:nvSpPr>
        <p:spPr/>
        <p:txBody>
          <a:bodyPr/>
          <a:lstStyle/>
          <a:p>
            <a:fld id="{5B8B939C-D8C0-43C5-B928-D28BC299278E}" type="slidenum">
              <a:rPr lang="en-IN" smtClean="0"/>
              <a:t>8</a:t>
            </a:fld>
            <a:endParaRPr lang="en-IN" dirty="0"/>
          </a:p>
        </p:txBody>
      </p:sp>
    </p:spTree>
    <p:extLst>
      <p:ext uri="{BB962C8B-B14F-4D97-AF65-F5344CB8AC3E}">
        <p14:creationId xmlns:p14="http://schemas.microsoft.com/office/powerpoint/2010/main" val="2929817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96DAD-29F2-DFC0-5049-393CBDC8F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37B77-482E-1FAF-8F9F-DBA914133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769CE3-E40C-E290-DFD3-DDE9BCBFF37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54E89ED-D263-118C-4B80-5ED69EA2839F}"/>
              </a:ext>
            </a:extLst>
          </p:cNvPr>
          <p:cNvSpPr>
            <a:spLocks noGrp="1"/>
          </p:cNvSpPr>
          <p:nvPr>
            <p:ph type="sldNum" sz="quarter" idx="5"/>
          </p:nvPr>
        </p:nvSpPr>
        <p:spPr/>
        <p:txBody>
          <a:bodyPr/>
          <a:lstStyle/>
          <a:p>
            <a:fld id="{5B8B939C-D8C0-43C5-B928-D28BC299278E}" type="slidenum">
              <a:rPr lang="en-IN" smtClean="0"/>
              <a:t>9</a:t>
            </a:fld>
            <a:endParaRPr lang="en-IN" dirty="0"/>
          </a:p>
        </p:txBody>
      </p:sp>
    </p:spTree>
    <p:extLst>
      <p:ext uri="{BB962C8B-B14F-4D97-AF65-F5344CB8AC3E}">
        <p14:creationId xmlns:p14="http://schemas.microsoft.com/office/powerpoint/2010/main" val="2187474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757BF-1A31-E13D-FDAD-29D433274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005B2-87FE-D853-2746-AA4B739DA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8CA8C-313B-5D71-B47D-C7607088442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256427C-C49E-E35C-2900-6EA02C41F9E4}"/>
              </a:ext>
            </a:extLst>
          </p:cNvPr>
          <p:cNvSpPr>
            <a:spLocks noGrp="1"/>
          </p:cNvSpPr>
          <p:nvPr>
            <p:ph type="sldNum" sz="quarter" idx="5"/>
          </p:nvPr>
        </p:nvSpPr>
        <p:spPr/>
        <p:txBody>
          <a:bodyPr/>
          <a:lstStyle/>
          <a:p>
            <a:fld id="{5B8B939C-D8C0-43C5-B928-D28BC299278E}" type="slidenum">
              <a:rPr lang="en-IN" smtClean="0"/>
              <a:t>10</a:t>
            </a:fld>
            <a:endParaRPr lang="en-IN" dirty="0"/>
          </a:p>
        </p:txBody>
      </p:sp>
    </p:spTree>
    <p:extLst>
      <p:ext uri="{BB962C8B-B14F-4D97-AF65-F5344CB8AC3E}">
        <p14:creationId xmlns:p14="http://schemas.microsoft.com/office/powerpoint/2010/main" val="2803129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BBA98-3751-6E37-E12D-7508B0ACF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AD17E-3332-2421-5916-CB2857D66B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F7A50-7B26-D9ED-E6D7-91EEBF2F85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5EAAC99-5763-6A4B-CD3C-6267548B3C36}"/>
              </a:ext>
            </a:extLst>
          </p:cNvPr>
          <p:cNvSpPr>
            <a:spLocks noGrp="1"/>
          </p:cNvSpPr>
          <p:nvPr>
            <p:ph type="sldNum" sz="quarter" idx="5"/>
          </p:nvPr>
        </p:nvSpPr>
        <p:spPr/>
        <p:txBody>
          <a:bodyPr/>
          <a:lstStyle/>
          <a:p>
            <a:fld id="{5B8B939C-D8C0-43C5-B928-D28BC299278E}" type="slidenum">
              <a:rPr lang="en-IN" smtClean="0"/>
              <a:t>11</a:t>
            </a:fld>
            <a:endParaRPr lang="en-IN" dirty="0"/>
          </a:p>
        </p:txBody>
      </p:sp>
    </p:spTree>
    <p:extLst>
      <p:ext uri="{BB962C8B-B14F-4D97-AF65-F5344CB8AC3E}">
        <p14:creationId xmlns:p14="http://schemas.microsoft.com/office/powerpoint/2010/main" val="1106955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E56FA-CBC4-1341-2AEE-C51185708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56B34-2667-55E0-6B39-07B8FD5305C2}"/>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F9E8A009-28CC-FA1F-B8D4-8CC05962E4A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AC5F7CC-1017-A2EE-4FA0-9FDBF27E1628}"/>
              </a:ext>
            </a:extLst>
          </p:cNvPr>
          <p:cNvSpPr>
            <a:spLocks noGrp="1"/>
          </p:cNvSpPr>
          <p:nvPr>
            <p:ph type="sldNum" sz="quarter" idx="5"/>
          </p:nvPr>
        </p:nvSpPr>
        <p:spPr/>
        <p:txBody>
          <a:bodyPr/>
          <a:lstStyle/>
          <a:p>
            <a:fld id="{5B8B939C-D8C0-43C5-B928-D28BC299278E}" type="slidenum">
              <a:rPr lang="en-IN" smtClean="0"/>
              <a:t>12</a:t>
            </a:fld>
            <a:endParaRPr lang="en-IN" dirty="0"/>
          </a:p>
        </p:txBody>
      </p:sp>
    </p:spTree>
    <p:extLst>
      <p:ext uri="{BB962C8B-B14F-4D97-AF65-F5344CB8AC3E}">
        <p14:creationId xmlns:p14="http://schemas.microsoft.com/office/powerpoint/2010/main" val="3265650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DA718-7C64-4C78-9E7F-A09968E65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7CDB8-56AF-8874-72A6-283FF479DDBE}"/>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E20EFD63-8E50-0E4B-C13A-164303F424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72EEF2-413D-C7ED-A1B1-4FB77AAF85AC}"/>
              </a:ext>
            </a:extLst>
          </p:cNvPr>
          <p:cNvSpPr>
            <a:spLocks noGrp="1"/>
          </p:cNvSpPr>
          <p:nvPr>
            <p:ph type="sldNum" sz="quarter" idx="5"/>
          </p:nvPr>
        </p:nvSpPr>
        <p:spPr/>
        <p:txBody>
          <a:bodyPr/>
          <a:lstStyle/>
          <a:p>
            <a:fld id="{5B8B939C-D8C0-43C5-B928-D28BC299278E}" type="slidenum">
              <a:rPr lang="en-IN" smtClean="0"/>
              <a:t>13</a:t>
            </a:fld>
            <a:endParaRPr lang="en-IN" dirty="0"/>
          </a:p>
        </p:txBody>
      </p:sp>
    </p:spTree>
    <p:extLst>
      <p:ext uri="{BB962C8B-B14F-4D97-AF65-F5344CB8AC3E}">
        <p14:creationId xmlns:p14="http://schemas.microsoft.com/office/powerpoint/2010/main" val="4093157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60359-C1FF-2AD1-4328-685F13B65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1B1B4-A0DE-34D2-E241-CC9C74111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3F7AC-B076-9CD8-76C9-8181BFAACF3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F1987A9-D4E7-D18C-039A-0705D877BD39}"/>
              </a:ext>
            </a:extLst>
          </p:cNvPr>
          <p:cNvSpPr>
            <a:spLocks noGrp="1"/>
          </p:cNvSpPr>
          <p:nvPr>
            <p:ph type="sldNum" sz="quarter" idx="5"/>
          </p:nvPr>
        </p:nvSpPr>
        <p:spPr/>
        <p:txBody>
          <a:bodyPr/>
          <a:lstStyle/>
          <a:p>
            <a:fld id="{5B8B939C-D8C0-43C5-B928-D28BC299278E}" type="slidenum">
              <a:rPr lang="en-IN" smtClean="0"/>
              <a:t>14</a:t>
            </a:fld>
            <a:endParaRPr lang="en-IN" dirty="0"/>
          </a:p>
        </p:txBody>
      </p:sp>
    </p:spTree>
    <p:extLst>
      <p:ext uri="{BB962C8B-B14F-4D97-AF65-F5344CB8AC3E}">
        <p14:creationId xmlns:p14="http://schemas.microsoft.com/office/powerpoint/2010/main" val="2617513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F33FC-5D33-661E-F75C-E96F98DCC1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34D070-A3E6-C2B2-A1F6-DBB7039A7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7904A4-1854-003F-62E2-8E6B8402CBE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46B1C2-D097-FEF3-5D1B-D6B5F7F3607A}"/>
              </a:ext>
            </a:extLst>
          </p:cNvPr>
          <p:cNvSpPr>
            <a:spLocks noGrp="1"/>
          </p:cNvSpPr>
          <p:nvPr>
            <p:ph type="sldNum" sz="quarter" idx="5"/>
          </p:nvPr>
        </p:nvSpPr>
        <p:spPr/>
        <p:txBody>
          <a:bodyPr/>
          <a:lstStyle/>
          <a:p>
            <a:fld id="{5B8B939C-D8C0-43C5-B928-D28BC299278E}" type="slidenum">
              <a:rPr lang="en-IN" smtClean="0"/>
              <a:t>15</a:t>
            </a:fld>
            <a:endParaRPr lang="en-IN" dirty="0"/>
          </a:p>
        </p:txBody>
      </p:sp>
    </p:spTree>
    <p:extLst>
      <p:ext uri="{BB962C8B-B14F-4D97-AF65-F5344CB8AC3E}">
        <p14:creationId xmlns:p14="http://schemas.microsoft.com/office/powerpoint/2010/main" val="1554917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8B939C-D8C0-43C5-B928-D28BC299278E}" type="slidenum">
              <a:rPr lang="en-IN" smtClean="0"/>
              <a:t>17</a:t>
            </a:fld>
            <a:endParaRPr lang="en-IN" dirty="0"/>
          </a:p>
        </p:txBody>
      </p:sp>
    </p:spTree>
    <p:extLst>
      <p:ext uri="{BB962C8B-B14F-4D97-AF65-F5344CB8AC3E}">
        <p14:creationId xmlns:p14="http://schemas.microsoft.com/office/powerpoint/2010/main" val="2095392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3F417-C625-8DD2-ADC0-B20472734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3A84E-717F-CA84-AA81-5FFA5B25481C}"/>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2CB6316A-1E85-8289-B899-B9AFB39E03F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88DE978-4461-6BE5-6FCA-5B2FDD8472F4}"/>
              </a:ext>
            </a:extLst>
          </p:cNvPr>
          <p:cNvSpPr>
            <a:spLocks noGrp="1"/>
          </p:cNvSpPr>
          <p:nvPr>
            <p:ph type="sldNum" sz="quarter" idx="5"/>
          </p:nvPr>
        </p:nvSpPr>
        <p:spPr/>
        <p:txBody>
          <a:bodyPr/>
          <a:lstStyle/>
          <a:p>
            <a:fld id="{5B8B939C-D8C0-43C5-B928-D28BC299278E}" type="slidenum">
              <a:rPr lang="en-IN" smtClean="0"/>
              <a:t>18</a:t>
            </a:fld>
            <a:endParaRPr lang="en-IN" dirty="0"/>
          </a:p>
        </p:txBody>
      </p:sp>
    </p:spTree>
    <p:extLst>
      <p:ext uri="{BB962C8B-B14F-4D97-AF65-F5344CB8AC3E}">
        <p14:creationId xmlns:p14="http://schemas.microsoft.com/office/powerpoint/2010/main" val="3567871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EF3FA-17D0-9C97-DBEA-3752FB0AF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DBA58-7BDA-869E-4A3C-9B330722D308}"/>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B19E2225-4C08-E9BC-E530-47EE1CB461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D0882B8-8BF4-1C06-FF73-B1F3EAD9C5A0}"/>
              </a:ext>
            </a:extLst>
          </p:cNvPr>
          <p:cNvSpPr>
            <a:spLocks noGrp="1"/>
          </p:cNvSpPr>
          <p:nvPr>
            <p:ph type="sldNum" sz="quarter" idx="5"/>
          </p:nvPr>
        </p:nvSpPr>
        <p:spPr/>
        <p:txBody>
          <a:bodyPr/>
          <a:lstStyle/>
          <a:p>
            <a:fld id="{5B8B939C-D8C0-43C5-B928-D28BC299278E}" type="slidenum">
              <a:rPr lang="en-IN" smtClean="0"/>
              <a:t>19</a:t>
            </a:fld>
            <a:endParaRPr lang="en-IN" dirty="0"/>
          </a:p>
        </p:txBody>
      </p:sp>
    </p:spTree>
    <p:extLst>
      <p:ext uri="{BB962C8B-B14F-4D97-AF65-F5344CB8AC3E}">
        <p14:creationId xmlns:p14="http://schemas.microsoft.com/office/powerpoint/2010/main" val="40315032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B8B939C-D8C0-43C5-B928-D28BC299278E}" type="slidenum">
              <a:rPr lang="en-IN" smtClean="0"/>
              <a:t>20</a:t>
            </a:fld>
            <a:endParaRPr lang="en-IN" dirty="0"/>
          </a:p>
        </p:txBody>
      </p:sp>
    </p:spTree>
    <p:extLst>
      <p:ext uri="{BB962C8B-B14F-4D97-AF65-F5344CB8AC3E}">
        <p14:creationId xmlns:p14="http://schemas.microsoft.com/office/powerpoint/2010/main" val="34732681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19518-C9EB-901E-02B5-2EC7D3FF32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BB121-DE23-DBBB-1A74-F3B991C44621}"/>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4716D737-B767-00CF-A3E1-2B7386DAC2A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6E64126-4510-F413-405F-89BB2E6EC865}"/>
              </a:ext>
            </a:extLst>
          </p:cNvPr>
          <p:cNvSpPr>
            <a:spLocks noGrp="1"/>
          </p:cNvSpPr>
          <p:nvPr>
            <p:ph type="sldNum" sz="quarter" idx="5"/>
          </p:nvPr>
        </p:nvSpPr>
        <p:spPr/>
        <p:txBody>
          <a:bodyPr/>
          <a:lstStyle/>
          <a:p>
            <a:fld id="{5B8B939C-D8C0-43C5-B928-D28BC299278E}" type="slidenum">
              <a:rPr lang="en-IN" smtClean="0"/>
              <a:t>21</a:t>
            </a:fld>
            <a:endParaRPr lang="en-IN" dirty="0"/>
          </a:p>
        </p:txBody>
      </p:sp>
    </p:spTree>
    <p:extLst>
      <p:ext uri="{BB962C8B-B14F-4D97-AF65-F5344CB8AC3E}">
        <p14:creationId xmlns:p14="http://schemas.microsoft.com/office/powerpoint/2010/main" val="3871087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16B07-BF18-1DFB-829C-3B7A730C9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8683B-D5FA-9CA8-7499-901A2840A377}"/>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A9E4E127-DF02-002F-9E97-4A8BAAD2C54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2E0AD5-35FD-15BD-4EE4-9BBF13124583}"/>
              </a:ext>
            </a:extLst>
          </p:cNvPr>
          <p:cNvSpPr>
            <a:spLocks noGrp="1"/>
          </p:cNvSpPr>
          <p:nvPr>
            <p:ph type="sldNum" sz="quarter" idx="5"/>
          </p:nvPr>
        </p:nvSpPr>
        <p:spPr/>
        <p:txBody>
          <a:bodyPr/>
          <a:lstStyle/>
          <a:p>
            <a:fld id="{5B8B939C-D8C0-43C5-B928-D28BC299278E}" type="slidenum">
              <a:rPr lang="en-IN" smtClean="0"/>
              <a:t>22</a:t>
            </a:fld>
            <a:endParaRPr lang="en-IN" dirty="0"/>
          </a:p>
        </p:txBody>
      </p:sp>
    </p:spTree>
    <p:extLst>
      <p:ext uri="{BB962C8B-B14F-4D97-AF65-F5344CB8AC3E}">
        <p14:creationId xmlns:p14="http://schemas.microsoft.com/office/powerpoint/2010/main" val="2077496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41583-0E62-C0E9-0CC8-3C3AA28C07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CB54D-52F2-3C12-29E6-C23F1EFCE35B}"/>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7BA2EAF8-71E2-A284-6989-816901A01D9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7B95EB7-59EF-FFFC-EE64-E58115D56396}"/>
              </a:ext>
            </a:extLst>
          </p:cNvPr>
          <p:cNvSpPr>
            <a:spLocks noGrp="1"/>
          </p:cNvSpPr>
          <p:nvPr>
            <p:ph type="sldNum" sz="quarter" idx="5"/>
          </p:nvPr>
        </p:nvSpPr>
        <p:spPr/>
        <p:txBody>
          <a:bodyPr/>
          <a:lstStyle/>
          <a:p>
            <a:fld id="{5B8B939C-D8C0-43C5-B928-D28BC299278E}" type="slidenum">
              <a:rPr lang="en-IN" smtClean="0"/>
              <a:t>23</a:t>
            </a:fld>
            <a:endParaRPr lang="en-IN" dirty="0"/>
          </a:p>
        </p:txBody>
      </p:sp>
    </p:spTree>
    <p:extLst>
      <p:ext uri="{BB962C8B-B14F-4D97-AF65-F5344CB8AC3E}">
        <p14:creationId xmlns:p14="http://schemas.microsoft.com/office/powerpoint/2010/main" val="35816352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F6668-081A-D098-5BF3-83A9847518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9BBD2-0099-3DE9-7DA3-6A4444A99E6C}"/>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5BF4AD4E-126D-9D3B-17AF-EA573FF1C5D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807186A-3407-59D0-96B1-529E62571D1C}"/>
              </a:ext>
            </a:extLst>
          </p:cNvPr>
          <p:cNvSpPr>
            <a:spLocks noGrp="1"/>
          </p:cNvSpPr>
          <p:nvPr>
            <p:ph type="sldNum" sz="quarter" idx="5"/>
          </p:nvPr>
        </p:nvSpPr>
        <p:spPr/>
        <p:txBody>
          <a:bodyPr/>
          <a:lstStyle/>
          <a:p>
            <a:fld id="{5B8B939C-D8C0-43C5-B928-D28BC299278E}" type="slidenum">
              <a:rPr lang="en-IN" smtClean="0"/>
              <a:t>24</a:t>
            </a:fld>
            <a:endParaRPr lang="en-IN" dirty="0"/>
          </a:p>
        </p:txBody>
      </p:sp>
    </p:spTree>
    <p:extLst>
      <p:ext uri="{BB962C8B-B14F-4D97-AF65-F5344CB8AC3E}">
        <p14:creationId xmlns:p14="http://schemas.microsoft.com/office/powerpoint/2010/main" val="37975533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BF7F1-84F7-3273-6BF4-46B378B80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75BF18-F418-2254-D51E-65F5EF730A95}"/>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58A32C0C-3DF5-0413-7E16-88706152014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5755A7-E757-84A1-6035-97C386C9707C}"/>
              </a:ext>
            </a:extLst>
          </p:cNvPr>
          <p:cNvSpPr>
            <a:spLocks noGrp="1"/>
          </p:cNvSpPr>
          <p:nvPr>
            <p:ph type="sldNum" sz="quarter" idx="5"/>
          </p:nvPr>
        </p:nvSpPr>
        <p:spPr/>
        <p:txBody>
          <a:bodyPr/>
          <a:lstStyle/>
          <a:p>
            <a:fld id="{5B8B939C-D8C0-43C5-B928-D28BC299278E}" type="slidenum">
              <a:rPr lang="en-IN" smtClean="0"/>
              <a:t>25</a:t>
            </a:fld>
            <a:endParaRPr lang="en-IN" dirty="0"/>
          </a:p>
        </p:txBody>
      </p:sp>
    </p:spTree>
    <p:extLst>
      <p:ext uri="{BB962C8B-B14F-4D97-AF65-F5344CB8AC3E}">
        <p14:creationId xmlns:p14="http://schemas.microsoft.com/office/powerpoint/2010/main" val="25629633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1B8E7-9E75-5400-6876-504C071B4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DADA3-FD28-C146-D020-1485618FBA4D}"/>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245BF1FC-21E3-15FB-C53E-4A96CEC167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D0BA80E-0DBD-E382-F700-E68F19220EE1}"/>
              </a:ext>
            </a:extLst>
          </p:cNvPr>
          <p:cNvSpPr>
            <a:spLocks noGrp="1"/>
          </p:cNvSpPr>
          <p:nvPr>
            <p:ph type="sldNum" sz="quarter" idx="5"/>
          </p:nvPr>
        </p:nvSpPr>
        <p:spPr/>
        <p:txBody>
          <a:bodyPr/>
          <a:lstStyle/>
          <a:p>
            <a:fld id="{5B8B939C-D8C0-43C5-B928-D28BC299278E}" type="slidenum">
              <a:rPr lang="en-IN" smtClean="0"/>
              <a:t>26</a:t>
            </a:fld>
            <a:endParaRPr lang="en-IN" dirty="0"/>
          </a:p>
        </p:txBody>
      </p:sp>
    </p:spTree>
    <p:extLst>
      <p:ext uri="{BB962C8B-B14F-4D97-AF65-F5344CB8AC3E}">
        <p14:creationId xmlns:p14="http://schemas.microsoft.com/office/powerpoint/2010/main" val="1581772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FDC52-0D72-7BCB-C85D-D06257220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65F0A-CC92-B635-08FC-6D133A8386B2}"/>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9385DBAE-FEAB-11D4-0B08-AC7CD5B48C6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5676885-BAF0-6B6B-B6F2-F480EF7736AE}"/>
              </a:ext>
            </a:extLst>
          </p:cNvPr>
          <p:cNvSpPr>
            <a:spLocks noGrp="1"/>
          </p:cNvSpPr>
          <p:nvPr>
            <p:ph type="sldNum" sz="quarter" idx="5"/>
          </p:nvPr>
        </p:nvSpPr>
        <p:spPr/>
        <p:txBody>
          <a:bodyPr/>
          <a:lstStyle/>
          <a:p>
            <a:fld id="{5B8B939C-D8C0-43C5-B928-D28BC299278E}" type="slidenum">
              <a:rPr lang="en-IN" smtClean="0"/>
              <a:t>27</a:t>
            </a:fld>
            <a:endParaRPr lang="en-IN" dirty="0"/>
          </a:p>
        </p:txBody>
      </p:sp>
    </p:spTree>
    <p:extLst>
      <p:ext uri="{BB962C8B-B14F-4D97-AF65-F5344CB8AC3E}">
        <p14:creationId xmlns:p14="http://schemas.microsoft.com/office/powerpoint/2010/main" val="7019121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05A2-2747-B420-4595-8010FF270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AA1E-2D87-0566-2DC9-F24569822F00}"/>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B61060E0-2EB0-E10E-EF78-49C7DA38639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B7D09AE-4C2D-A79D-09E5-DCE5017C719E}"/>
              </a:ext>
            </a:extLst>
          </p:cNvPr>
          <p:cNvSpPr>
            <a:spLocks noGrp="1"/>
          </p:cNvSpPr>
          <p:nvPr>
            <p:ph type="sldNum" sz="quarter" idx="5"/>
          </p:nvPr>
        </p:nvSpPr>
        <p:spPr/>
        <p:txBody>
          <a:bodyPr/>
          <a:lstStyle/>
          <a:p>
            <a:fld id="{5B8B939C-D8C0-43C5-B928-D28BC299278E}" type="slidenum">
              <a:rPr lang="en-IN" smtClean="0"/>
              <a:t>28</a:t>
            </a:fld>
            <a:endParaRPr lang="en-IN" dirty="0"/>
          </a:p>
        </p:txBody>
      </p:sp>
    </p:spTree>
    <p:extLst>
      <p:ext uri="{BB962C8B-B14F-4D97-AF65-F5344CB8AC3E}">
        <p14:creationId xmlns:p14="http://schemas.microsoft.com/office/powerpoint/2010/main" val="32034455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64675-3EF3-9166-87D5-098A3E650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68C538-837A-8F9D-7BE0-CF976D712AFD}"/>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54951C7F-8626-EAAF-1F52-3836C476B73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397CDE-D452-357F-87A5-8AAC89DB957A}"/>
              </a:ext>
            </a:extLst>
          </p:cNvPr>
          <p:cNvSpPr>
            <a:spLocks noGrp="1"/>
          </p:cNvSpPr>
          <p:nvPr>
            <p:ph type="sldNum" sz="quarter" idx="5"/>
          </p:nvPr>
        </p:nvSpPr>
        <p:spPr/>
        <p:txBody>
          <a:bodyPr/>
          <a:lstStyle/>
          <a:p>
            <a:fld id="{5B8B939C-D8C0-43C5-B928-D28BC299278E}" type="slidenum">
              <a:rPr lang="en-IN" smtClean="0"/>
              <a:t>29</a:t>
            </a:fld>
            <a:endParaRPr lang="en-IN" dirty="0"/>
          </a:p>
        </p:txBody>
      </p:sp>
    </p:spTree>
    <p:extLst>
      <p:ext uri="{BB962C8B-B14F-4D97-AF65-F5344CB8AC3E}">
        <p14:creationId xmlns:p14="http://schemas.microsoft.com/office/powerpoint/2010/main" val="37628673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B761C-C399-D170-4BBD-EF28D0813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4E1B3-824B-2809-24F9-DF98109ACAA6}"/>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57E2AE2E-4C35-61BD-A187-78A504E78C5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0A2E34-09B9-66FF-AB41-49F07AFBD869}"/>
              </a:ext>
            </a:extLst>
          </p:cNvPr>
          <p:cNvSpPr>
            <a:spLocks noGrp="1"/>
          </p:cNvSpPr>
          <p:nvPr>
            <p:ph type="sldNum" sz="quarter" idx="5"/>
          </p:nvPr>
        </p:nvSpPr>
        <p:spPr/>
        <p:txBody>
          <a:bodyPr/>
          <a:lstStyle/>
          <a:p>
            <a:fld id="{5B8B939C-D8C0-43C5-B928-D28BC299278E}" type="slidenum">
              <a:rPr lang="en-IN" smtClean="0"/>
              <a:t>30</a:t>
            </a:fld>
            <a:endParaRPr lang="en-IN" dirty="0"/>
          </a:p>
        </p:txBody>
      </p:sp>
    </p:spTree>
    <p:extLst>
      <p:ext uri="{BB962C8B-B14F-4D97-AF65-F5344CB8AC3E}">
        <p14:creationId xmlns:p14="http://schemas.microsoft.com/office/powerpoint/2010/main" val="32298781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F7B64-837E-3D83-BBE3-7639B90BF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343F90-B9BE-6519-9649-65A66D883201}"/>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E3898E8D-5716-F0C5-F231-76B3889B915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2F4CBF4-AE89-70D4-C351-9E82D014F08A}"/>
              </a:ext>
            </a:extLst>
          </p:cNvPr>
          <p:cNvSpPr>
            <a:spLocks noGrp="1"/>
          </p:cNvSpPr>
          <p:nvPr>
            <p:ph type="sldNum" sz="quarter" idx="5"/>
          </p:nvPr>
        </p:nvSpPr>
        <p:spPr/>
        <p:txBody>
          <a:bodyPr/>
          <a:lstStyle/>
          <a:p>
            <a:fld id="{5B8B939C-D8C0-43C5-B928-D28BC299278E}" type="slidenum">
              <a:rPr lang="en-IN" smtClean="0"/>
              <a:t>31</a:t>
            </a:fld>
            <a:endParaRPr lang="en-IN" dirty="0"/>
          </a:p>
        </p:txBody>
      </p:sp>
    </p:spTree>
    <p:extLst>
      <p:ext uri="{BB962C8B-B14F-4D97-AF65-F5344CB8AC3E}">
        <p14:creationId xmlns:p14="http://schemas.microsoft.com/office/powerpoint/2010/main" val="16880628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D60A7-5090-0ACA-6DEF-AA6B52B119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C0E806-D7C9-F942-D8D1-7739D6A65286}"/>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D1B9E313-8F74-ECE2-6BF1-2BC0F80657A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B6B200-2663-622E-2538-F1BDD68FF1CC}"/>
              </a:ext>
            </a:extLst>
          </p:cNvPr>
          <p:cNvSpPr>
            <a:spLocks noGrp="1"/>
          </p:cNvSpPr>
          <p:nvPr>
            <p:ph type="sldNum" sz="quarter" idx="5"/>
          </p:nvPr>
        </p:nvSpPr>
        <p:spPr/>
        <p:txBody>
          <a:bodyPr/>
          <a:lstStyle/>
          <a:p>
            <a:fld id="{5B8B939C-D8C0-43C5-B928-D28BC299278E}" type="slidenum">
              <a:rPr lang="en-IN" smtClean="0"/>
              <a:t>32</a:t>
            </a:fld>
            <a:endParaRPr lang="en-IN" dirty="0"/>
          </a:p>
        </p:txBody>
      </p:sp>
    </p:spTree>
    <p:extLst>
      <p:ext uri="{BB962C8B-B14F-4D97-AF65-F5344CB8AC3E}">
        <p14:creationId xmlns:p14="http://schemas.microsoft.com/office/powerpoint/2010/main" val="31219259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DBADF-179A-F273-3BD7-E7ADCFEFD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ECA928-BC02-CE06-5C5E-C77F9E1C8660}"/>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41640D4F-7A50-38B7-327C-3E7FD999802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B4F783F-FE09-FBAE-8E04-DCDDC1759EEA}"/>
              </a:ext>
            </a:extLst>
          </p:cNvPr>
          <p:cNvSpPr>
            <a:spLocks noGrp="1"/>
          </p:cNvSpPr>
          <p:nvPr>
            <p:ph type="sldNum" sz="quarter" idx="5"/>
          </p:nvPr>
        </p:nvSpPr>
        <p:spPr/>
        <p:txBody>
          <a:bodyPr/>
          <a:lstStyle/>
          <a:p>
            <a:fld id="{5B8B939C-D8C0-43C5-B928-D28BC299278E}" type="slidenum">
              <a:rPr lang="en-IN" smtClean="0"/>
              <a:t>33</a:t>
            </a:fld>
            <a:endParaRPr lang="en-IN" dirty="0"/>
          </a:p>
        </p:txBody>
      </p:sp>
    </p:spTree>
    <p:extLst>
      <p:ext uri="{BB962C8B-B14F-4D97-AF65-F5344CB8AC3E}">
        <p14:creationId xmlns:p14="http://schemas.microsoft.com/office/powerpoint/2010/main" val="36947513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23C3F-5096-3459-E77C-BD71BA249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AA165-506D-C0A3-E611-44A04CBCE234}"/>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435F2AF4-DEB0-FB3D-5ED3-9F1E3467C50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5581D70-CB65-C763-62C3-1D563D9B9947}"/>
              </a:ext>
            </a:extLst>
          </p:cNvPr>
          <p:cNvSpPr>
            <a:spLocks noGrp="1"/>
          </p:cNvSpPr>
          <p:nvPr>
            <p:ph type="sldNum" sz="quarter" idx="5"/>
          </p:nvPr>
        </p:nvSpPr>
        <p:spPr/>
        <p:txBody>
          <a:bodyPr/>
          <a:lstStyle/>
          <a:p>
            <a:fld id="{5B8B939C-D8C0-43C5-B928-D28BC299278E}" type="slidenum">
              <a:rPr lang="en-IN" smtClean="0"/>
              <a:t>34</a:t>
            </a:fld>
            <a:endParaRPr lang="en-IN" dirty="0"/>
          </a:p>
        </p:txBody>
      </p:sp>
    </p:spTree>
    <p:extLst>
      <p:ext uri="{BB962C8B-B14F-4D97-AF65-F5344CB8AC3E}">
        <p14:creationId xmlns:p14="http://schemas.microsoft.com/office/powerpoint/2010/main" val="17479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E26AD-7D2C-ED45-D911-19D6E61772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F5AE4-EB90-3BC0-6CE1-D460F233CBCB}"/>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C24BD119-7A3B-6979-A59C-60ED4E7466B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2032F43-222F-DFF2-8974-7F6316090713}"/>
              </a:ext>
            </a:extLst>
          </p:cNvPr>
          <p:cNvSpPr>
            <a:spLocks noGrp="1"/>
          </p:cNvSpPr>
          <p:nvPr>
            <p:ph type="sldNum" sz="quarter" idx="5"/>
          </p:nvPr>
        </p:nvSpPr>
        <p:spPr/>
        <p:txBody>
          <a:bodyPr/>
          <a:lstStyle/>
          <a:p>
            <a:fld id="{5B8B939C-D8C0-43C5-B928-D28BC299278E}" type="slidenum">
              <a:rPr lang="en-IN" smtClean="0"/>
              <a:t>35</a:t>
            </a:fld>
            <a:endParaRPr lang="en-IN" dirty="0"/>
          </a:p>
        </p:txBody>
      </p:sp>
    </p:spTree>
    <p:extLst>
      <p:ext uri="{BB962C8B-B14F-4D97-AF65-F5344CB8AC3E}">
        <p14:creationId xmlns:p14="http://schemas.microsoft.com/office/powerpoint/2010/main" val="15607005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BB0D5-563B-0E05-958A-DBB68A0B6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3A253E-DE4A-07B5-B9C3-008E739A41B5}"/>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22257898-2C45-CE89-3779-B22924A7FB9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7EE090F-91C5-D1A7-E171-C3D60F9FC39F}"/>
              </a:ext>
            </a:extLst>
          </p:cNvPr>
          <p:cNvSpPr>
            <a:spLocks noGrp="1"/>
          </p:cNvSpPr>
          <p:nvPr>
            <p:ph type="sldNum" sz="quarter" idx="5"/>
          </p:nvPr>
        </p:nvSpPr>
        <p:spPr/>
        <p:txBody>
          <a:bodyPr/>
          <a:lstStyle/>
          <a:p>
            <a:fld id="{5B8B939C-D8C0-43C5-B928-D28BC299278E}" type="slidenum">
              <a:rPr lang="en-IN" smtClean="0"/>
              <a:t>36</a:t>
            </a:fld>
            <a:endParaRPr lang="en-IN" dirty="0"/>
          </a:p>
        </p:txBody>
      </p:sp>
    </p:spTree>
    <p:extLst>
      <p:ext uri="{BB962C8B-B14F-4D97-AF65-F5344CB8AC3E}">
        <p14:creationId xmlns:p14="http://schemas.microsoft.com/office/powerpoint/2010/main" val="40557201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BAD4F-F166-0612-FE70-7977623FF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2810BA-DEAB-906F-3D6F-D92E7E591285}"/>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1A5808FB-DFBC-6F02-BF9A-25FC6AF5CB1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877074F-D7F0-B1C2-F47E-B774AE58660E}"/>
              </a:ext>
            </a:extLst>
          </p:cNvPr>
          <p:cNvSpPr>
            <a:spLocks noGrp="1"/>
          </p:cNvSpPr>
          <p:nvPr>
            <p:ph type="sldNum" sz="quarter" idx="5"/>
          </p:nvPr>
        </p:nvSpPr>
        <p:spPr/>
        <p:txBody>
          <a:bodyPr/>
          <a:lstStyle/>
          <a:p>
            <a:fld id="{5B8B939C-D8C0-43C5-B928-D28BC299278E}" type="slidenum">
              <a:rPr lang="en-IN" smtClean="0"/>
              <a:t>37</a:t>
            </a:fld>
            <a:endParaRPr lang="en-IN" dirty="0"/>
          </a:p>
        </p:txBody>
      </p:sp>
    </p:spTree>
    <p:extLst>
      <p:ext uri="{BB962C8B-B14F-4D97-AF65-F5344CB8AC3E}">
        <p14:creationId xmlns:p14="http://schemas.microsoft.com/office/powerpoint/2010/main" val="29491197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7A9AC-FBD7-CA9A-5937-833C664FE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DB651-FB26-E333-A741-336B32BDEC1A}"/>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CFA0C9DF-99C7-9090-2AAD-59A56345FC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E72E615-9C0B-81AD-312E-7CA21107F44B}"/>
              </a:ext>
            </a:extLst>
          </p:cNvPr>
          <p:cNvSpPr>
            <a:spLocks noGrp="1"/>
          </p:cNvSpPr>
          <p:nvPr>
            <p:ph type="sldNum" sz="quarter" idx="5"/>
          </p:nvPr>
        </p:nvSpPr>
        <p:spPr/>
        <p:txBody>
          <a:bodyPr/>
          <a:lstStyle/>
          <a:p>
            <a:fld id="{5B8B939C-D8C0-43C5-B928-D28BC299278E}" type="slidenum">
              <a:rPr lang="en-IN" smtClean="0"/>
              <a:t>38</a:t>
            </a:fld>
            <a:endParaRPr lang="en-IN" dirty="0"/>
          </a:p>
        </p:txBody>
      </p:sp>
    </p:spTree>
    <p:extLst>
      <p:ext uri="{BB962C8B-B14F-4D97-AF65-F5344CB8AC3E}">
        <p14:creationId xmlns:p14="http://schemas.microsoft.com/office/powerpoint/2010/main" val="30260601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FFBFB-AE5A-C745-B954-3339026EA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EC6202-A8EC-C7BB-A936-6E411D61B123}"/>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BD21D033-35C8-93BE-3CC0-9B6F2B77F7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A5E348C-9E0E-53D4-E3EE-66FDE7725CBC}"/>
              </a:ext>
            </a:extLst>
          </p:cNvPr>
          <p:cNvSpPr>
            <a:spLocks noGrp="1"/>
          </p:cNvSpPr>
          <p:nvPr>
            <p:ph type="sldNum" sz="quarter" idx="5"/>
          </p:nvPr>
        </p:nvSpPr>
        <p:spPr/>
        <p:txBody>
          <a:bodyPr/>
          <a:lstStyle/>
          <a:p>
            <a:fld id="{5B8B939C-D8C0-43C5-B928-D28BC299278E}" type="slidenum">
              <a:rPr lang="en-IN" smtClean="0"/>
              <a:t>39</a:t>
            </a:fld>
            <a:endParaRPr lang="en-IN" dirty="0"/>
          </a:p>
        </p:txBody>
      </p:sp>
    </p:spTree>
    <p:extLst>
      <p:ext uri="{BB962C8B-B14F-4D97-AF65-F5344CB8AC3E}">
        <p14:creationId xmlns:p14="http://schemas.microsoft.com/office/powerpoint/2010/main" val="38596198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A0477-31BD-971A-4321-3D90C2EDD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F5D651-8701-1F5E-204B-5AFAA867EA4A}"/>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5872DA92-0ED5-A9A5-D658-DF3A301F88C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1BEC2E4-6D1D-454C-6B09-70A83E47F9BF}"/>
              </a:ext>
            </a:extLst>
          </p:cNvPr>
          <p:cNvSpPr>
            <a:spLocks noGrp="1"/>
          </p:cNvSpPr>
          <p:nvPr>
            <p:ph type="sldNum" sz="quarter" idx="5"/>
          </p:nvPr>
        </p:nvSpPr>
        <p:spPr/>
        <p:txBody>
          <a:bodyPr/>
          <a:lstStyle/>
          <a:p>
            <a:fld id="{5B8B939C-D8C0-43C5-B928-D28BC299278E}" type="slidenum">
              <a:rPr lang="en-IN" smtClean="0"/>
              <a:t>40</a:t>
            </a:fld>
            <a:endParaRPr lang="en-IN" dirty="0"/>
          </a:p>
        </p:txBody>
      </p:sp>
    </p:spTree>
    <p:extLst>
      <p:ext uri="{BB962C8B-B14F-4D97-AF65-F5344CB8AC3E}">
        <p14:creationId xmlns:p14="http://schemas.microsoft.com/office/powerpoint/2010/main" val="3303586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6BEAF-667B-1C16-0487-716C5B9B5E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566C709-A422-E6B4-9445-A126E18D17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249924-FA47-5DB8-20FE-635EAC8B7EE7}"/>
              </a:ext>
            </a:extLst>
          </p:cNvPr>
          <p:cNvSpPr>
            <a:spLocks noGrp="1"/>
          </p:cNvSpPr>
          <p:nvPr>
            <p:ph type="dt" sz="half" idx="10"/>
          </p:nvPr>
        </p:nvSpPr>
        <p:spPr/>
        <p:txBody>
          <a:bodyPr/>
          <a:lstStyle/>
          <a:p>
            <a:fld id="{5655ABBC-0084-4185-B4EF-C5849DCFB406}" type="datetime1">
              <a:rPr lang="en-IN" smtClean="0"/>
              <a:t>13-02-2026</a:t>
            </a:fld>
            <a:endParaRPr lang="en-IN" dirty="0"/>
          </a:p>
        </p:txBody>
      </p:sp>
      <p:sp>
        <p:nvSpPr>
          <p:cNvPr id="5" name="Footer Placeholder 4">
            <a:extLst>
              <a:ext uri="{FF2B5EF4-FFF2-40B4-BE49-F238E27FC236}">
                <a16:creationId xmlns:a16="http://schemas.microsoft.com/office/drawing/2014/main" id="{F9D09FFE-B2CF-C05B-E69A-79CC5DB6EE45}"/>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1C1C9B3-943A-822F-FC0E-842835219A2A}"/>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212469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431D7-24FC-FF2B-2219-212ADDD7AA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0CBE66-8B89-0A13-2264-719E1B932E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C66B416-64FB-2384-6D55-948216CF73B7}"/>
              </a:ext>
            </a:extLst>
          </p:cNvPr>
          <p:cNvSpPr>
            <a:spLocks noGrp="1"/>
          </p:cNvSpPr>
          <p:nvPr>
            <p:ph type="dt" sz="half" idx="10"/>
          </p:nvPr>
        </p:nvSpPr>
        <p:spPr/>
        <p:txBody>
          <a:bodyPr/>
          <a:lstStyle/>
          <a:p>
            <a:fld id="{01AF5B2A-05E5-41F7-B6DF-E0F2B7546AA7}" type="datetime1">
              <a:rPr lang="en-IN" smtClean="0"/>
              <a:t>13-02-2026</a:t>
            </a:fld>
            <a:endParaRPr lang="en-IN" dirty="0"/>
          </a:p>
        </p:txBody>
      </p:sp>
      <p:sp>
        <p:nvSpPr>
          <p:cNvPr id="5" name="Footer Placeholder 4">
            <a:extLst>
              <a:ext uri="{FF2B5EF4-FFF2-40B4-BE49-F238E27FC236}">
                <a16:creationId xmlns:a16="http://schemas.microsoft.com/office/drawing/2014/main" id="{3953FAEF-82DB-E366-BD97-D0DF6E7C464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7C6C1F0-2025-C08E-25F3-8F90DE8A6B74}"/>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483445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005FB-8EEB-A4B5-80F6-DAF3132CC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4417AA-44A0-54B1-4D72-229D6611A8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F05ECE-1B19-1C0C-90D2-0590A604C823}"/>
              </a:ext>
            </a:extLst>
          </p:cNvPr>
          <p:cNvSpPr>
            <a:spLocks noGrp="1"/>
          </p:cNvSpPr>
          <p:nvPr>
            <p:ph type="dt" sz="half" idx="10"/>
          </p:nvPr>
        </p:nvSpPr>
        <p:spPr/>
        <p:txBody>
          <a:bodyPr/>
          <a:lstStyle/>
          <a:p>
            <a:fld id="{4CD08058-044D-40F7-9BB1-539CE16A7B82}" type="datetime1">
              <a:rPr lang="en-IN" smtClean="0"/>
              <a:t>13-02-2026</a:t>
            </a:fld>
            <a:endParaRPr lang="en-IN" dirty="0"/>
          </a:p>
        </p:txBody>
      </p:sp>
      <p:sp>
        <p:nvSpPr>
          <p:cNvPr id="5" name="Footer Placeholder 4">
            <a:extLst>
              <a:ext uri="{FF2B5EF4-FFF2-40B4-BE49-F238E27FC236}">
                <a16:creationId xmlns:a16="http://schemas.microsoft.com/office/drawing/2014/main" id="{2821153F-DEE9-0597-3F69-F67B4B9013F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F5CC-E061-8038-8508-8846DAE8B2F4}"/>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12492467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7B289-DF9E-813B-7618-A1552271C0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46AE60-2764-0DC5-C198-DA352482AFA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2F282BD-609F-37A0-9BA0-17739F128A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974AB4A-7EFE-D17C-1419-4CE2603E125E}"/>
              </a:ext>
            </a:extLst>
          </p:cNvPr>
          <p:cNvSpPr>
            <a:spLocks noGrp="1"/>
          </p:cNvSpPr>
          <p:nvPr>
            <p:ph type="dt" sz="half" idx="10"/>
          </p:nvPr>
        </p:nvSpPr>
        <p:spPr/>
        <p:txBody>
          <a:bodyPr/>
          <a:lstStyle/>
          <a:p>
            <a:fld id="{7E93739F-626E-41AF-9ACA-EB7BE2605A6D}" type="datetime1">
              <a:rPr lang="en-IN" smtClean="0"/>
              <a:t>13-02-2026</a:t>
            </a:fld>
            <a:endParaRPr lang="en-IN" dirty="0"/>
          </a:p>
        </p:txBody>
      </p:sp>
      <p:sp>
        <p:nvSpPr>
          <p:cNvPr id="6" name="Footer Placeholder 5">
            <a:extLst>
              <a:ext uri="{FF2B5EF4-FFF2-40B4-BE49-F238E27FC236}">
                <a16:creationId xmlns:a16="http://schemas.microsoft.com/office/drawing/2014/main" id="{D7380492-A671-D375-D766-8995B35E4CE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724CBE4-7D7E-280D-C28D-D41596FB29A1}"/>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3475404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9B24D-88D1-C16C-C642-71D4BE16C8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63B508-C781-D946-418A-385C068E8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610AC4-4965-630D-C3AD-CBC7106ACF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7F80CB-2710-CB29-326D-F0283A6490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FF3810-EE30-CE50-8042-BFA819A754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44764CD-BB0A-6DAD-9275-D5A154A5111A}"/>
              </a:ext>
            </a:extLst>
          </p:cNvPr>
          <p:cNvSpPr>
            <a:spLocks noGrp="1"/>
          </p:cNvSpPr>
          <p:nvPr>
            <p:ph type="dt" sz="half" idx="10"/>
          </p:nvPr>
        </p:nvSpPr>
        <p:spPr/>
        <p:txBody>
          <a:bodyPr/>
          <a:lstStyle/>
          <a:p>
            <a:fld id="{867E66C3-07D3-4EDD-AE66-3EC118B63251}" type="datetime1">
              <a:rPr lang="en-IN" smtClean="0"/>
              <a:t>13-02-2026</a:t>
            </a:fld>
            <a:endParaRPr lang="en-IN" dirty="0"/>
          </a:p>
        </p:txBody>
      </p:sp>
      <p:sp>
        <p:nvSpPr>
          <p:cNvPr id="8" name="Footer Placeholder 7">
            <a:extLst>
              <a:ext uri="{FF2B5EF4-FFF2-40B4-BE49-F238E27FC236}">
                <a16:creationId xmlns:a16="http://schemas.microsoft.com/office/drawing/2014/main" id="{510AA855-6957-7BFE-46C8-15C925D81D43}"/>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A9107363-8463-2DF7-561C-65710B6F3A51}"/>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23204689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0A9D6-9E00-2683-DCF6-5F97375B99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92DA2E-6BED-0522-A1A9-9E28F0C9BFD4}"/>
              </a:ext>
            </a:extLst>
          </p:cNvPr>
          <p:cNvSpPr>
            <a:spLocks noGrp="1"/>
          </p:cNvSpPr>
          <p:nvPr>
            <p:ph type="dt" sz="half" idx="10"/>
          </p:nvPr>
        </p:nvSpPr>
        <p:spPr/>
        <p:txBody>
          <a:bodyPr/>
          <a:lstStyle/>
          <a:p>
            <a:fld id="{68B0DFD0-C1D1-4BE7-86F5-DB48CE93BF38}" type="datetime1">
              <a:rPr lang="en-IN" smtClean="0"/>
              <a:t>13-02-2026</a:t>
            </a:fld>
            <a:endParaRPr lang="en-IN" dirty="0"/>
          </a:p>
        </p:txBody>
      </p:sp>
      <p:sp>
        <p:nvSpPr>
          <p:cNvPr id="4" name="Footer Placeholder 3">
            <a:extLst>
              <a:ext uri="{FF2B5EF4-FFF2-40B4-BE49-F238E27FC236}">
                <a16:creationId xmlns:a16="http://schemas.microsoft.com/office/drawing/2014/main" id="{AED2879B-3B04-CD42-B43C-2DF27BC24BCA}"/>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F5A252B-4E5F-8163-7CD4-A6F5CE4948D4}"/>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1302122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3FBE8C-1878-6213-B5D4-4341395D796E}"/>
              </a:ext>
            </a:extLst>
          </p:cNvPr>
          <p:cNvSpPr>
            <a:spLocks noGrp="1"/>
          </p:cNvSpPr>
          <p:nvPr>
            <p:ph type="dt" sz="half" idx="10"/>
          </p:nvPr>
        </p:nvSpPr>
        <p:spPr/>
        <p:txBody>
          <a:bodyPr/>
          <a:lstStyle/>
          <a:p>
            <a:fld id="{813CAF72-F9F0-427E-B115-193EFD7F322A}" type="datetime1">
              <a:rPr lang="en-IN" smtClean="0"/>
              <a:t>13-02-2026</a:t>
            </a:fld>
            <a:endParaRPr lang="en-IN" dirty="0"/>
          </a:p>
        </p:txBody>
      </p:sp>
      <p:sp>
        <p:nvSpPr>
          <p:cNvPr id="3" name="Footer Placeholder 2">
            <a:extLst>
              <a:ext uri="{FF2B5EF4-FFF2-40B4-BE49-F238E27FC236}">
                <a16:creationId xmlns:a16="http://schemas.microsoft.com/office/drawing/2014/main" id="{3636E005-ADE9-0B44-8142-D4186D544467}"/>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C8F21432-F8EA-E49D-EF4F-E00DC51B5B2F}"/>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2742633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165F7-598E-D64F-600F-283F53A67F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8FE99BE-B3FA-33B1-385F-4D798D0C8C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237D421-B5E0-3CFF-5386-C873DC804E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545FF5-3E44-34F5-FEDF-BB266FECAB1F}"/>
              </a:ext>
            </a:extLst>
          </p:cNvPr>
          <p:cNvSpPr>
            <a:spLocks noGrp="1"/>
          </p:cNvSpPr>
          <p:nvPr>
            <p:ph type="dt" sz="half" idx="10"/>
          </p:nvPr>
        </p:nvSpPr>
        <p:spPr/>
        <p:txBody>
          <a:bodyPr/>
          <a:lstStyle/>
          <a:p>
            <a:fld id="{7692705C-E52B-48F9-9E37-52F4C965279C}" type="datetime1">
              <a:rPr lang="en-IN" smtClean="0"/>
              <a:t>13-02-2026</a:t>
            </a:fld>
            <a:endParaRPr lang="en-IN" dirty="0"/>
          </a:p>
        </p:txBody>
      </p:sp>
      <p:sp>
        <p:nvSpPr>
          <p:cNvPr id="6" name="Footer Placeholder 5">
            <a:extLst>
              <a:ext uri="{FF2B5EF4-FFF2-40B4-BE49-F238E27FC236}">
                <a16:creationId xmlns:a16="http://schemas.microsoft.com/office/drawing/2014/main" id="{13A0FACE-88C3-F0CE-E2F1-DB7F3AC6BC1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1AC760A-9679-B8DD-4271-6ADCA55B3ED9}"/>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1378026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AB4EA-3851-4EEE-DF9F-501010156B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D37611D-8A34-78C8-9238-86A1AD1FE9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0489572D-81A5-4BDA-4A63-7221056F15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CF252F-C2C5-9E41-647C-9D6B73BE9527}"/>
              </a:ext>
            </a:extLst>
          </p:cNvPr>
          <p:cNvSpPr>
            <a:spLocks noGrp="1"/>
          </p:cNvSpPr>
          <p:nvPr>
            <p:ph type="dt" sz="half" idx="10"/>
          </p:nvPr>
        </p:nvSpPr>
        <p:spPr/>
        <p:txBody>
          <a:bodyPr/>
          <a:lstStyle/>
          <a:p>
            <a:fld id="{AB455DD4-2AC5-422B-9D21-FA44467A2D63}" type="datetime1">
              <a:rPr lang="en-IN" smtClean="0"/>
              <a:t>13-02-2026</a:t>
            </a:fld>
            <a:endParaRPr lang="en-IN" dirty="0"/>
          </a:p>
        </p:txBody>
      </p:sp>
      <p:sp>
        <p:nvSpPr>
          <p:cNvPr id="6" name="Footer Placeholder 5">
            <a:extLst>
              <a:ext uri="{FF2B5EF4-FFF2-40B4-BE49-F238E27FC236}">
                <a16:creationId xmlns:a16="http://schemas.microsoft.com/office/drawing/2014/main" id="{325767E6-A34F-76E0-6986-91C0B43C210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3FFE403-4DD5-DD36-106A-B01296870EAC}"/>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1050270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0C11-848C-791D-6BA4-C555E37E89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47BC78-1DFB-1BAC-C8D7-A450C93518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7B8901-4264-19E0-19A8-3B2F8861A759}"/>
              </a:ext>
            </a:extLst>
          </p:cNvPr>
          <p:cNvSpPr>
            <a:spLocks noGrp="1"/>
          </p:cNvSpPr>
          <p:nvPr>
            <p:ph type="dt" sz="half" idx="10"/>
          </p:nvPr>
        </p:nvSpPr>
        <p:spPr/>
        <p:txBody>
          <a:bodyPr/>
          <a:lstStyle/>
          <a:p>
            <a:fld id="{394B3F6E-392D-4D29-8771-423358FE4799}" type="datetime1">
              <a:rPr lang="en-IN" smtClean="0"/>
              <a:t>13-02-2026</a:t>
            </a:fld>
            <a:endParaRPr lang="en-IN" dirty="0"/>
          </a:p>
        </p:txBody>
      </p:sp>
      <p:sp>
        <p:nvSpPr>
          <p:cNvPr id="5" name="Footer Placeholder 4">
            <a:extLst>
              <a:ext uri="{FF2B5EF4-FFF2-40B4-BE49-F238E27FC236}">
                <a16:creationId xmlns:a16="http://schemas.microsoft.com/office/drawing/2014/main" id="{FE886F03-E404-B77A-C2ED-697B718B8AD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E36C5C-610D-23A8-C490-5959B24AFF14}"/>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3922454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1B84DE-C0F9-2E72-6F3A-9DA07D8B21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C69B94-3A93-DAB2-112C-2179B2BD91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C5DEDB-8F39-6351-9FDE-4783745F0109}"/>
              </a:ext>
            </a:extLst>
          </p:cNvPr>
          <p:cNvSpPr>
            <a:spLocks noGrp="1"/>
          </p:cNvSpPr>
          <p:nvPr>
            <p:ph type="dt" sz="half" idx="10"/>
          </p:nvPr>
        </p:nvSpPr>
        <p:spPr/>
        <p:txBody>
          <a:bodyPr/>
          <a:lstStyle/>
          <a:p>
            <a:fld id="{DAF32890-9A85-474C-8BDA-EDFAA501631B}" type="datetime1">
              <a:rPr lang="en-IN" smtClean="0"/>
              <a:t>13-02-2026</a:t>
            </a:fld>
            <a:endParaRPr lang="en-IN" dirty="0"/>
          </a:p>
        </p:txBody>
      </p:sp>
      <p:sp>
        <p:nvSpPr>
          <p:cNvPr id="5" name="Footer Placeholder 4">
            <a:extLst>
              <a:ext uri="{FF2B5EF4-FFF2-40B4-BE49-F238E27FC236}">
                <a16:creationId xmlns:a16="http://schemas.microsoft.com/office/drawing/2014/main" id="{C754891F-B467-1BC2-E564-1D50986C853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34FD06B8-3E20-9BE1-B72E-929F39B38DA1}"/>
              </a:ext>
            </a:extLst>
          </p:cNvPr>
          <p:cNvSpPr>
            <a:spLocks noGrp="1"/>
          </p:cNvSpPr>
          <p:nvPr>
            <p:ph type="sldNum" sz="quarter" idx="12"/>
          </p:nvPr>
        </p:nvSpPr>
        <p:spPr/>
        <p:txBody>
          <a:bodyPr/>
          <a:lstStyle/>
          <a:p>
            <a:fld id="{8EC77227-B7F4-4800-97BE-1DE2687871B5}" type="slidenum">
              <a:rPr lang="en-IN" smtClean="0"/>
              <a:t>‹#›</a:t>
            </a:fld>
            <a:endParaRPr lang="en-IN" dirty="0"/>
          </a:p>
        </p:txBody>
      </p:sp>
    </p:spTree>
    <p:extLst>
      <p:ext uri="{BB962C8B-B14F-4D97-AF65-F5344CB8AC3E}">
        <p14:creationId xmlns:p14="http://schemas.microsoft.com/office/powerpoint/2010/main" val="496552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0808E5-AD03-0DD9-536D-8727B1607F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F03E1D-CAD5-B8BE-D115-0CEA365EB7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0CE05C-6470-B41E-787C-1F47989BEC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88B46F-1D82-42D9-AE24-F4974B9BDAEB}" type="datetime1">
              <a:rPr lang="en-IN" smtClean="0"/>
              <a:t>13-02-2026</a:t>
            </a:fld>
            <a:endParaRPr lang="en-IN" dirty="0"/>
          </a:p>
        </p:txBody>
      </p:sp>
      <p:sp>
        <p:nvSpPr>
          <p:cNvPr id="5" name="Footer Placeholder 4">
            <a:extLst>
              <a:ext uri="{FF2B5EF4-FFF2-40B4-BE49-F238E27FC236}">
                <a16:creationId xmlns:a16="http://schemas.microsoft.com/office/drawing/2014/main" id="{865C37B0-EB1C-9958-0FE2-49A9764272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4456BF17-D809-6DB6-6F10-DF271959D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C77227-B7F4-4800-97BE-1DE2687871B5}" type="slidenum">
              <a:rPr lang="en-IN" smtClean="0"/>
              <a:t>‹#›</a:t>
            </a:fld>
            <a:endParaRPr lang="en-IN" dirty="0"/>
          </a:p>
        </p:txBody>
      </p:sp>
    </p:spTree>
    <p:extLst>
      <p:ext uri="{BB962C8B-B14F-4D97-AF65-F5344CB8AC3E}">
        <p14:creationId xmlns:p14="http://schemas.microsoft.com/office/powerpoint/2010/main" val="291734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hyperlink" Target="https://sites.google.com/view/statspher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hyperlink" Target="https://www.data.cymru/eng/data-science"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hyperlink" Target="https://dagshub.com/blog/introduction-to-julia-and-comparison-to-python-and-r/" TargetMode="Externa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hyperlink" Target="https://dagshub.com/blog/introduction-to-julia-and-comparison-to-python-and-r/"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2.png"/><Relationship Id="rId7"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70.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00.png"/><Relationship Id="rId4" Type="http://schemas.openxmlformats.org/officeDocument/2006/relationships/image" Target="../media/image10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17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210.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40.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9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32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49.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490.png"/><Relationship Id="rId4" Type="http://schemas.openxmlformats.org/officeDocument/2006/relationships/image" Target="../media/image48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hyperlink" Target="https://jverzani.github.io/CalculusWithJuliaNotes.jl/" TargetMode="External"/><Relationship Id="rId4" Type="http://schemas.openxmlformats.org/officeDocument/2006/relationships/hyperlink" Target="https://github.com/sujit016/A-Gentle-Introduction-to-Statistical-Computing-Using-Julia"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0;p1">
            <a:extLst>
              <a:ext uri="{FF2B5EF4-FFF2-40B4-BE49-F238E27FC236}">
                <a16:creationId xmlns:a16="http://schemas.microsoft.com/office/drawing/2014/main" id="{BCE055AB-7802-25E8-4A3A-4B7DA99478A0}"/>
              </a:ext>
            </a:extLst>
          </p:cNvPr>
          <p:cNvPicPr preferRelativeResize="0"/>
          <p:nvPr/>
        </p:nvPicPr>
        <p:blipFill rotWithShape="1">
          <a:blip r:embed="rId3">
            <a:alphaModFix/>
          </a:blip>
          <a:srcRect/>
          <a:stretch/>
        </p:blipFill>
        <p:spPr>
          <a:xfrm>
            <a:off x="10662833" y="155483"/>
            <a:ext cx="1266328" cy="1457218"/>
          </a:xfrm>
          <a:prstGeom prst="rect">
            <a:avLst/>
          </a:prstGeom>
          <a:noFill/>
          <a:ln>
            <a:noFill/>
          </a:ln>
        </p:spPr>
      </p:pic>
      <p:sp>
        <p:nvSpPr>
          <p:cNvPr id="4" name="TextBox 3">
            <a:extLst>
              <a:ext uri="{FF2B5EF4-FFF2-40B4-BE49-F238E27FC236}">
                <a16:creationId xmlns:a16="http://schemas.microsoft.com/office/drawing/2014/main" id="{8807B082-5239-527B-9FC8-2F30B52444DD}"/>
              </a:ext>
            </a:extLst>
          </p:cNvPr>
          <p:cNvSpPr txBox="1"/>
          <p:nvPr/>
        </p:nvSpPr>
        <p:spPr>
          <a:xfrm>
            <a:off x="1297144" y="1846260"/>
            <a:ext cx="9365689" cy="1323439"/>
          </a:xfrm>
          <a:prstGeom prst="rect">
            <a:avLst/>
          </a:prstGeom>
          <a:noFill/>
        </p:spPr>
        <p:txBody>
          <a:bodyPr wrap="square">
            <a:spAutoFit/>
          </a:bodyPr>
          <a:lstStyle/>
          <a:p>
            <a:pPr algn="ctr"/>
            <a:r>
              <a:rPr lang="en-IN" sz="4000" b="1" dirty="0">
                <a:solidFill>
                  <a:srgbClr val="FF0000"/>
                </a:solidFill>
              </a:rPr>
              <a:t>Julia - A Modern Platform for Statistical Computing &amp;  Data Science</a:t>
            </a:r>
          </a:p>
        </p:txBody>
      </p:sp>
      <p:sp>
        <p:nvSpPr>
          <p:cNvPr id="5" name="TextBox 4">
            <a:extLst>
              <a:ext uri="{FF2B5EF4-FFF2-40B4-BE49-F238E27FC236}">
                <a16:creationId xmlns:a16="http://schemas.microsoft.com/office/drawing/2014/main" id="{EFEDE732-1DAF-CD41-F411-4494B66C865A}"/>
              </a:ext>
            </a:extLst>
          </p:cNvPr>
          <p:cNvSpPr txBox="1"/>
          <p:nvPr/>
        </p:nvSpPr>
        <p:spPr>
          <a:xfrm>
            <a:off x="2369024" y="4103934"/>
            <a:ext cx="7453952" cy="1235403"/>
          </a:xfrm>
          <a:prstGeom prst="rect">
            <a:avLst/>
          </a:prstGeom>
          <a:noFill/>
        </p:spPr>
        <p:txBody>
          <a:bodyPr wrap="square" rtlCol="0">
            <a:spAutoFit/>
          </a:bodyPr>
          <a:lstStyle/>
          <a:p>
            <a:pPr algn="ctr">
              <a:lnSpc>
                <a:spcPct val="150000"/>
              </a:lnSpc>
            </a:pPr>
            <a:r>
              <a:rPr lang="en-US" sz="2800" b="1" dirty="0"/>
              <a:t>Sujit Sandipan Chaugule</a:t>
            </a:r>
          </a:p>
          <a:p>
            <a:pPr algn="ctr">
              <a:lnSpc>
                <a:spcPct val="150000"/>
              </a:lnSpc>
            </a:pPr>
            <a:r>
              <a:rPr lang="en-US" sz="2400" b="1"/>
              <a:t>B. Tech </a:t>
            </a:r>
            <a:r>
              <a:rPr lang="en-US" sz="2400" b="1" dirty="0"/>
              <a:t>in Pharmaceutical Sciences &amp; Technology</a:t>
            </a:r>
          </a:p>
        </p:txBody>
      </p:sp>
      <p:sp>
        <p:nvSpPr>
          <p:cNvPr id="3" name="Slide Number Placeholder 2">
            <a:extLst>
              <a:ext uri="{FF2B5EF4-FFF2-40B4-BE49-F238E27FC236}">
                <a16:creationId xmlns:a16="http://schemas.microsoft.com/office/drawing/2014/main" id="{E99A2A03-0895-EA0C-0D47-205BD6C0E78C}"/>
              </a:ext>
            </a:extLst>
          </p:cNvPr>
          <p:cNvSpPr>
            <a:spLocks noGrp="1"/>
          </p:cNvSpPr>
          <p:nvPr>
            <p:ph type="sldNum" sz="quarter" idx="12"/>
          </p:nvPr>
        </p:nvSpPr>
        <p:spPr/>
        <p:txBody>
          <a:bodyPr/>
          <a:lstStyle/>
          <a:p>
            <a:fld id="{8EC77227-B7F4-4800-97BE-1DE2687871B5}" type="slidenum">
              <a:rPr lang="en-IN" smtClean="0"/>
              <a:t>1</a:t>
            </a:fld>
            <a:endParaRPr lang="en-IN" dirty="0"/>
          </a:p>
        </p:txBody>
      </p:sp>
      <p:sp>
        <p:nvSpPr>
          <p:cNvPr id="7" name="TextBox 6">
            <a:extLst>
              <a:ext uri="{FF2B5EF4-FFF2-40B4-BE49-F238E27FC236}">
                <a16:creationId xmlns:a16="http://schemas.microsoft.com/office/drawing/2014/main" id="{5C04B8DC-ED8E-C635-5746-C368B6CAEA86}"/>
              </a:ext>
            </a:extLst>
          </p:cNvPr>
          <p:cNvSpPr txBox="1"/>
          <p:nvPr/>
        </p:nvSpPr>
        <p:spPr>
          <a:xfrm>
            <a:off x="3046709" y="5519900"/>
            <a:ext cx="6098582" cy="369332"/>
          </a:xfrm>
          <a:prstGeom prst="rect">
            <a:avLst/>
          </a:prstGeom>
          <a:noFill/>
        </p:spPr>
        <p:txBody>
          <a:bodyPr wrap="square">
            <a:spAutoFit/>
          </a:bodyPr>
          <a:lstStyle/>
          <a:p>
            <a:pPr algn="ctr"/>
            <a:r>
              <a:rPr lang="en-US" sz="1800" b="1" dirty="0"/>
              <a:t>Personal Web Page:</a:t>
            </a:r>
            <a:r>
              <a:rPr lang="en-US" sz="1800" dirty="0"/>
              <a:t> </a:t>
            </a:r>
            <a:r>
              <a:rPr lang="en-US" sz="1800" dirty="0">
                <a:hlinkClick r:id="rId4"/>
              </a:rPr>
              <a:t>https://sites.google.com/view/statsphere</a:t>
            </a:r>
            <a:r>
              <a:rPr lang="en-US" sz="1800" dirty="0"/>
              <a:t> </a:t>
            </a:r>
            <a:endParaRPr lang="en-IN" sz="1800" dirty="0"/>
          </a:p>
        </p:txBody>
      </p:sp>
      <p:sp>
        <p:nvSpPr>
          <p:cNvPr id="6" name="TextBox 5">
            <a:extLst>
              <a:ext uri="{FF2B5EF4-FFF2-40B4-BE49-F238E27FC236}">
                <a16:creationId xmlns:a16="http://schemas.microsoft.com/office/drawing/2014/main" id="{F0197ABF-4614-2851-FFB2-E02CBA0601E5}"/>
              </a:ext>
            </a:extLst>
          </p:cNvPr>
          <p:cNvSpPr txBox="1"/>
          <p:nvPr/>
        </p:nvSpPr>
        <p:spPr>
          <a:xfrm>
            <a:off x="4042474" y="3442974"/>
            <a:ext cx="4107051" cy="461665"/>
          </a:xfrm>
          <a:prstGeom prst="rect">
            <a:avLst/>
          </a:prstGeom>
          <a:noFill/>
        </p:spPr>
        <p:txBody>
          <a:bodyPr wrap="square" rtlCol="0">
            <a:spAutoFit/>
          </a:bodyPr>
          <a:lstStyle/>
          <a:p>
            <a:pPr algn="ctr"/>
            <a:r>
              <a:rPr lang="en-IN" sz="2400" b="1" dirty="0">
                <a:solidFill>
                  <a:srgbClr val="002060"/>
                </a:solidFill>
              </a:rPr>
              <a:t>Date 14</a:t>
            </a:r>
            <a:r>
              <a:rPr lang="en-IN" sz="2400" b="1" baseline="30000" dirty="0">
                <a:solidFill>
                  <a:srgbClr val="002060"/>
                </a:solidFill>
              </a:rPr>
              <a:t>th</a:t>
            </a:r>
            <a:r>
              <a:rPr lang="en-IN" sz="2400" b="1" dirty="0">
                <a:solidFill>
                  <a:srgbClr val="002060"/>
                </a:solidFill>
              </a:rPr>
              <a:t> Feb, 2026</a:t>
            </a:r>
          </a:p>
        </p:txBody>
      </p:sp>
      <p:pic>
        <p:nvPicPr>
          <p:cNvPr id="9" name="Picture 8">
            <a:extLst>
              <a:ext uri="{FF2B5EF4-FFF2-40B4-BE49-F238E27FC236}">
                <a16:creationId xmlns:a16="http://schemas.microsoft.com/office/drawing/2014/main" id="{0275F1E7-962A-B563-7E54-8EBEBC30EFB7}"/>
              </a:ext>
            </a:extLst>
          </p:cNvPr>
          <p:cNvPicPr>
            <a:picLocks noChangeAspect="1"/>
          </p:cNvPicPr>
          <p:nvPr/>
        </p:nvPicPr>
        <p:blipFill>
          <a:blip r:embed="rId5"/>
          <a:stretch>
            <a:fillRect/>
          </a:stretch>
        </p:blipFill>
        <p:spPr>
          <a:xfrm>
            <a:off x="258125" y="170317"/>
            <a:ext cx="1614583" cy="1559163"/>
          </a:xfrm>
          <a:prstGeom prst="rect">
            <a:avLst/>
          </a:prstGeom>
        </p:spPr>
      </p:pic>
    </p:spTree>
    <p:extLst>
      <p:ext uri="{BB962C8B-B14F-4D97-AF65-F5344CB8AC3E}">
        <p14:creationId xmlns:p14="http://schemas.microsoft.com/office/powerpoint/2010/main" val="3504618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C4AAC3-47CB-D5B1-D6C1-2197EBA60490}"/>
              </a:ext>
            </a:extLst>
          </p:cNvPr>
          <p:cNvSpPr>
            <a:spLocks noGrp="1"/>
          </p:cNvSpPr>
          <p:nvPr>
            <p:ph type="sldNum" sz="quarter" idx="12"/>
          </p:nvPr>
        </p:nvSpPr>
        <p:spPr/>
        <p:txBody>
          <a:bodyPr/>
          <a:lstStyle/>
          <a:p>
            <a:fld id="{8EC77227-B7F4-4800-97BE-1DE2687871B5}" type="slidenum">
              <a:rPr lang="en-IN" smtClean="0"/>
              <a:t>2</a:t>
            </a:fld>
            <a:endParaRPr lang="en-IN" dirty="0"/>
          </a:p>
        </p:txBody>
      </p:sp>
      <p:pic>
        <p:nvPicPr>
          <p:cNvPr id="3" name="Google Shape;90;p1">
            <a:extLst>
              <a:ext uri="{FF2B5EF4-FFF2-40B4-BE49-F238E27FC236}">
                <a16:creationId xmlns:a16="http://schemas.microsoft.com/office/drawing/2014/main" id="{881F13D5-8D4C-FA47-37E2-2044619DF904}"/>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7B72C248-2173-F472-C7A2-3F183255B273}"/>
              </a:ext>
            </a:extLst>
          </p:cNvPr>
          <p:cNvSpPr txBox="1"/>
          <p:nvPr/>
        </p:nvSpPr>
        <p:spPr>
          <a:xfrm>
            <a:off x="220388" y="108700"/>
            <a:ext cx="8338088"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Foundations of Statistical Computing &amp; Data Science</a:t>
            </a:r>
            <a:endParaRPr lang="en-IN" sz="2400" b="1" dirty="0">
              <a:solidFill>
                <a:srgbClr val="FF0000"/>
              </a:solidFill>
            </a:endParaRPr>
          </a:p>
        </p:txBody>
      </p:sp>
      <p:sp>
        <p:nvSpPr>
          <p:cNvPr id="7" name="TextBox 6">
            <a:extLst>
              <a:ext uri="{FF2B5EF4-FFF2-40B4-BE49-F238E27FC236}">
                <a16:creationId xmlns:a16="http://schemas.microsoft.com/office/drawing/2014/main" id="{88944AF2-E52A-6752-2A66-DA768593CE89}"/>
              </a:ext>
            </a:extLst>
          </p:cNvPr>
          <p:cNvSpPr txBox="1"/>
          <p:nvPr/>
        </p:nvSpPr>
        <p:spPr>
          <a:xfrm>
            <a:off x="220388" y="641474"/>
            <a:ext cx="7203300" cy="558460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b="1" dirty="0">
                <a:solidFill>
                  <a:schemeClr val="tx2"/>
                </a:solidFill>
              </a:rPr>
              <a:t>Statistical computing</a:t>
            </a:r>
            <a:r>
              <a:rPr lang="en-US" sz="2000" dirty="0"/>
              <a:t> and </a:t>
            </a:r>
            <a:r>
              <a:rPr lang="en-US" sz="2000" b="1" dirty="0">
                <a:solidFill>
                  <a:schemeClr val="tx2"/>
                </a:solidFill>
              </a:rPr>
              <a:t>data science</a:t>
            </a:r>
            <a:r>
              <a:rPr lang="en-US" sz="2000" dirty="0"/>
              <a:t> are foundational to modern scientific inquiry and evidence-based decision-making.</a:t>
            </a:r>
          </a:p>
          <a:p>
            <a:pPr marL="342900" indent="-342900" algn="just">
              <a:lnSpc>
                <a:spcPct val="150000"/>
              </a:lnSpc>
              <a:buFont typeface="Arial" panose="020B0604020202020204" pitchFamily="34" charset="0"/>
              <a:buChar char="•"/>
            </a:pPr>
            <a:r>
              <a:rPr lang="en-US" sz="2000" dirty="0"/>
              <a:t>Rapid growth in </a:t>
            </a:r>
            <a:r>
              <a:rPr lang="en-US" sz="2000" b="1" dirty="0">
                <a:solidFill>
                  <a:srgbClr val="00B050"/>
                </a:solidFill>
              </a:rPr>
              <a:t>data volume</a:t>
            </a:r>
            <a:r>
              <a:rPr lang="en-US" sz="2000" dirty="0"/>
              <a:t>, </a:t>
            </a:r>
            <a:r>
              <a:rPr lang="en-US" sz="2000" b="1" dirty="0">
                <a:solidFill>
                  <a:srgbClr val="00B050"/>
                </a:solidFill>
              </a:rPr>
              <a:t>variety</a:t>
            </a:r>
            <a:r>
              <a:rPr lang="en-US" sz="2000" dirty="0"/>
              <a:t>, and </a:t>
            </a:r>
            <a:r>
              <a:rPr lang="en-US" sz="2000" b="1" dirty="0">
                <a:solidFill>
                  <a:srgbClr val="00B050"/>
                </a:solidFill>
              </a:rPr>
              <a:t>complexity</a:t>
            </a:r>
            <a:r>
              <a:rPr lang="en-US" sz="2000" dirty="0"/>
              <a:t> across domains such as </a:t>
            </a:r>
            <a:r>
              <a:rPr lang="en-US" sz="2000" b="1" dirty="0">
                <a:solidFill>
                  <a:srgbClr val="C00000"/>
                </a:solidFill>
              </a:rPr>
              <a:t>ecology</a:t>
            </a:r>
            <a:r>
              <a:rPr lang="en-US" sz="2000" dirty="0"/>
              <a:t>, </a:t>
            </a:r>
            <a:r>
              <a:rPr lang="en-US" sz="2000" b="1" dirty="0">
                <a:solidFill>
                  <a:srgbClr val="C00000"/>
                </a:solidFill>
              </a:rPr>
              <a:t>biology</a:t>
            </a:r>
            <a:r>
              <a:rPr lang="en-US" sz="2000" dirty="0"/>
              <a:t>, </a:t>
            </a:r>
            <a:r>
              <a:rPr lang="en-US" sz="2000" b="1" dirty="0">
                <a:solidFill>
                  <a:srgbClr val="C00000"/>
                </a:solidFill>
              </a:rPr>
              <a:t>engineering</a:t>
            </a:r>
            <a:r>
              <a:rPr lang="en-US" sz="2000" dirty="0"/>
              <a:t>, </a:t>
            </a:r>
            <a:r>
              <a:rPr lang="en-US" sz="2000" b="1" dirty="0">
                <a:solidFill>
                  <a:srgbClr val="C00000"/>
                </a:solidFill>
              </a:rPr>
              <a:t>economics</a:t>
            </a:r>
            <a:r>
              <a:rPr lang="en-US" sz="2000" dirty="0"/>
              <a:t>, and </a:t>
            </a:r>
            <a:r>
              <a:rPr lang="en-US" sz="2000" b="1" dirty="0">
                <a:solidFill>
                  <a:srgbClr val="C00000"/>
                </a:solidFill>
              </a:rPr>
              <a:t>social sciences</a:t>
            </a:r>
            <a:r>
              <a:rPr lang="en-US" sz="2000" dirty="0"/>
              <a:t> has made computational approaches indispensable.</a:t>
            </a:r>
          </a:p>
          <a:p>
            <a:pPr marL="342900" indent="-342900" algn="just">
              <a:lnSpc>
                <a:spcPct val="150000"/>
              </a:lnSpc>
              <a:buFont typeface="Arial" panose="020B0604020202020204" pitchFamily="34" charset="0"/>
              <a:buChar char="•"/>
            </a:pPr>
            <a:r>
              <a:rPr lang="en-US" sz="2000" b="1" dirty="0">
                <a:solidFill>
                  <a:srgbClr val="002060"/>
                </a:solidFill>
              </a:rPr>
              <a:t>Statistical computing</a:t>
            </a:r>
            <a:r>
              <a:rPr lang="en-US" sz="2000" dirty="0"/>
              <a:t> provides the bridge between statistical theory and real-world applications through </a:t>
            </a:r>
            <a:r>
              <a:rPr lang="en-US" sz="2000" b="1" dirty="0">
                <a:solidFill>
                  <a:srgbClr val="002060"/>
                </a:solidFill>
              </a:rPr>
              <a:t>efficient algorithms</a:t>
            </a:r>
            <a:r>
              <a:rPr lang="en-US" sz="2000" dirty="0"/>
              <a:t>, </a:t>
            </a:r>
            <a:r>
              <a:rPr lang="en-US" sz="2000" b="1" dirty="0">
                <a:solidFill>
                  <a:srgbClr val="002060"/>
                </a:solidFill>
              </a:rPr>
              <a:t>numerical methods</a:t>
            </a:r>
            <a:r>
              <a:rPr lang="en-US" sz="2000" dirty="0"/>
              <a:t>, </a:t>
            </a:r>
            <a:r>
              <a:rPr lang="en-US" sz="2000" b="1" dirty="0">
                <a:solidFill>
                  <a:srgbClr val="002060"/>
                </a:solidFill>
              </a:rPr>
              <a:t>simulation</a:t>
            </a:r>
            <a:r>
              <a:rPr lang="en-US" sz="2000" dirty="0"/>
              <a:t>, and </a:t>
            </a:r>
            <a:r>
              <a:rPr lang="en-US" sz="2000" b="1" dirty="0">
                <a:solidFill>
                  <a:srgbClr val="002060"/>
                </a:solidFill>
              </a:rPr>
              <a:t>data </a:t>
            </a:r>
            <a:r>
              <a:rPr lang="en-US" sz="2000" b="1" dirty="0" err="1">
                <a:solidFill>
                  <a:srgbClr val="002060"/>
                </a:solidFill>
              </a:rPr>
              <a:t>visualisation</a:t>
            </a:r>
            <a:r>
              <a:rPr lang="en-US" sz="2000" dirty="0"/>
              <a:t>.</a:t>
            </a:r>
          </a:p>
          <a:p>
            <a:pPr marL="342900" indent="-342900" algn="just">
              <a:lnSpc>
                <a:spcPct val="150000"/>
              </a:lnSpc>
              <a:buFont typeface="Arial" panose="020B0604020202020204" pitchFamily="34" charset="0"/>
              <a:buChar char="•"/>
            </a:pPr>
            <a:r>
              <a:rPr lang="en-US" sz="2000" b="1" dirty="0">
                <a:solidFill>
                  <a:srgbClr val="002060"/>
                </a:solidFill>
              </a:rPr>
              <a:t>Data science integrates </a:t>
            </a:r>
            <a:r>
              <a:rPr lang="en-US" sz="2000" b="1" dirty="0">
                <a:solidFill>
                  <a:srgbClr val="00B050"/>
                </a:solidFill>
              </a:rPr>
              <a:t>statistics</a:t>
            </a:r>
            <a:r>
              <a:rPr lang="en-US" sz="2000" dirty="0"/>
              <a:t>, </a:t>
            </a:r>
            <a:r>
              <a:rPr lang="en-US" sz="2000" b="1" dirty="0">
                <a:solidFill>
                  <a:srgbClr val="00B050"/>
                </a:solidFill>
              </a:rPr>
              <a:t>computer science</a:t>
            </a:r>
            <a:r>
              <a:rPr lang="en-US" sz="2000" dirty="0"/>
              <a:t>, and </a:t>
            </a:r>
            <a:r>
              <a:rPr lang="en-US" sz="2000" b="1" dirty="0">
                <a:solidFill>
                  <a:srgbClr val="00B050"/>
                </a:solidFill>
              </a:rPr>
              <a:t>domain knowledge</a:t>
            </a:r>
            <a:r>
              <a:rPr lang="en-US" sz="2000" dirty="0"/>
              <a:t> to transform raw data into meaningful and actionable insights</a:t>
            </a:r>
            <a:r>
              <a:rPr lang="en-US" dirty="0"/>
              <a:t>.</a:t>
            </a:r>
          </a:p>
        </p:txBody>
      </p:sp>
      <p:pic>
        <p:nvPicPr>
          <p:cNvPr id="1026" name="Picture 2" descr="Data science - Data Cymru">
            <a:extLst>
              <a:ext uri="{FF2B5EF4-FFF2-40B4-BE49-F238E27FC236}">
                <a16:creationId xmlns:a16="http://schemas.microsoft.com/office/drawing/2014/main" id="{5EF4D58E-01C5-64B9-11E6-CCE61B9636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1877" y="1874359"/>
            <a:ext cx="3013592" cy="29189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B9C2A8C-18F8-6E54-EA8E-10A3C68DFC5F}"/>
              </a:ext>
            </a:extLst>
          </p:cNvPr>
          <p:cNvSpPr txBox="1"/>
          <p:nvPr/>
        </p:nvSpPr>
        <p:spPr>
          <a:xfrm>
            <a:off x="7995372" y="4744579"/>
            <a:ext cx="3626603" cy="307777"/>
          </a:xfrm>
          <a:prstGeom prst="rect">
            <a:avLst/>
          </a:prstGeom>
          <a:noFill/>
        </p:spPr>
        <p:txBody>
          <a:bodyPr wrap="square" rtlCol="0">
            <a:spAutoFit/>
          </a:bodyPr>
          <a:lstStyle/>
          <a:p>
            <a:pPr algn="ctr"/>
            <a:r>
              <a:rPr lang="en-US" sz="1400" dirty="0"/>
              <a:t>Source:</a:t>
            </a:r>
            <a:r>
              <a:rPr lang="en-IN" sz="1400" dirty="0"/>
              <a:t> </a:t>
            </a:r>
            <a:r>
              <a:rPr lang="en-IN" sz="1400" dirty="0">
                <a:hlinkClick r:id="rId5"/>
              </a:rPr>
              <a:t>Data science - Data Cymru</a:t>
            </a:r>
            <a:endParaRPr lang="en-IN" sz="1400" dirty="0"/>
          </a:p>
        </p:txBody>
      </p:sp>
    </p:spTree>
    <p:extLst>
      <p:ext uri="{BB962C8B-B14F-4D97-AF65-F5344CB8AC3E}">
        <p14:creationId xmlns:p14="http://schemas.microsoft.com/office/powerpoint/2010/main" val="3895722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9DD52-0A4B-4968-42A2-58CCB9FBAE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5955CB-5D2B-7F56-0C23-552D855E606E}"/>
              </a:ext>
            </a:extLst>
          </p:cNvPr>
          <p:cNvSpPr>
            <a:spLocks noGrp="1"/>
          </p:cNvSpPr>
          <p:nvPr>
            <p:ph type="sldNum" sz="quarter" idx="12"/>
          </p:nvPr>
        </p:nvSpPr>
        <p:spPr/>
        <p:txBody>
          <a:bodyPr/>
          <a:lstStyle/>
          <a:p>
            <a:fld id="{8EC77227-B7F4-4800-97BE-1DE2687871B5}" type="slidenum">
              <a:rPr lang="en-IN" smtClean="0"/>
              <a:t>3</a:t>
            </a:fld>
            <a:endParaRPr lang="en-IN" dirty="0"/>
          </a:p>
        </p:txBody>
      </p:sp>
      <p:pic>
        <p:nvPicPr>
          <p:cNvPr id="3" name="Google Shape;90;p1">
            <a:extLst>
              <a:ext uri="{FF2B5EF4-FFF2-40B4-BE49-F238E27FC236}">
                <a16:creationId xmlns:a16="http://schemas.microsoft.com/office/drawing/2014/main" id="{BC6AC642-5071-1CB5-A832-E311D983CE97}"/>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63B5898C-9473-8008-5A6D-5445D0C9A64D}"/>
              </a:ext>
            </a:extLst>
          </p:cNvPr>
          <p:cNvSpPr txBox="1"/>
          <p:nvPr/>
        </p:nvSpPr>
        <p:spPr>
          <a:xfrm>
            <a:off x="222787" y="77366"/>
            <a:ext cx="6850250" cy="523220"/>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800" b="1" dirty="0">
                <a:solidFill>
                  <a:srgbClr val="FF0000"/>
                </a:solidFill>
              </a:rPr>
              <a:t> </a:t>
            </a:r>
            <a:r>
              <a:rPr lang="en-US" sz="2400" b="1" dirty="0">
                <a:solidFill>
                  <a:srgbClr val="FF0000"/>
                </a:solidFill>
              </a:rPr>
              <a:t>Role of Statistical Computing in Modern Analysis.</a:t>
            </a:r>
            <a:endParaRPr lang="en-US" sz="2800" b="1" dirty="0">
              <a:solidFill>
                <a:srgbClr val="FF0000"/>
              </a:solidFill>
            </a:endParaRPr>
          </a:p>
        </p:txBody>
      </p:sp>
      <p:sp>
        <p:nvSpPr>
          <p:cNvPr id="8" name="TextBox 7">
            <a:extLst>
              <a:ext uri="{FF2B5EF4-FFF2-40B4-BE49-F238E27FC236}">
                <a16:creationId xmlns:a16="http://schemas.microsoft.com/office/drawing/2014/main" id="{0A02FE37-DD0D-E7D7-8216-6087CAA4E589}"/>
              </a:ext>
            </a:extLst>
          </p:cNvPr>
          <p:cNvSpPr txBox="1"/>
          <p:nvPr/>
        </p:nvSpPr>
        <p:spPr>
          <a:xfrm>
            <a:off x="393269" y="1201171"/>
            <a:ext cx="10811543" cy="373794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effectLst/>
              </a:rPr>
              <a:t>Statistical computing enables the practical implementation of statistical models for large and complex datasets that cannot be handled manually.</a:t>
            </a:r>
            <a:endParaRPr lang="en-US" sz="2000" dirty="0"/>
          </a:p>
          <a:p>
            <a:pPr marL="285750" indent="-285750" algn="just">
              <a:lnSpc>
                <a:spcPct val="150000"/>
              </a:lnSpc>
              <a:buFont typeface="Arial" panose="020B0604020202020204" pitchFamily="34" charset="0"/>
              <a:buChar char="•"/>
            </a:pPr>
            <a:r>
              <a:rPr lang="en-US" sz="2000" dirty="0">
                <a:effectLst/>
              </a:rPr>
              <a:t>It combines statistical reasoning with algorithms, data structures, and efficient computing techniques from computer science.</a:t>
            </a:r>
            <a:endParaRPr lang="en-US" sz="2000" dirty="0"/>
          </a:p>
          <a:p>
            <a:pPr marL="285750" indent="-285750" algn="just">
              <a:lnSpc>
                <a:spcPct val="150000"/>
              </a:lnSpc>
              <a:buFont typeface="Arial" panose="020B0604020202020204" pitchFamily="34" charset="0"/>
              <a:buChar char="•"/>
            </a:pPr>
            <a:r>
              <a:rPr lang="en-US" sz="2000" dirty="0">
                <a:effectLst/>
              </a:rPr>
              <a:t>Key capabilities include simulation-based inference, probabilistic modelling, optimization, uncertainty quantification, and performance evaluation.</a:t>
            </a:r>
            <a:endParaRPr lang="en-US" sz="2000" dirty="0"/>
          </a:p>
          <a:p>
            <a:pPr marL="285750" indent="-285750" algn="just">
              <a:lnSpc>
                <a:spcPct val="150000"/>
              </a:lnSpc>
              <a:buFont typeface="Arial" panose="020B0604020202020204" pitchFamily="34" charset="0"/>
              <a:buChar char="•"/>
            </a:pPr>
            <a:r>
              <a:rPr lang="en-US" sz="2000" dirty="0">
                <a:effectLst/>
              </a:rPr>
              <a:t>It plays a central role in engineering systems, machine learning, and artificial intelligence by supporting predictive modelling and learning under uncertainty.</a:t>
            </a:r>
            <a:endParaRPr lang="en-US" sz="2000" dirty="0"/>
          </a:p>
        </p:txBody>
      </p:sp>
    </p:spTree>
    <p:extLst>
      <p:ext uri="{BB962C8B-B14F-4D97-AF65-F5344CB8AC3E}">
        <p14:creationId xmlns:p14="http://schemas.microsoft.com/office/powerpoint/2010/main" val="3860003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5FDB7-7B66-C675-0650-0E9D49550B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BD840D-13F3-7C02-C1B9-12550010041D}"/>
              </a:ext>
            </a:extLst>
          </p:cNvPr>
          <p:cNvSpPr>
            <a:spLocks noGrp="1"/>
          </p:cNvSpPr>
          <p:nvPr>
            <p:ph type="sldNum" sz="quarter" idx="12"/>
          </p:nvPr>
        </p:nvSpPr>
        <p:spPr/>
        <p:txBody>
          <a:bodyPr/>
          <a:lstStyle/>
          <a:p>
            <a:fld id="{8EC77227-B7F4-4800-97BE-1DE2687871B5}" type="slidenum">
              <a:rPr lang="en-IN" smtClean="0"/>
              <a:t>4</a:t>
            </a:fld>
            <a:endParaRPr lang="en-IN" dirty="0"/>
          </a:p>
        </p:txBody>
      </p:sp>
      <p:pic>
        <p:nvPicPr>
          <p:cNvPr id="3" name="Google Shape;90;p1">
            <a:extLst>
              <a:ext uri="{FF2B5EF4-FFF2-40B4-BE49-F238E27FC236}">
                <a16:creationId xmlns:a16="http://schemas.microsoft.com/office/drawing/2014/main" id="{221AE11E-0E2E-39D8-ACC7-97B8D825B330}"/>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92A8AFB3-21B4-CA2E-A867-B7131E83C628}"/>
              </a:ext>
            </a:extLst>
          </p:cNvPr>
          <p:cNvSpPr txBox="1"/>
          <p:nvPr/>
        </p:nvSpPr>
        <p:spPr>
          <a:xfrm>
            <a:off x="139484" y="77365"/>
            <a:ext cx="5439907" cy="523220"/>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pPr algn="ctr"/>
            <a:r>
              <a:rPr lang="en-US" sz="2800" dirty="0">
                <a:solidFill>
                  <a:srgbClr val="FF0000"/>
                </a:solidFill>
              </a:rPr>
              <a:t>  </a:t>
            </a:r>
            <a:r>
              <a:rPr lang="en-US" sz="2400" b="1" dirty="0">
                <a:solidFill>
                  <a:srgbClr val="FF0000"/>
                </a:solidFill>
              </a:rPr>
              <a:t>Impact of Data Science Across Domains</a:t>
            </a:r>
            <a:endParaRPr lang="en-US" sz="2800" b="1" dirty="0">
              <a:solidFill>
                <a:srgbClr val="FF0000"/>
              </a:solidFill>
            </a:endParaRPr>
          </a:p>
        </p:txBody>
      </p:sp>
      <p:sp>
        <p:nvSpPr>
          <p:cNvPr id="8" name="TextBox 7">
            <a:extLst>
              <a:ext uri="{FF2B5EF4-FFF2-40B4-BE49-F238E27FC236}">
                <a16:creationId xmlns:a16="http://schemas.microsoft.com/office/drawing/2014/main" id="{D1BF505C-127D-C684-8D85-D3E7330971F8}"/>
              </a:ext>
            </a:extLst>
          </p:cNvPr>
          <p:cNvSpPr txBox="1"/>
          <p:nvPr/>
        </p:nvSpPr>
        <p:spPr>
          <a:xfrm>
            <a:off x="393269" y="999693"/>
            <a:ext cx="10811543" cy="3737946"/>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t>In healthcare, data science supports disease prediction, personalized medicine, medical imaging analysis, and drug discovery.</a:t>
            </a:r>
          </a:p>
          <a:p>
            <a:pPr marL="342900" indent="-342900" algn="just">
              <a:lnSpc>
                <a:spcPct val="150000"/>
              </a:lnSpc>
              <a:buFont typeface="Arial" panose="020B0604020202020204" pitchFamily="34" charset="0"/>
              <a:buChar char="•"/>
            </a:pPr>
            <a:r>
              <a:rPr lang="en-US" sz="2000" dirty="0"/>
              <a:t>In engineering and manufacturing, data-driven approaches enable smart systems, predictive maintenance, digital twins, and real-time optimization.</a:t>
            </a:r>
          </a:p>
          <a:p>
            <a:pPr marL="342900" indent="-342900" algn="just">
              <a:lnSpc>
                <a:spcPct val="150000"/>
              </a:lnSpc>
              <a:buFont typeface="Arial" panose="020B0604020202020204" pitchFamily="34" charset="0"/>
              <a:buChar char="•"/>
            </a:pPr>
            <a:r>
              <a:rPr lang="en-US" sz="2000" dirty="0"/>
              <a:t>Financial, business, and environmental sectors rely on data science for risk management, forecasting, fraud detection, and climate modeling.</a:t>
            </a:r>
          </a:p>
          <a:p>
            <a:pPr marL="342900" indent="-342900" algn="just">
              <a:lnSpc>
                <a:spcPct val="150000"/>
              </a:lnSpc>
              <a:buFont typeface="Arial" panose="020B0604020202020204" pitchFamily="34" charset="0"/>
              <a:buChar char="•"/>
            </a:pPr>
            <a:r>
              <a:rPr lang="en-US" sz="2000" dirty="0"/>
              <a:t>Together, statistical computing and data science form a unifying framework that drives innovation, efficiency, and informed decision-making in modern science and engineering.</a:t>
            </a:r>
          </a:p>
        </p:txBody>
      </p:sp>
    </p:spTree>
    <p:extLst>
      <p:ext uri="{BB962C8B-B14F-4D97-AF65-F5344CB8AC3E}">
        <p14:creationId xmlns:p14="http://schemas.microsoft.com/office/powerpoint/2010/main" val="3089743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B43FA-AC38-B0A8-EF38-60B392003BA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76A112-4FF8-FB69-581D-AAF1854F15DB}"/>
              </a:ext>
            </a:extLst>
          </p:cNvPr>
          <p:cNvSpPr>
            <a:spLocks noGrp="1"/>
          </p:cNvSpPr>
          <p:nvPr>
            <p:ph type="sldNum" sz="quarter" idx="12"/>
          </p:nvPr>
        </p:nvSpPr>
        <p:spPr/>
        <p:txBody>
          <a:bodyPr/>
          <a:lstStyle/>
          <a:p>
            <a:fld id="{8EC77227-B7F4-4800-97BE-1DE2687871B5}" type="slidenum">
              <a:rPr lang="en-IN" smtClean="0"/>
              <a:t>5</a:t>
            </a:fld>
            <a:endParaRPr lang="en-IN" dirty="0"/>
          </a:p>
        </p:txBody>
      </p:sp>
      <p:pic>
        <p:nvPicPr>
          <p:cNvPr id="3" name="Google Shape;90;p1">
            <a:extLst>
              <a:ext uri="{FF2B5EF4-FFF2-40B4-BE49-F238E27FC236}">
                <a16:creationId xmlns:a16="http://schemas.microsoft.com/office/drawing/2014/main" id="{1BFE2209-296F-8DE4-A777-F71D3499FAE3}"/>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5E982CAD-015E-816B-EEAB-07EAE5B911C6}"/>
              </a:ext>
            </a:extLst>
          </p:cNvPr>
          <p:cNvSpPr txBox="1"/>
          <p:nvPr/>
        </p:nvSpPr>
        <p:spPr>
          <a:xfrm>
            <a:off x="294468" y="138920"/>
            <a:ext cx="10330912"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Limitations of Traditional Workflows in Statistical Computing &amp; Data Science</a:t>
            </a:r>
            <a:endParaRPr lang="en-IN" sz="2400" b="1" dirty="0">
              <a:solidFill>
                <a:srgbClr val="FF0000"/>
              </a:solidFill>
            </a:endParaRPr>
          </a:p>
        </p:txBody>
      </p:sp>
      <p:sp>
        <p:nvSpPr>
          <p:cNvPr id="7" name="TextBox 6">
            <a:extLst>
              <a:ext uri="{FF2B5EF4-FFF2-40B4-BE49-F238E27FC236}">
                <a16:creationId xmlns:a16="http://schemas.microsoft.com/office/drawing/2014/main" id="{0EC6B9D9-582D-03CD-A73F-10933FF4262D}"/>
              </a:ext>
            </a:extLst>
          </p:cNvPr>
          <p:cNvSpPr txBox="1"/>
          <p:nvPr/>
        </p:nvSpPr>
        <p:spPr>
          <a:xfrm>
            <a:off x="294468" y="960791"/>
            <a:ext cx="7656163" cy="503535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effectLst/>
              </a:rPr>
              <a:t>Statistical models use compact mathematical notation, but implementation in R, Python, or MATLAB is verbose and library-dependent, obscuring assumptions and increasing coding errors.</a:t>
            </a:r>
            <a:endParaRPr lang="en-US" dirty="0"/>
          </a:p>
          <a:p>
            <a:pPr marL="285750" indent="-285750" algn="just">
              <a:lnSpc>
                <a:spcPct val="150000"/>
              </a:lnSpc>
              <a:buFont typeface="Arial" panose="020B0604020202020204" pitchFamily="34" charset="0"/>
              <a:buChar char="•"/>
            </a:pPr>
            <a:r>
              <a:rPr lang="en-US" dirty="0">
                <a:effectLst/>
              </a:rPr>
              <a:t>Interpreted execution and reliance on external optimized libraries introduce overhead from language boundaries and memory copying, limiting scalability for large simulations and Monte Carlo methods.</a:t>
            </a:r>
            <a:endParaRPr lang="en-US" dirty="0"/>
          </a:p>
          <a:p>
            <a:pPr marL="285750" indent="-285750" algn="just">
              <a:lnSpc>
                <a:spcPct val="150000"/>
              </a:lnSpc>
              <a:buFont typeface="Arial" panose="020B0604020202020204" pitchFamily="34" charset="0"/>
              <a:buChar char="•"/>
            </a:pPr>
            <a:r>
              <a:rPr lang="en-US" dirty="0">
                <a:effectLst/>
              </a:rPr>
              <a:t>Exploratory analysis and production computation are often disconnected, requiring substantial code restructuring and reducing efficiency and reproducibility.</a:t>
            </a:r>
            <a:endParaRPr lang="en-US" dirty="0"/>
          </a:p>
          <a:p>
            <a:pPr marL="285750" indent="-285750" algn="just">
              <a:lnSpc>
                <a:spcPct val="150000"/>
              </a:lnSpc>
              <a:buFont typeface="Arial" panose="020B0604020202020204" pitchFamily="34" charset="0"/>
              <a:buChar char="•"/>
            </a:pPr>
            <a:r>
              <a:rPr lang="en-US" dirty="0">
                <a:effectLst/>
              </a:rPr>
              <a:t>These limitations motivate Julia as a unified platform combining mathematically expressive modeling with high-performance execution for modern statistical computing and data science.</a:t>
            </a:r>
            <a:endParaRPr lang="en-US" dirty="0"/>
          </a:p>
        </p:txBody>
      </p:sp>
      <p:pic>
        <p:nvPicPr>
          <p:cNvPr id="3076" name="Picture 4" descr="Python Logo, symbol, meaning, history, PNG, brand">
            <a:extLst>
              <a:ext uri="{FF2B5EF4-FFF2-40B4-BE49-F238E27FC236}">
                <a16:creationId xmlns:a16="http://schemas.microsoft.com/office/drawing/2014/main" id="{3496C474-9CB5-49FD-F114-A76C6FBAD4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2069" y="1974376"/>
            <a:ext cx="2340002" cy="13162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7287FAE-1347-CDFC-0F9F-E9BB6152236D}"/>
              </a:ext>
            </a:extLst>
          </p:cNvPr>
          <p:cNvPicPr>
            <a:picLocks noChangeAspect="1"/>
          </p:cNvPicPr>
          <p:nvPr/>
        </p:nvPicPr>
        <p:blipFill>
          <a:blip r:embed="rId5"/>
          <a:stretch>
            <a:fillRect/>
          </a:stretch>
        </p:blipFill>
        <p:spPr>
          <a:xfrm>
            <a:off x="7950631" y="3180702"/>
            <a:ext cx="1824474" cy="1335638"/>
          </a:xfrm>
          <a:prstGeom prst="rect">
            <a:avLst/>
          </a:prstGeom>
        </p:spPr>
      </p:pic>
      <p:pic>
        <p:nvPicPr>
          <p:cNvPr id="11" name="Picture 10">
            <a:extLst>
              <a:ext uri="{FF2B5EF4-FFF2-40B4-BE49-F238E27FC236}">
                <a16:creationId xmlns:a16="http://schemas.microsoft.com/office/drawing/2014/main" id="{A753456C-526E-341F-2611-638621DDCEE3}"/>
              </a:ext>
            </a:extLst>
          </p:cNvPr>
          <p:cNvPicPr>
            <a:picLocks noChangeAspect="1"/>
          </p:cNvPicPr>
          <p:nvPr/>
        </p:nvPicPr>
        <p:blipFill>
          <a:blip r:embed="rId6"/>
          <a:stretch>
            <a:fillRect/>
          </a:stretch>
        </p:blipFill>
        <p:spPr>
          <a:xfrm>
            <a:off x="9582068" y="4262784"/>
            <a:ext cx="2146966" cy="1607960"/>
          </a:xfrm>
          <a:prstGeom prst="rect">
            <a:avLst/>
          </a:prstGeom>
        </p:spPr>
      </p:pic>
      <p:pic>
        <p:nvPicPr>
          <p:cNvPr id="3082" name="Picture 10" descr="Download R Logo in SVG Vector or PNG File Format - Logo.wine">
            <a:extLst>
              <a:ext uri="{FF2B5EF4-FFF2-40B4-BE49-F238E27FC236}">
                <a16:creationId xmlns:a16="http://schemas.microsoft.com/office/drawing/2014/main" id="{19F4859A-328D-AEF0-9F2D-190252CCE3E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70189" y="1016635"/>
            <a:ext cx="2428988" cy="1619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472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C1A29-256E-2805-67C8-1FAFBED8BED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CF470E-4FB6-F593-B215-FD4E32497698}"/>
              </a:ext>
            </a:extLst>
          </p:cNvPr>
          <p:cNvSpPr>
            <a:spLocks noGrp="1"/>
          </p:cNvSpPr>
          <p:nvPr>
            <p:ph type="sldNum" sz="quarter" idx="12"/>
          </p:nvPr>
        </p:nvSpPr>
        <p:spPr/>
        <p:txBody>
          <a:bodyPr/>
          <a:lstStyle/>
          <a:p>
            <a:fld id="{8EC77227-B7F4-4800-97BE-1DE2687871B5}" type="slidenum">
              <a:rPr lang="en-IN" smtClean="0"/>
              <a:t>6</a:t>
            </a:fld>
            <a:endParaRPr lang="en-IN" dirty="0"/>
          </a:p>
        </p:txBody>
      </p:sp>
      <p:pic>
        <p:nvPicPr>
          <p:cNvPr id="3" name="Google Shape;90;p1">
            <a:extLst>
              <a:ext uri="{FF2B5EF4-FFF2-40B4-BE49-F238E27FC236}">
                <a16:creationId xmlns:a16="http://schemas.microsoft.com/office/drawing/2014/main" id="{B8D10E9F-52D2-45EC-6516-FAAE5CBEC0F2}"/>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B7773291-CC4B-C658-7D8F-5D23077AD198}"/>
              </a:ext>
            </a:extLst>
          </p:cNvPr>
          <p:cNvSpPr txBox="1"/>
          <p:nvPr/>
        </p:nvSpPr>
        <p:spPr>
          <a:xfrm>
            <a:off x="327412" y="138920"/>
            <a:ext cx="3099661"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Julia: A New Platform</a:t>
            </a:r>
            <a:endParaRPr lang="en-IN" sz="2400" b="1" dirty="0">
              <a:solidFill>
                <a:srgbClr val="FF0000"/>
              </a:solidFill>
            </a:endParaRPr>
          </a:p>
        </p:txBody>
      </p:sp>
      <p:sp>
        <p:nvSpPr>
          <p:cNvPr id="5" name="TextBox 4">
            <a:extLst>
              <a:ext uri="{FF2B5EF4-FFF2-40B4-BE49-F238E27FC236}">
                <a16:creationId xmlns:a16="http://schemas.microsoft.com/office/drawing/2014/main" id="{71724DEE-F5A2-3F44-225C-AE82A7D41F28}"/>
              </a:ext>
            </a:extLst>
          </p:cNvPr>
          <p:cNvSpPr txBox="1"/>
          <p:nvPr/>
        </p:nvSpPr>
        <p:spPr>
          <a:xfrm>
            <a:off x="327412" y="710389"/>
            <a:ext cx="7003286" cy="5584606"/>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dirty="0"/>
              <a:t>Julia is an open-source, high-performance programming language introduced in 2012 by </a:t>
            </a:r>
            <a:r>
              <a:rPr lang="en-US" sz="2000" b="1" dirty="0">
                <a:solidFill>
                  <a:srgbClr val="002060"/>
                </a:solidFill>
              </a:rPr>
              <a:t>Stefan Karpinski</a:t>
            </a:r>
            <a:r>
              <a:rPr lang="en-US" sz="2000" dirty="0"/>
              <a:t>, </a:t>
            </a:r>
            <a:r>
              <a:rPr lang="en-US" sz="2000" b="1" dirty="0">
                <a:solidFill>
                  <a:srgbClr val="002060"/>
                </a:solidFill>
              </a:rPr>
              <a:t>Viral B. Shah</a:t>
            </a:r>
            <a:r>
              <a:rPr lang="en-US" sz="2000" dirty="0"/>
              <a:t>, </a:t>
            </a:r>
            <a:r>
              <a:rPr lang="en-US" sz="2000" b="1" dirty="0">
                <a:solidFill>
                  <a:srgbClr val="002060"/>
                </a:solidFill>
              </a:rPr>
              <a:t>Jeff Bezanson </a:t>
            </a:r>
            <a:r>
              <a:rPr lang="en-US" sz="2000" dirty="0"/>
              <a:t>and </a:t>
            </a:r>
            <a:r>
              <a:rPr lang="en-US" sz="2000" b="1" dirty="0">
                <a:solidFill>
                  <a:srgbClr val="002060"/>
                </a:solidFill>
              </a:rPr>
              <a:t>Alan Edelman</a:t>
            </a:r>
            <a:r>
              <a:rPr lang="en-US" sz="2000" dirty="0"/>
              <a:t>.</a:t>
            </a:r>
          </a:p>
          <a:p>
            <a:pPr marL="342900" indent="-342900" algn="just">
              <a:lnSpc>
                <a:spcPct val="150000"/>
              </a:lnSpc>
              <a:buFont typeface="Arial" panose="020B0604020202020204" pitchFamily="34" charset="0"/>
              <a:buChar char="•"/>
            </a:pPr>
            <a:r>
              <a:rPr lang="en-US" sz="2000" dirty="0"/>
              <a:t>It combines the </a:t>
            </a:r>
            <a:r>
              <a:rPr lang="en-US" sz="2000" b="1" dirty="0">
                <a:solidFill>
                  <a:schemeClr val="accent2">
                    <a:lumMod val="50000"/>
                  </a:schemeClr>
                </a:solidFill>
              </a:rPr>
              <a:t>interactive syntax</a:t>
            </a:r>
            <a:r>
              <a:rPr lang="en-US" sz="2000" dirty="0"/>
              <a:t> of languages such as </a:t>
            </a:r>
            <a:r>
              <a:rPr lang="en-US" sz="2000" b="1" dirty="0">
                <a:solidFill>
                  <a:srgbClr val="00B050"/>
                </a:solidFill>
              </a:rPr>
              <a:t>Python</a:t>
            </a:r>
            <a:r>
              <a:rPr lang="en-US" sz="2000" dirty="0"/>
              <a:t>, </a:t>
            </a:r>
            <a:r>
              <a:rPr lang="en-US" sz="2000" b="1" dirty="0">
                <a:solidFill>
                  <a:srgbClr val="00B050"/>
                </a:solidFill>
              </a:rPr>
              <a:t>MATLAB</a:t>
            </a:r>
            <a:r>
              <a:rPr lang="en-US" sz="2000" dirty="0"/>
              <a:t>, and </a:t>
            </a:r>
            <a:r>
              <a:rPr lang="en-US" sz="2000" b="1" dirty="0">
                <a:solidFill>
                  <a:srgbClr val="00B050"/>
                </a:solidFill>
              </a:rPr>
              <a:t>R</a:t>
            </a:r>
            <a:r>
              <a:rPr lang="en-US" sz="2000" dirty="0"/>
              <a:t> with the speed of compiled languages like </a:t>
            </a:r>
            <a:r>
              <a:rPr lang="en-US" sz="2000" b="1" dirty="0">
                <a:solidFill>
                  <a:srgbClr val="00B050"/>
                </a:solidFill>
              </a:rPr>
              <a:t>C</a:t>
            </a:r>
            <a:r>
              <a:rPr lang="en-US" sz="2000" dirty="0"/>
              <a:t>, </a:t>
            </a:r>
            <a:r>
              <a:rPr lang="en-US" sz="2000" b="1" dirty="0">
                <a:solidFill>
                  <a:srgbClr val="00B050"/>
                </a:solidFill>
              </a:rPr>
              <a:t>C++</a:t>
            </a:r>
            <a:r>
              <a:rPr lang="en-US" sz="2000" dirty="0"/>
              <a:t>, and </a:t>
            </a:r>
            <a:r>
              <a:rPr lang="en-US" sz="2000" b="1" dirty="0">
                <a:solidFill>
                  <a:srgbClr val="00B050"/>
                </a:solidFill>
              </a:rPr>
              <a:t>Fortran</a:t>
            </a:r>
            <a:r>
              <a:rPr lang="en-US" sz="2000" dirty="0"/>
              <a:t>.</a:t>
            </a:r>
          </a:p>
          <a:p>
            <a:pPr marL="342900" indent="-342900" algn="just">
              <a:lnSpc>
                <a:spcPct val="150000"/>
              </a:lnSpc>
              <a:buFont typeface="Arial" panose="020B0604020202020204" pitchFamily="34" charset="0"/>
              <a:buChar char="•"/>
            </a:pPr>
            <a:r>
              <a:rPr lang="en-US" sz="2000" dirty="0"/>
              <a:t>Julia was designed for computationally intensive scientific and technical computing, balancing ease of use with execution efficiency.</a:t>
            </a:r>
          </a:p>
          <a:p>
            <a:pPr marL="342900" indent="-342900" algn="just">
              <a:lnSpc>
                <a:spcPct val="150000"/>
              </a:lnSpc>
              <a:buFont typeface="Arial" panose="020B0604020202020204" pitchFamily="34" charset="0"/>
              <a:buChar char="•"/>
            </a:pPr>
            <a:r>
              <a:rPr lang="en-US" sz="2000" dirty="0"/>
              <a:t>The language bridges </a:t>
            </a:r>
            <a:r>
              <a:rPr lang="en-US" sz="2000" b="1" dirty="0">
                <a:solidFill>
                  <a:srgbClr val="002060"/>
                </a:solidFill>
              </a:rPr>
              <a:t>productivity-oriented</a:t>
            </a:r>
            <a:r>
              <a:rPr lang="en-US" sz="2000" dirty="0"/>
              <a:t> and performance-oriented programming paradigms, making it accessible to users from diverse technical computing backgrounds.</a:t>
            </a:r>
          </a:p>
        </p:txBody>
      </p:sp>
      <p:pic>
        <p:nvPicPr>
          <p:cNvPr id="4101" name="Picture 5" descr="Three co-creators of the MIT-incubated Julia programming language, (l-r) Stefan Karpinski, Viral Shah, and Jeff Bezanson, will receive the 2019 James H. Wilkinson Prize for Numerical Software. MIT Julia Lab Leader and Professor Alan Edelman is pictured at right.">
            <a:extLst>
              <a:ext uri="{FF2B5EF4-FFF2-40B4-BE49-F238E27FC236}">
                <a16:creationId xmlns:a16="http://schemas.microsoft.com/office/drawing/2014/main" id="{23E88132-B7F0-BB42-45B3-0C383F7733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4621" y="1218672"/>
            <a:ext cx="4238066" cy="280548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7879CEBB-A684-AD7D-BC7C-4BD34CA9E2D1}"/>
              </a:ext>
            </a:extLst>
          </p:cNvPr>
          <p:cNvPicPr>
            <a:picLocks noChangeAspect="1"/>
          </p:cNvPicPr>
          <p:nvPr/>
        </p:nvPicPr>
        <p:blipFill>
          <a:blip r:embed="rId5"/>
          <a:stretch>
            <a:fillRect/>
          </a:stretch>
        </p:blipFill>
        <p:spPr>
          <a:xfrm>
            <a:off x="8550965" y="4386271"/>
            <a:ext cx="2146966" cy="1607960"/>
          </a:xfrm>
          <a:prstGeom prst="rect">
            <a:avLst/>
          </a:prstGeom>
        </p:spPr>
      </p:pic>
    </p:spTree>
    <p:extLst>
      <p:ext uri="{BB962C8B-B14F-4D97-AF65-F5344CB8AC3E}">
        <p14:creationId xmlns:p14="http://schemas.microsoft.com/office/powerpoint/2010/main" val="1570135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9F11-A1DC-B01F-2AB3-695F7CB209E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82BE98-B178-3CE9-7AB3-1A2F819AE9BB}"/>
              </a:ext>
            </a:extLst>
          </p:cNvPr>
          <p:cNvSpPr>
            <a:spLocks noGrp="1"/>
          </p:cNvSpPr>
          <p:nvPr>
            <p:ph type="sldNum" sz="quarter" idx="12"/>
          </p:nvPr>
        </p:nvSpPr>
        <p:spPr/>
        <p:txBody>
          <a:bodyPr/>
          <a:lstStyle/>
          <a:p>
            <a:fld id="{8EC77227-B7F4-4800-97BE-1DE2687871B5}" type="slidenum">
              <a:rPr lang="en-IN" smtClean="0"/>
              <a:t>7</a:t>
            </a:fld>
            <a:endParaRPr lang="en-IN" dirty="0"/>
          </a:p>
        </p:txBody>
      </p:sp>
      <p:pic>
        <p:nvPicPr>
          <p:cNvPr id="3" name="Google Shape;90;p1">
            <a:extLst>
              <a:ext uri="{FF2B5EF4-FFF2-40B4-BE49-F238E27FC236}">
                <a16:creationId xmlns:a16="http://schemas.microsoft.com/office/drawing/2014/main" id="{F1B049FC-40E8-A5FF-CAF8-38831D44C868}"/>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4E3502FE-EB81-6525-A38C-A9997A116E90}"/>
              </a:ext>
            </a:extLst>
          </p:cNvPr>
          <p:cNvSpPr txBox="1"/>
          <p:nvPr/>
        </p:nvSpPr>
        <p:spPr>
          <a:xfrm>
            <a:off x="327412" y="138920"/>
            <a:ext cx="3099661"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Julia: A New Platform</a:t>
            </a:r>
            <a:endParaRPr lang="en-IN" sz="2400" b="1" dirty="0">
              <a:solidFill>
                <a:srgbClr val="FF0000"/>
              </a:solidFill>
            </a:endParaRPr>
          </a:p>
        </p:txBody>
      </p:sp>
      <p:sp>
        <p:nvSpPr>
          <p:cNvPr id="5" name="TextBox 4">
            <a:extLst>
              <a:ext uri="{FF2B5EF4-FFF2-40B4-BE49-F238E27FC236}">
                <a16:creationId xmlns:a16="http://schemas.microsoft.com/office/drawing/2014/main" id="{B7A85861-E266-ED3E-E3C6-9B1BA4DC6049}"/>
              </a:ext>
            </a:extLst>
          </p:cNvPr>
          <p:cNvSpPr txBox="1"/>
          <p:nvPr/>
        </p:nvSpPr>
        <p:spPr>
          <a:xfrm>
            <a:off x="596684" y="948025"/>
            <a:ext cx="10087449" cy="506292"/>
          </a:xfrm>
          <a:prstGeom prst="rect">
            <a:avLst/>
          </a:prstGeom>
          <a:noFill/>
        </p:spPr>
        <p:txBody>
          <a:bodyPr wrap="square" rtlCol="0">
            <a:spAutoFit/>
          </a:bodyPr>
          <a:lstStyle/>
          <a:p>
            <a:pPr algn="just">
              <a:lnSpc>
                <a:spcPct val="150000"/>
              </a:lnSpc>
            </a:pPr>
            <a:r>
              <a:rPr lang="en-US" sz="2000" dirty="0"/>
              <a:t>A timeline illustrating the origin and step-by-step evolution of the </a:t>
            </a:r>
            <a:r>
              <a:rPr lang="en-US" sz="2000" b="1" dirty="0">
                <a:solidFill>
                  <a:srgbClr val="00B050"/>
                </a:solidFill>
              </a:rPr>
              <a:t>Julia programming language</a:t>
            </a:r>
            <a:endParaRPr lang="en-US" sz="2400" b="1" dirty="0">
              <a:solidFill>
                <a:srgbClr val="00B050"/>
              </a:solidFill>
            </a:endParaRPr>
          </a:p>
        </p:txBody>
      </p:sp>
      <p:pic>
        <p:nvPicPr>
          <p:cNvPr id="7" name="Picture 6">
            <a:extLst>
              <a:ext uri="{FF2B5EF4-FFF2-40B4-BE49-F238E27FC236}">
                <a16:creationId xmlns:a16="http://schemas.microsoft.com/office/drawing/2014/main" id="{7094A7B2-E842-39AA-B4F7-40781C6E08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684" y="1588342"/>
            <a:ext cx="10998631" cy="4167422"/>
          </a:xfrm>
          <a:prstGeom prst="rect">
            <a:avLst/>
          </a:prstGeom>
        </p:spPr>
      </p:pic>
    </p:spTree>
    <p:extLst>
      <p:ext uri="{BB962C8B-B14F-4D97-AF65-F5344CB8AC3E}">
        <p14:creationId xmlns:p14="http://schemas.microsoft.com/office/powerpoint/2010/main" val="3215631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6CCA9-2A47-F4BE-1D0C-AC641D7FE6C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F642F9-2500-7F1B-391E-8ECA2B464C0E}"/>
              </a:ext>
            </a:extLst>
          </p:cNvPr>
          <p:cNvSpPr>
            <a:spLocks noGrp="1"/>
          </p:cNvSpPr>
          <p:nvPr>
            <p:ph type="sldNum" sz="quarter" idx="12"/>
          </p:nvPr>
        </p:nvSpPr>
        <p:spPr/>
        <p:txBody>
          <a:bodyPr/>
          <a:lstStyle/>
          <a:p>
            <a:fld id="{8EC77227-B7F4-4800-97BE-1DE2687871B5}" type="slidenum">
              <a:rPr lang="en-IN" smtClean="0"/>
              <a:t>8</a:t>
            </a:fld>
            <a:endParaRPr lang="en-IN" dirty="0"/>
          </a:p>
        </p:txBody>
      </p:sp>
      <p:pic>
        <p:nvPicPr>
          <p:cNvPr id="3" name="Google Shape;90;p1">
            <a:extLst>
              <a:ext uri="{FF2B5EF4-FFF2-40B4-BE49-F238E27FC236}">
                <a16:creationId xmlns:a16="http://schemas.microsoft.com/office/drawing/2014/main" id="{F395C531-E46F-170C-AB67-573E98E17A85}"/>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03050683-F485-243C-3D47-63F21855CA7B}"/>
              </a:ext>
            </a:extLst>
          </p:cNvPr>
          <p:cNvSpPr txBox="1"/>
          <p:nvPr/>
        </p:nvSpPr>
        <p:spPr>
          <a:xfrm>
            <a:off x="327412" y="138920"/>
            <a:ext cx="3099661"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Julia: A New Platform</a:t>
            </a:r>
            <a:endParaRPr lang="en-IN" sz="2400" b="1" dirty="0">
              <a:solidFill>
                <a:srgbClr val="FF0000"/>
              </a:solidFill>
            </a:endParaRPr>
          </a:p>
        </p:txBody>
      </p:sp>
      <p:sp>
        <p:nvSpPr>
          <p:cNvPr id="6" name="TextBox 5">
            <a:extLst>
              <a:ext uri="{FF2B5EF4-FFF2-40B4-BE49-F238E27FC236}">
                <a16:creationId xmlns:a16="http://schemas.microsoft.com/office/drawing/2014/main" id="{C5C02545-BA4D-A972-1B9E-F1646A950839}"/>
              </a:ext>
            </a:extLst>
          </p:cNvPr>
          <p:cNvSpPr txBox="1"/>
          <p:nvPr/>
        </p:nvSpPr>
        <p:spPr>
          <a:xfrm>
            <a:off x="327412" y="768101"/>
            <a:ext cx="6114900" cy="577081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effectLst/>
              </a:rPr>
              <a:t> </a:t>
            </a:r>
            <a:r>
              <a:rPr lang="en-US" dirty="0"/>
              <a:t>High-performance dynamic language with a </a:t>
            </a:r>
            <a:r>
              <a:rPr lang="en-US" b="1" dirty="0">
                <a:solidFill>
                  <a:srgbClr val="7030A0"/>
                </a:solidFill>
              </a:rPr>
              <a:t>just-in-time (JIT) compiler</a:t>
            </a:r>
            <a:r>
              <a:rPr lang="en-US" dirty="0"/>
              <a:t>, delivering speeds comparable to statically compiled languages like </a:t>
            </a:r>
            <a:r>
              <a:rPr lang="en-US" b="1" dirty="0">
                <a:solidFill>
                  <a:srgbClr val="C00000"/>
                </a:solidFill>
              </a:rPr>
              <a:t>C</a:t>
            </a:r>
            <a:r>
              <a:rPr lang="en-US" dirty="0"/>
              <a:t> and </a:t>
            </a:r>
            <a:r>
              <a:rPr lang="en-US" b="1" dirty="0">
                <a:solidFill>
                  <a:srgbClr val="C00000"/>
                </a:solidFill>
              </a:rPr>
              <a:t>Fortran</a:t>
            </a:r>
            <a:r>
              <a:rPr lang="en-US" dirty="0"/>
              <a:t>.</a:t>
            </a:r>
          </a:p>
          <a:p>
            <a:pPr marL="285750" indent="-285750" algn="just">
              <a:lnSpc>
                <a:spcPct val="150000"/>
              </a:lnSpc>
              <a:buFont typeface="Arial" panose="020B0604020202020204" pitchFamily="34" charset="0"/>
              <a:buChar char="•"/>
            </a:pPr>
            <a:r>
              <a:rPr lang="en-US" dirty="0"/>
              <a:t>Supports </a:t>
            </a:r>
            <a:r>
              <a:rPr lang="en-US" b="1" dirty="0">
                <a:solidFill>
                  <a:srgbClr val="7030A0"/>
                </a:solidFill>
              </a:rPr>
              <a:t>distributed parallel execution</a:t>
            </a:r>
            <a:r>
              <a:rPr lang="en-US" dirty="0"/>
              <a:t>, precise numerical computations, and a comprehensive library of mathematical functions for scientific applications.</a:t>
            </a:r>
          </a:p>
          <a:p>
            <a:pPr marL="285750" indent="-285750" algn="just">
              <a:lnSpc>
                <a:spcPct val="150000"/>
              </a:lnSpc>
              <a:buFont typeface="Arial" panose="020B0604020202020204" pitchFamily="34" charset="0"/>
              <a:buChar char="•"/>
            </a:pPr>
            <a:r>
              <a:rPr lang="en-US" dirty="0"/>
              <a:t>Designed to overcome limitations of </a:t>
            </a:r>
            <a:r>
              <a:rPr lang="en-US" b="1" dirty="0">
                <a:solidFill>
                  <a:schemeClr val="tx2"/>
                </a:solidFill>
              </a:rPr>
              <a:t>R</a:t>
            </a:r>
            <a:r>
              <a:rPr lang="en-US" dirty="0"/>
              <a:t>, </a:t>
            </a:r>
            <a:r>
              <a:rPr lang="en-US" b="1" dirty="0">
                <a:solidFill>
                  <a:schemeClr val="tx2"/>
                </a:solidFill>
              </a:rPr>
              <a:t>Python</a:t>
            </a:r>
            <a:r>
              <a:rPr lang="en-US" dirty="0"/>
              <a:t>, and </a:t>
            </a:r>
            <a:r>
              <a:rPr lang="en-US" b="1" dirty="0">
                <a:solidFill>
                  <a:schemeClr val="tx2"/>
                </a:solidFill>
              </a:rPr>
              <a:t>MATLAB </a:t>
            </a:r>
            <a:r>
              <a:rPr lang="en-US" dirty="0"/>
              <a:t>in handling </a:t>
            </a:r>
            <a:r>
              <a:rPr lang="en-US" b="1" dirty="0">
                <a:solidFill>
                  <a:srgbClr val="7030A0"/>
                </a:solidFill>
              </a:rPr>
              <a:t>large datasets</a:t>
            </a:r>
            <a:r>
              <a:rPr lang="en-US" dirty="0"/>
              <a:t> and </a:t>
            </a:r>
            <a:r>
              <a:rPr lang="en-US" b="1" dirty="0">
                <a:solidFill>
                  <a:srgbClr val="7030A0"/>
                </a:solidFill>
              </a:rPr>
              <a:t>complex computations efficiently</a:t>
            </a:r>
            <a:r>
              <a:rPr lang="en-US" dirty="0"/>
              <a:t>.</a:t>
            </a:r>
          </a:p>
          <a:p>
            <a:pPr marL="285750" indent="-285750" algn="just">
              <a:lnSpc>
                <a:spcPct val="150000"/>
              </a:lnSpc>
              <a:buFont typeface="Arial" panose="020B0604020202020204" pitchFamily="34" charset="0"/>
              <a:buChar char="•"/>
            </a:pPr>
            <a:r>
              <a:rPr lang="en-US" dirty="0"/>
              <a:t>Extensive package ecosystem via </a:t>
            </a:r>
            <a:r>
              <a:rPr lang="en-US" b="1" dirty="0">
                <a:solidFill>
                  <a:srgbClr val="7030A0"/>
                </a:solidFill>
              </a:rPr>
              <a:t>Integrated Package Management (IPM)</a:t>
            </a:r>
            <a:r>
              <a:rPr lang="en-US" dirty="0"/>
              <a:t>, suitable for </a:t>
            </a:r>
            <a:r>
              <a:rPr lang="en-US" b="1" dirty="0">
                <a:solidFill>
                  <a:schemeClr val="accent2"/>
                </a:solidFill>
              </a:rPr>
              <a:t>scientific computing</a:t>
            </a:r>
            <a:r>
              <a:rPr lang="en-US" dirty="0"/>
              <a:t>, </a:t>
            </a:r>
            <a:r>
              <a:rPr lang="en-US" b="1" dirty="0">
                <a:solidFill>
                  <a:schemeClr val="accent2"/>
                </a:solidFill>
              </a:rPr>
              <a:t>data analysis</a:t>
            </a:r>
            <a:r>
              <a:rPr lang="en-US" dirty="0"/>
              <a:t>, </a:t>
            </a:r>
            <a:r>
              <a:rPr lang="en-US" b="1" dirty="0">
                <a:solidFill>
                  <a:schemeClr val="accent2"/>
                </a:solidFill>
              </a:rPr>
              <a:t>machine learning</a:t>
            </a:r>
            <a:r>
              <a:rPr lang="en-US" dirty="0"/>
              <a:t>, and </a:t>
            </a:r>
            <a:r>
              <a:rPr lang="en-US" b="1" dirty="0">
                <a:solidFill>
                  <a:schemeClr val="accent2"/>
                </a:solidFill>
              </a:rPr>
              <a:t>scalable technical applications</a:t>
            </a:r>
            <a:r>
              <a:rPr lang="en-US" b="1" dirty="0"/>
              <a:t>.</a:t>
            </a:r>
          </a:p>
          <a:p>
            <a:pPr marL="285750" indent="-285750">
              <a:buFont typeface="Arial" panose="020B0604020202020204" pitchFamily="34" charset="0"/>
              <a:buChar char="•"/>
            </a:pPr>
            <a:endParaRPr lang="en-US" dirty="0"/>
          </a:p>
        </p:txBody>
      </p:sp>
      <p:pic>
        <p:nvPicPr>
          <p:cNvPr id="7" name="Picture">
            <a:extLst>
              <a:ext uri="{FF2B5EF4-FFF2-40B4-BE49-F238E27FC236}">
                <a16:creationId xmlns:a16="http://schemas.microsoft.com/office/drawing/2014/main" id="{0680B6FA-2354-E686-3207-D5F7D64F9FCE}"/>
              </a:ext>
            </a:extLst>
          </p:cNvPr>
          <p:cNvPicPr/>
          <p:nvPr/>
        </p:nvPicPr>
        <p:blipFill>
          <a:blip r:embed="rId4"/>
          <a:stretch>
            <a:fillRect/>
          </a:stretch>
        </p:blipFill>
        <p:spPr bwMode="auto">
          <a:xfrm>
            <a:off x="6935906" y="1465074"/>
            <a:ext cx="4762500" cy="3927852"/>
          </a:xfrm>
          <a:prstGeom prst="rect">
            <a:avLst/>
          </a:prstGeom>
          <a:noFill/>
          <a:ln w="9525">
            <a:noFill/>
            <a:headEnd/>
            <a:tailEnd/>
          </a:ln>
        </p:spPr>
      </p:pic>
      <p:sp>
        <p:nvSpPr>
          <p:cNvPr id="8" name="TextBox 7">
            <a:extLst>
              <a:ext uri="{FF2B5EF4-FFF2-40B4-BE49-F238E27FC236}">
                <a16:creationId xmlns:a16="http://schemas.microsoft.com/office/drawing/2014/main" id="{9B9FF99E-0B12-4287-E5CC-67AEA5052739}"/>
              </a:ext>
            </a:extLst>
          </p:cNvPr>
          <p:cNvSpPr txBox="1"/>
          <p:nvPr/>
        </p:nvSpPr>
        <p:spPr>
          <a:xfrm>
            <a:off x="7107356" y="5656829"/>
            <a:ext cx="5749688" cy="307777"/>
          </a:xfrm>
          <a:prstGeom prst="rect">
            <a:avLst/>
          </a:prstGeom>
          <a:noFill/>
        </p:spPr>
        <p:txBody>
          <a:bodyPr wrap="square" rtlCol="0">
            <a:spAutoFit/>
          </a:bodyPr>
          <a:lstStyle/>
          <a:p>
            <a:r>
              <a:rPr lang="en-US" sz="1400" dirty="0"/>
              <a:t>Source: </a:t>
            </a:r>
            <a:r>
              <a:rPr lang="en-US" sz="1400" dirty="0">
                <a:hlinkClick r:id="rId5"/>
              </a:rPr>
              <a:t>Introduction to Julia with a comparison to Python and R</a:t>
            </a:r>
            <a:endParaRPr lang="en-IN" sz="1400" dirty="0"/>
          </a:p>
        </p:txBody>
      </p:sp>
    </p:spTree>
    <p:extLst>
      <p:ext uri="{BB962C8B-B14F-4D97-AF65-F5344CB8AC3E}">
        <p14:creationId xmlns:p14="http://schemas.microsoft.com/office/powerpoint/2010/main" val="24020352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75483-4F44-BA7F-9422-22B3D89A578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2497FA-5F73-80D0-CF8C-511CA5543145}"/>
              </a:ext>
            </a:extLst>
          </p:cNvPr>
          <p:cNvSpPr>
            <a:spLocks noGrp="1"/>
          </p:cNvSpPr>
          <p:nvPr>
            <p:ph type="sldNum" sz="quarter" idx="12"/>
          </p:nvPr>
        </p:nvSpPr>
        <p:spPr/>
        <p:txBody>
          <a:bodyPr/>
          <a:lstStyle/>
          <a:p>
            <a:fld id="{8EC77227-B7F4-4800-97BE-1DE2687871B5}" type="slidenum">
              <a:rPr lang="en-IN" smtClean="0"/>
              <a:t>9</a:t>
            </a:fld>
            <a:endParaRPr lang="en-IN" dirty="0"/>
          </a:p>
        </p:txBody>
      </p:sp>
      <p:pic>
        <p:nvPicPr>
          <p:cNvPr id="3" name="Google Shape;90;p1">
            <a:extLst>
              <a:ext uri="{FF2B5EF4-FFF2-40B4-BE49-F238E27FC236}">
                <a16:creationId xmlns:a16="http://schemas.microsoft.com/office/drawing/2014/main" id="{23A1569B-D7AA-0EFB-BF55-A3228E5C1308}"/>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0DF1FA0F-8B7E-A839-2260-EC3ED1ABF9B3}"/>
              </a:ext>
            </a:extLst>
          </p:cNvPr>
          <p:cNvSpPr txBox="1"/>
          <p:nvPr/>
        </p:nvSpPr>
        <p:spPr>
          <a:xfrm>
            <a:off x="327412" y="138920"/>
            <a:ext cx="3099661"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Julia: A New Platform</a:t>
            </a:r>
            <a:endParaRPr lang="en-IN" sz="2400" b="1" dirty="0">
              <a:solidFill>
                <a:srgbClr val="FF0000"/>
              </a:solidFill>
            </a:endParaRPr>
          </a:p>
        </p:txBody>
      </p:sp>
      <p:sp>
        <p:nvSpPr>
          <p:cNvPr id="6" name="TextBox 5">
            <a:extLst>
              <a:ext uri="{FF2B5EF4-FFF2-40B4-BE49-F238E27FC236}">
                <a16:creationId xmlns:a16="http://schemas.microsoft.com/office/drawing/2014/main" id="{3F51083B-6238-49A4-7AF8-53A452986142}"/>
              </a:ext>
            </a:extLst>
          </p:cNvPr>
          <p:cNvSpPr txBox="1"/>
          <p:nvPr/>
        </p:nvSpPr>
        <p:spPr>
          <a:xfrm>
            <a:off x="327412" y="600585"/>
            <a:ext cx="6832805" cy="586635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Julia provides a straightforward and expressive syntax, making it easy to learn for users familiar with </a:t>
            </a:r>
            <a:r>
              <a:rPr lang="en-US" b="1" dirty="0">
                <a:solidFill>
                  <a:srgbClr val="00B050"/>
                </a:solidFill>
              </a:rPr>
              <a:t>MATLAB</a:t>
            </a:r>
            <a:r>
              <a:rPr lang="en-US" dirty="0"/>
              <a:t>, </a:t>
            </a:r>
            <a:r>
              <a:rPr lang="en-US" b="1" dirty="0">
                <a:solidFill>
                  <a:srgbClr val="00B050"/>
                </a:solidFill>
              </a:rPr>
              <a:t>R</a:t>
            </a:r>
            <a:r>
              <a:rPr lang="en-US" dirty="0"/>
              <a:t>, or </a:t>
            </a:r>
            <a:r>
              <a:rPr lang="en-US" b="1" dirty="0">
                <a:solidFill>
                  <a:srgbClr val="00B050"/>
                </a:solidFill>
              </a:rPr>
              <a:t>Python</a:t>
            </a:r>
            <a:r>
              <a:rPr lang="en-US" dirty="0"/>
              <a:t>.</a:t>
            </a:r>
          </a:p>
          <a:p>
            <a:pPr marL="285750" indent="-285750" algn="just">
              <a:lnSpc>
                <a:spcPct val="150000"/>
              </a:lnSpc>
              <a:buFont typeface="Arial" panose="020B0604020202020204" pitchFamily="34" charset="0"/>
              <a:buChar char="•"/>
            </a:pPr>
            <a:r>
              <a:rPr lang="en-US" dirty="0"/>
              <a:t>Multiple dispatch allows functions to be specialized based on argument types, enabling </a:t>
            </a:r>
            <a:r>
              <a:rPr lang="en-US" b="1" dirty="0">
                <a:solidFill>
                  <a:srgbClr val="00B050"/>
                </a:solidFill>
              </a:rPr>
              <a:t>high-performance generic programming </a:t>
            </a:r>
            <a:r>
              <a:rPr lang="en-US" dirty="0"/>
              <a:t>and easy extension of existing functions.</a:t>
            </a:r>
          </a:p>
          <a:p>
            <a:pPr marL="285750" indent="-285750" algn="just">
              <a:lnSpc>
                <a:spcPct val="150000"/>
              </a:lnSpc>
              <a:buFont typeface="Arial" panose="020B0604020202020204" pitchFamily="34" charset="0"/>
              <a:buChar char="•"/>
            </a:pPr>
            <a:r>
              <a:rPr lang="en-US" dirty="0"/>
              <a:t>Julia can directly call C, Fortran, and Python libraries, and package management via </a:t>
            </a:r>
            <a:r>
              <a:rPr lang="en-US" b="1" dirty="0">
                <a:solidFill>
                  <a:srgbClr val="00B050"/>
                </a:solidFill>
              </a:rPr>
              <a:t>IPM</a:t>
            </a:r>
            <a:r>
              <a:rPr lang="en-US" dirty="0"/>
              <a:t> simplifies access to community-developed tools.</a:t>
            </a:r>
          </a:p>
          <a:p>
            <a:pPr marL="285750" indent="-285750" algn="just">
              <a:lnSpc>
                <a:spcPct val="150000"/>
              </a:lnSpc>
              <a:buFont typeface="Arial" panose="020B0604020202020204" pitchFamily="34" charset="0"/>
              <a:buChar char="•"/>
            </a:pPr>
            <a:r>
              <a:rPr lang="en-US" dirty="0"/>
              <a:t>Julia combines the productivity of high-level dynamic languages with the execution speed of compiled languages, addressing the </a:t>
            </a:r>
            <a:r>
              <a:rPr lang="en-US" b="1" dirty="0">
                <a:solidFill>
                  <a:srgbClr val="00B050"/>
                </a:solidFill>
              </a:rPr>
              <a:t>two-language problem</a:t>
            </a:r>
            <a:r>
              <a:rPr lang="en-US" dirty="0"/>
              <a:t>.</a:t>
            </a:r>
          </a:p>
          <a:p>
            <a:pPr marL="285750" indent="-285750" algn="just">
              <a:lnSpc>
                <a:spcPct val="150000"/>
              </a:lnSpc>
              <a:buFont typeface="Arial" panose="020B0604020202020204" pitchFamily="34" charset="0"/>
              <a:buChar char="•"/>
            </a:pPr>
            <a:r>
              <a:rPr lang="en-US" dirty="0"/>
              <a:t>Built-in support for </a:t>
            </a:r>
            <a:r>
              <a:rPr lang="en-US" b="1" dirty="0">
                <a:solidFill>
                  <a:srgbClr val="00B050"/>
                </a:solidFill>
              </a:rPr>
              <a:t>parallel</a:t>
            </a:r>
            <a:r>
              <a:rPr lang="en-US" dirty="0"/>
              <a:t> and </a:t>
            </a:r>
            <a:r>
              <a:rPr lang="en-US" b="1" dirty="0">
                <a:solidFill>
                  <a:srgbClr val="00B050"/>
                </a:solidFill>
              </a:rPr>
              <a:t>distributed</a:t>
            </a:r>
            <a:r>
              <a:rPr lang="en-US" dirty="0"/>
              <a:t> computing allows efficient execution across multiple cores or machines, suitable for scientific computing and machine learning.</a:t>
            </a:r>
          </a:p>
        </p:txBody>
      </p:sp>
      <p:sp>
        <p:nvSpPr>
          <p:cNvPr id="8" name="TextBox 7">
            <a:extLst>
              <a:ext uri="{FF2B5EF4-FFF2-40B4-BE49-F238E27FC236}">
                <a16:creationId xmlns:a16="http://schemas.microsoft.com/office/drawing/2014/main" id="{8C2CB3D2-A8D4-F538-E3EC-36DE0D6A22A3}"/>
              </a:ext>
            </a:extLst>
          </p:cNvPr>
          <p:cNvSpPr txBox="1"/>
          <p:nvPr/>
        </p:nvSpPr>
        <p:spPr>
          <a:xfrm>
            <a:off x="7401732" y="5404005"/>
            <a:ext cx="5062781" cy="307777"/>
          </a:xfrm>
          <a:prstGeom prst="rect">
            <a:avLst/>
          </a:prstGeom>
          <a:noFill/>
        </p:spPr>
        <p:txBody>
          <a:bodyPr wrap="square" rtlCol="0">
            <a:spAutoFit/>
          </a:bodyPr>
          <a:lstStyle/>
          <a:p>
            <a:r>
              <a:rPr lang="en-US" sz="1400" dirty="0"/>
              <a:t>Source: </a:t>
            </a:r>
            <a:r>
              <a:rPr lang="en-US" sz="1400" dirty="0">
                <a:hlinkClick r:id="rId4"/>
              </a:rPr>
              <a:t>Introduction to Julia with a comparison to Python and R</a:t>
            </a:r>
            <a:endParaRPr lang="en-IN" sz="1400" dirty="0"/>
          </a:p>
        </p:txBody>
      </p:sp>
      <p:pic>
        <p:nvPicPr>
          <p:cNvPr id="5" name="Picture">
            <a:extLst>
              <a:ext uri="{FF2B5EF4-FFF2-40B4-BE49-F238E27FC236}">
                <a16:creationId xmlns:a16="http://schemas.microsoft.com/office/drawing/2014/main" id="{AF835735-4DEE-F3FB-9831-966CD4140C69}"/>
              </a:ext>
            </a:extLst>
          </p:cNvPr>
          <p:cNvPicPr/>
          <p:nvPr/>
        </p:nvPicPr>
        <p:blipFill>
          <a:blip r:embed="rId5"/>
          <a:stretch>
            <a:fillRect/>
          </a:stretch>
        </p:blipFill>
        <p:spPr bwMode="auto">
          <a:xfrm>
            <a:off x="7454685" y="1300106"/>
            <a:ext cx="3899115" cy="3772049"/>
          </a:xfrm>
          <a:prstGeom prst="rect">
            <a:avLst/>
          </a:prstGeom>
          <a:noFill/>
          <a:ln w="9525">
            <a:noFill/>
            <a:headEnd/>
            <a:tailEnd/>
          </a:ln>
        </p:spPr>
      </p:pic>
    </p:spTree>
    <p:extLst>
      <p:ext uri="{BB962C8B-B14F-4D97-AF65-F5344CB8AC3E}">
        <p14:creationId xmlns:p14="http://schemas.microsoft.com/office/powerpoint/2010/main" val="21436204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54216-320C-B4C0-5EF6-7C7EBC94C8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D7766D-4505-C26E-86FC-5C61911E50BA}"/>
              </a:ext>
            </a:extLst>
          </p:cNvPr>
          <p:cNvSpPr>
            <a:spLocks noGrp="1"/>
          </p:cNvSpPr>
          <p:nvPr>
            <p:ph type="sldNum" sz="quarter" idx="12"/>
          </p:nvPr>
        </p:nvSpPr>
        <p:spPr/>
        <p:txBody>
          <a:bodyPr/>
          <a:lstStyle/>
          <a:p>
            <a:fld id="{8EC77227-B7F4-4800-97BE-1DE2687871B5}" type="slidenum">
              <a:rPr lang="en-IN" smtClean="0"/>
              <a:t>10</a:t>
            </a:fld>
            <a:endParaRPr lang="en-IN" dirty="0"/>
          </a:p>
        </p:txBody>
      </p:sp>
      <p:pic>
        <p:nvPicPr>
          <p:cNvPr id="3" name="Google Shape;90;p1">
            <a:extLst>
              <a:ext uri="{FF2B5EF4-FFF2-40B4-BE49-F238E27FC236}">
                <a16:creationId xmlns:a16="http://schemas.microsoft.com/office/drawing/2014/main" id="{4A32CBEA-0CCA-51CE-A2A3-1E7A102E4B9C}"/>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88D989DE-38B9-8BD1-08C8-06011984C541}"/>
              </a:ext>
            </a:extLst>
          </p:cNvPr>
          <p:cNvSpPr txBox="1"/>
          <p:nvPr/>
        </p:nvSpPr>
        <p:spPr>
          <a:xfrm>
            <a:off x="213100" y="138920"/>
            <a:ext cx="4543761"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 Some Important Features of Julia</a:t>
            </a:r>
            <a:endParaRPr lang="en-IN" sz="2400" b="1" dirty="0">
              <a:solidFill>
                <a:srgbClr val="FF0000"/>
              </a:solidFill>
            </a:endParaRPr>
          </a:p>
        </p:txBody>
      </p:sp>
      <p:sp>
        <p:nvSpPr>
          <p:cNvPr id="9" name="TextBox 8">
            <a:extLst>
              <a:ext uri="{FF2B5EF4-FFF2-40B4-BE49-F238E27FC236}">
                <a16:creationId xmlns:a16="http://schemas.microsoft.com/office/drawing/2014/main" id="{12A81C79-8321-EC7A-4EB7-1F2110424726}"/>
              </a:ext>
            </a:extLst>
          </p:cNvPr>
          <p:cNvSpPr txBox="1"/>
          <p:nvPr/>
        </p:nvSpPr>
        <p:spPr>
          <a:xfrm>
            <a:off x="368084" y="911322"/>
            <a:ext cx="6373679" cy="503535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effectLst/>
              </a:rPr>
              <a:t>Julia provides a dynamic and interactive programming environment, allowing rapid experimentation and development without rewriting large portions of code.</a:t>
            </a:r>
            <a:endParaRPr lang="en-US" dirty="0"/>
          </a:p>
          <a:p>
            <a:pPr marL="285750" indent="-285750" algn="just">
              <a:lnSpc>
                <a:spcPct val="150000"/>
              </a:lnSpc>
              <a:buFont typeface="Arial" panose="020B0604020202020204" pitchFamily="34" charset="0"/>
              <a:buChar char="•"/>
            </a:pPr>
            <a:r>
              <a:rPr lang="en-US" dirty="0">
                <a:effectLst/>
              </a:rPr>
              <a:t>Its high execution speed approaches that of compiled languages like C/C++, making it ideal for large-scale data processing and complex computations.</a:t>
            </a:r>
            <a:endParaRPr lang="en-US" dirty="0"/>
          </a:p>
          <a:p>
            <a:pPr marL="285750" indent="-285750" algn="just">
              <a:lnSpc>
                <a:spcPct val="150000"/>
              </a:lnSpc>
              <a:buFont typeface="Arial" panose="020B0604020202020204" pitchFamily="34" charset="0"/>
              <a:buChar char="•"/>
            </a:pPr>
            <a:r>
              <a:rPr lang="en-US" dirty="0">
                <a:effectLst/>
              </a:rPr>
              <a:t>Julia supports parallel and distributed computing, reducing computation time on big datasets and improving scalability for statistical and machine learning workflows.</a:t>
            </a:r>
            <a:endParaRPr lang="en-US" dirty="0"/>
          </a:p>
          <a:p>
            <a:pPr marL="285750" indent="-285750" algn="just">
              <a:lnSpc>
                <a:spcPct val="150000"/>
              </a:lnSpc>
              <a:buFont typeface="Arial" panose="020B0604020202020204" pitchFamily="34" charset="0"/>
              <a:buChar char="•"/>
            </a:pPr>
            <a:r>
              <a:rPr lang="en-US" dirty="0">
                <a:effectLst/>
              </a:rPr>
              <a:t>Metaprogramming allows programs to construct and manipulate expressions as first-class values, addressing the two-language and expression problems in scientific computing.</a:t>
            </a:r>
            <a:endParaRPr lang="en-US" dirty="0"/>
          </a:p>
        </p:txBody>
      </p:sp>
      <p:pic>
        <p:nvPicPr>
          <p:cNvPr id="10" name="Picture" descr="A schematic overview illustrating key characteristics of the Julia programming language">
            <a:extLst>
              <a:ext uri="{FF2B5EF4-FFF2-40B4-BE49-F238E27FC236}">
                <a16:creationId xmlns:a16="http://schemas.microsoft.com/office/drawing/2014/main" id="{EC37AA27-BF37-46E7-F04F-00E4DEFE9FE9}"/>
              </a:ext>
            </a:extLst>
          </p:cNvPr>
          <p:cNvPicPr/>
          <p:nvPr/>
        </p:nvPicPr>
        <p:blipFill>
          <a:blip r:embed="rId4"/>
          <a:stretch>
            <a:fillRect/>
          </a:stretch>
        </p:blipFill>
        <p:spPr bwMode="auto">
          <a:xfrm>
            <a:off x="6912245" y="1677691"/>
            <a:ext cx="5051156" cy="3502617"/>
          </a:xfrm>
          <a:prstGeom prst="rect">
            <a:avLst/>
          </a:prstGeom>
          <a:noFill/>
          <a:ln w="9525">
            <a:noFill/>
            <a:headEnd/>
            <a:tailEnd/>
          </a:ln>
        </p:spPr>
      </p:pic>
    </p:spTree>
    <p:extLst>
      <p:ext uri="{BB962C8B-B14F-4D97-AF65-F5344CB8AC3E}">
        <p14:creationId xmlns:p14="http://schemas.microsoft.com/office/powerpoint/2010/main" val="4010909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71B05-C49C-8D53-C628-CEFAAC148F7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B5C7A5-982F-31EB-8E28-DF827DD82AAA}"/>
              </a:ext>
            </a:extLst>
          </p:cNvPr>
          <p:cNvSpPr>
            <a:spLocks noGrp="1"/>
          </p:cNvSpPr>
          <p:nvPr>
            <p:ph type="sldNum" sz="quarter" idx="12"/>
          </p:nvPr>
        </p:nvSpPr>
        <p:spPr/>
        <p:txBody>
          <a:bodyPr/>
          <a:lstStyle/>
          <a:p>
            <a:fld id="{8EC77227-B7F4-4800-97BE-1DE2687871B5}" type="slidenum">
              <a:rPr lang="en-IN" smtClean="0"/>
              <a:t>11</a:t>
            </a:fld>
            <a:endParaRPr lang="en-IN" dirty="0"/>
          </a:p>
        </p:txBody>
      </p:sp>
      <p:pic>
        <p:nvPicPr>
          <p:cNvPr id="3" name="Google Shape;90;p1">
            <a:extLst>
              <a:ext uri="{FF2B5EF4-FFF2-40B4-BE49-F238E27FC236}">
                <a16:creationId xmlns:a16="http://schemas.microsoft.com/office/drawing/2014/main" id="{FD28265F-FDDF-345E-6313-C675562345C6}"/>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C6285C96-8A2B-FB25-737E-FCBDDB65E0E6}"/>
              </a:ext>
            </a:extLst>
          </p:cNvPr>
          <p:cNvSpPr txBox="1"/>
          <p:nvPr/>
        </p:nvSpPr>
        <p:spPr>
          <a:xfrm>
            <a:off x="213100" y="138920"/>
            <a:ext cx="4543761"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 Some Important Features of Julia</a:t>
            </a:r>
            <a:endParaRPr lang="en-IN" sz="2400" b="1" dirty="0">
              <a:solidFill>
                <a:srgbClr val="FF0000"/>
              </a:solidFill>
            </a:endParaRPr>
          </a:p>
        </p:txBody>
      </p:sp>
      <p:sp>
        <p:nvSpPr>
          <p:cNvPr id="9" name="TextBox 8">
            <a:extLst>
              <a:ext uri="{FF2B5EF4-FFF2-40B4-BE49-F238E27FC236}">
                <a16:creationId xmlns:a16="http://schemas.microsoft.com/office/drawing/2014/main" id="{A551BE2E-366B-41CB-EEAA-52BAD2DF8F1A}"/>
              </a:ext>
            </a:extLst>
          </p:cNvPr>
          <p:cNvSpPr txBox="1"/>
          <p:nvPr/>
        </p:nvSpPr>
        <p:spPr>
          <a:xfrm>
            <a:off x="368084" y="911322"/>
            <a:ext cx="6373679" cy="503535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effectLst/>
              </a:rPr>
              <a:t>J</a:t>
            </a:r>
            <a:r>
              <a:rPr lang="en-US" dirty="0"/>
              <a:t>ulia’s simple syntax and high-level abstractions make model development, statistical analysis, and data workflows accessible to </a:t>
            </a:r>
            <a:r>
              <a:rPr lang="en-US" b="1" dirty="0">
                <a:solidFill>
                  <a:srgbClr val="7030A0"/>
                </a:solidFill>
              </a:rPr>
              <a:t>Python</a:t>
            </a:r>
            <a:r>
              <a:rPr lang="en-US" dirty="0"/>
              <a:t>, </a:t>
            </a:r>
            <a:r>
              <a:rPr lang="en-US" b="1" dirty="0">
                <a:solidFill>
                  <a:srgbClr val="7030A0"/>
                </a:solidFill>
              </a:rPr>
              <a:t>R</a:t>
            </a:r>
            <a:r>
              <a:rPr lang="en-US" dirty="0"/>
              <a:t>, or </a:t>
            </a:r>
            <a:r>
              <a:rPr lang="en-US" b="1" dirty="0">
                <a:solidFill>
                  <a:srgbClr val="7030A0"/>
                </a:solidFill>
              </a:rPr>
              <a:t>MATLAB</a:t>
            </a:r>
            <a:r>
              <a:rPr lang="en-US" dirty="0"/>
              <a:t> users.</a:t>
            </a:r>
          </a:p>
          <a:p>
            <a:pPr marL="285750" indent="-285750" algn="just">
              <a:lnSpc>
                <a:spcPct val="150000"/>
              </a:lnSpc>
              <a:buFont typeface="Arial" panose="020B0604020202020204" pitchFamily="34" charset="0"/>
              <a:buChar char="•"/>
            </a:pPr>
            <a:r>
              <a:rPr lang="en-US" dirty="0"/>
              <a:t>Multiple dispatch and a robust type system enable expressive, modular, and reusable code while maintaining high performance across diverse implementations.</a:t>
            </a:r>
          </a:p>
          <a:p>
            <a:pPr marL="285750" indent="-285750" algn="just">
              <a:lnSpc>
                <a:spcPct val="150000"/>
              </a:lnSpc>
              <a:buFont typeface="Arial" panose="020B0604020202020204" pitchFamily="34" charset="0"/>
              <a:buChar char="•"/>
            </a:pPr>
            <a:r>
              <a:rPr lang="en-US" dirty="0"/>
              <a:t>Data analysis and visualization are highly efficient; MATLAB and Octave code can be reused via </a:t>
            </a:r>
            <a:r>
              <a:rPr lang="en-US" b="1" dirty="0" err="1">
                <a:solidFill>
                  <a:schemeClr val="accent6">
                    <a:lumMod val="50000"/>
                  </a:schemeClr>
                </a:solidFill>
              </a:rPr>
              <a:t>MatlabCompat.jl</a:t>
            </a:r>
            <a:r>
              <a:rPr lang="en-US" dirty="0"/>
              <a:t>, while </a:t>
            </a:r>
            <a:r>
              <a:rPr lang="en-US" b="1" dirty="0" err="1">
                <a:solidFill>
                  <a:schemeClr val="accent6">
                    <a:lumMod val="50000"/>
                  </a:schemeClr>
                </a:solidFill>
              </a:rPr>
              <a:t>RCall.jl</a:t>
            </a:r>
            <a:r>
              <a:rPr lang="en-US" dirty="0"/>
              <a:t> and </a:t>
            </a:r>
            <a:r>
              <a:rPr lang="en-US" b="1" dirty="0" err="1">
                <a:solidFill>
                  <a:schemeClr val="accent6">
                    <a:lumMod val="50000"/>
                  </a:schemeClr>
                </a:solidFill>
              </a:rPr>
              <a:t>PyCall.jl</a:t>
            </a:r>
            <a:r>
              <a:rPr lang="en-US" dirty="0"/>
              <a:t> allow seamless </a:t>
            </a:r>
            <a:r>
              <a:rPr lang="en-US" b="1" dirty="0">
                <a:solidFill>
                  <a:srgbClr val="0070C0"/>
                </a:solidFill>
              </a:rPr>
              <a:t>R/Python </a:t>
            </a:r>
            <a:r>
              <a:rPr lang="en-US" dirty="0"/>
              <a:t>integration.</a:t>
            </a:r>
          </a:p>
          <a:p>
            <a:pPr marL="285750" indent="-285750" algn="just">
              <a:lnSpc>
                <a:spcPct val="150000"/>
              </a:lnSpc>
              <a:buFont typeface="Arial" panose="020B0604020202020204" pitchFamily="34" charset="0"/>
              <a:buChar char="•"/>
            </a:pPr>
            <a:r>
              <a:rPr lang="en-US" dirty="0"/>
              <a:t>Julia unifies productivity and performance in a single language, eliminating the need to switch between high-level and low-level languages.</a:t>
            </a:r>
          </a:p>
        </p:txBody>
      </p:sp>
      <p:pic>
        <p:nvPicPr>
          <p:cNvPr id="10" name="Picture" descr="A schematic overview illustrating key characteristics of the Julia programming language">
            <a:extLst>
              <a:ext uri="{FF2B5EF4-FFF2-40B4-BE49-F238E27FC236}">
                <a16:creationId xmlns:a16="http://schemas.microsoft.com/office/drawing/2014/main" id="{E83DA73D-F3A6-CBC5-BEEF-E9C920BCE78F}"/>
              </a:ext>
            </a:extLst>
          </p:cNvPr>
          <p:cNvPicPr/>
          <p:nvPr/>
        </p:nvPicPr>
        <p:blipFill>
          <a:blip r:embed="rId4"/>
          <a:stretch>
            <a:fillRect/>
          </a:stretch>
        </p:blipFill>
        <p:spPr bwMode="auto">
          <a:xfrm>
            <a:off x="6912245" y="1677691"/>
            <a:ext cx="5051156" cy="3502617"/>
          </a:xfrm>
          <a:prstGeom prst="rect">
            <a:avLst/>
          </a:prstGeom>
          <a:noFill/>
          <a:ln w="9525">
            <a:noFill/>
            <a:headEnd/>
            <a:tailEnd/>
          </a:ln>
        </p:spPr>
      </p:pic>
    </p:spTree>
    <p:extLst>
      <p:ext uri="{BB962C8B-B14F-4D97-AF65-F5344CB8AC3E}">
        <p14:creationId xmlns:p14="http://schemas.microsoft.com/office/powerpoint/2010/main" val="3311218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AE347-E599-0D10-6C6D-E7876F6F111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059E9E-D9F6-F908-1B2F-B5350C4F30B1}"/>
              </a:ext>
            </a:extLst>
          </p:cNvPr>
          <p:cNvSpPr>
            <a:spLocks noGrp="1"/>
          </p:cNvSpPr>
          <p:nvPr>
            <p:ph type="sldNum" sz="quarter" idx="12"/>
          </p:nvPr>
        </p:nvSpPr>
        <p:spPr/>
        <p:txBody>
          <a:bodyPr/>
          <a:lstStyle/>
          <a:p>
            <a:fld id="{8EC77227-B7F4-4800-97BE-1DE2687871B5}" type="slidenum">
              <a:rPr lang="en-IN" smtClean="0"/>
              <a:t>12</a:t>
            </a:fld>
            <a:endParaRPr lang="en-IN" dirty="0"/>
          </a:p>
        </p:txBody>
      </p:sp>
      <p:sp>
        <p:nvSpPr>
          <p:cNvPr id="6" name="TextBox 5">
            <a:extLst>
              <a:ext uri="{FF2B5EF4-FFF2-40B4-BE49-F238E27FC236}">
                <a16:creationId xmlns:a16="http://schemas.microsoft.com/office/drawing/2014/main" id="{D9FF90D0-AB5D-75A7-2927-CFC42DF7B87D}"/>
              </a:ext>
            </a:extLst>
          </p:cNvPr>
          <p:cNvSpPr txBox="1"/>
          <p:nvPr/>
        </p:nvSpPr>
        <p:spPr>
          <a:xfrm>
            <a:off x="210404" y="136525"/>
            <a:ext cx="9771796"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Mathematical Equations to R or Python Code: Lost in Translation</a:t>
            </a:r>
            <a:endParaRPr lang="en-IN" sz="2400" b="1" dirty="0">
              <a:solidFill>
                <a:srgbClr val="FF0000"/>
              </a:solidFill>
            </a:endParaRPr>
          </a:p>
        </p:txBody>
      </p:sp>
      <p:sp>
        <p:nvSpPr>
          <p:cNvPr id="8" name="TextBox 7">
            <a:extLst>
              <a:ext uri="{FF2B5EF4-FFF2-40B4-BE49-F238E27FC236}">
                <a16:creationId xmlns:a16="http://schemas.microsoft.com/office/drawing/2014/main" id="{367C340D-3B58-252A-D6F9-2D1BC5D717D0}"/>
              </a:ext>
            </a:extLst>
          </p:cNvPr>
          <p:cNvSpPr txBox="1"/>
          <p:nvPr/>
        </p:nvSpPr>
        <p:spPr>
          <a:xfrm>
            <a:off x="307713" y="912781"/>
            <a:ext cx="11046087" cy="373794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000" b="1" dirty="0"/>
              <a:t>Loss of meaning in translation:</a:t>
            </a:r>
            <a:r>
              <a:rPr lang="en-US" sz="2000" dirty="0"/>
              <a:t> When mathematical equations are converted to R or Python code, the core idea can get obscured, making it hard to connect the code back to the theory.</a:t>
            </a:r>
          </a:p>
          <a:p>
            <a:pPr marL="285750" indent="-285750" algn="just">
              <a:lnSpc>
                <a:spcPct val="150000"/>
              </a:lnSpc>
              <a:buFont typeface="Arial" panose="020B0604020202020204" pitchFamily="34" charset="0"/>
              <a:buChar char="•"/>
            </a:pPr>
            <a:r>
              <a:rPr lang="en-US" sz="2000" b="1" dirty="0"/>
              <a:t>Reduced transparency:</a:t>
            </a:r>
            <a:r>
              <a:rPr lang="en-US" sz="2000" dirty="0"/>
              <a:t> This disconnect lowers clarity within an organization or team, as not everyone can easily trace how the math is implemented in the code.</a:t>
            </a:r>
          </a:p>
          <a:p>
            <a:pPr marL="285750" indent="-285750" algn="just">
              <a:lnSpc>
                <a:spcPct val="150000"/>
              </a:lnSpc>
              <a:buFont typeface="Arial" panose="020B0604020202020204" pitchFamily="34" charset="0"/>
              <a:buChar char="•"/>
            </a:pPr>
            <a:r>
              <a:rPr lang="en-US" sz="2000" b="1" dirty="0"/>
              <a:t>Communication gap:</a:t>
            </a:r>
            <a:r>
              <a:rPr lang="en-US" sz="2000" dirty="0"/>
              <a:t> Even fellow data scientists may struggle to fully understand the approach or logic behind the code if the mathematical intent isn’t clear.</a:t>
            </a:r>
          </a:p>
          <a:p>
            <a:pPr marL="285750" indent="-285750" algn="just">
              <a:lnSpc>
                <a:spcPct val="150000"/>
              </a:lnSpc>
              <a:buFont typeface="Arial" panose="020B0604020202020204" pitchFamily="34" charset="0"/>
              <a:buChar char="•"/>
            </a:pPr>
            <a:r>
              <a:rPr lang="en-US" sz="2000" b="1" dirty="0"/>
              <a:t>Lack of explainability in AI/ML:</a:t>
            </a:r>
            <a:r>
              <a:rPr lang="en-US" sz="2000" dirty="0"/>
              <a:t> This gap widens further in machine learning and AI, where models are already complex, leading to reduced interpretability.</a:t>
            </a:r>
            <a:endParaRPr lang="en-IN" sz="2000" dirty="0"/>
          </a:p>
        </p:txBody>
      </p:sp>
      <p:pic>
        <p:nvPicPr>
          <p:cNvPr id="4" name="Google Shape;90;p1">
            <a:extLst>
              <a:ext uri="{FF2B5EF4-FFF2-40B4-BE49-F238E27FC236}">
                <a16:creationId xmlns:a16="http://schemas.microsoft.com/office/drawing/2014/main" id="{AACF26FC-78CF-A05F-B7E6-1A4328DEAF68}"/>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Tree>
    <p:extLst>
      <p:ext uri="{BB962C8B-B14F-4D97-AF65-F5344CB8AC3E}">
        <p14:creationId xmlns:p14="http://schemas.microsoft.com/office/powerpoint/2010/main" val="3619143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7F8B3-598E-1F9A-D95D-8BFCBD059F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C7503E-FC17-E8FB-43C3-CFB45AF5025E}"/>
              </a:ext>
            </a:extLst>
          </p:cNvPr>
          <p:cNvSpPr>
            <a:spLocks noGrp="1"/>
          </p:cNvSpPr>
          <p:nvPr>
            <p:ph type="sldNum" sz="quarter" idx="12"/>
          </p:nvPr>
        </p:nvSpPr>
        <p:spPr/>
        <p:txBody>
          <a:bodyPr/>
          <a:lstStyle/>
          <a:p>
            <a:fld id="{8EC77227-B7F4-4800-97BE-1DE2687871B5}" type="slidenum">
              <a:rPr lang="en-IN" smtClean="0"/>
              <a:t>13</a:t>
            </a:fld>
            <a:endParaRPr lang="en-IN" dirty="0"/>
          </a:p>
        </p:txBody>
      </p:sp>
      <p:sp>
        <p:nvSpPr>
          <p:cNvPr id="6" name="TextBox 5">
            <a:extLst>
              <a:ext uri="{FF2B5EF4-FFF2-40B4-BE49-F238E27FC236}">
                <a16:creationId xmlns:a16="http://schemas.microsoft.com/office/drawing/2014/main" id="{F1D8965B-9B4E-ED17-7D29-4A36009A6070}"/>
              </a:ext>
            </a:extLst>
          </p:cNvPr>
          <p:cNvSpPr txBox="1"/>
          <p:nvPr/>
        </p:nvSpPr>
        <p:spPr>
          <a:xfrm>
            <a:off x="210404" y="136525"/>
            <a:ext cx="9771796"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Mathematical Equations to R or Python Code: Lost in Translation</a:t>
            </a:r>
            <a:endParaRPr lang="en-IN" sz="2400" b="1" dirty="0">
              <a:solidFill>
                <a:srgbClr val="FF0000"/>
              </a:solidFill>
            </a:endParaRPr>
          </a:p>
        </p:txBody>
      </p:sp>
      <p:pic>
        <p:nvPicPr>
          <p:cNvPr id="4" name="Google Shape;90;p1">
            <a:extLst>
              <a:ext uri="{FF2B5EF4-FFF2-40B4-BE49-F238E27FC236}">
                <a16:creationId xmlns:a16="http://schemas.microsoft.com/office/drawing/2014/main" id="{2A38340C-5FE1-A9C0-0474-D00ADC22D930}"/>
              </a:ext>
            </a:extLst>
          </p:cNvPr>
          <p:cNvPicPr preferRelativeResize="0"/>
          <p:nvPr/>
        </p:nvPicPr>
        <p:blipFill rotWithShape="1">
          <a:blip r:embed="rId3">
            <a:alphaModFix/>
          </a:blip>
          <a:srcRect/>
          <a:stretch/>
        </p:blipFill>
        <p:spPr>
          <a:xfrm>
            <a:off x="11069548" y="-7306"/>
            <a:ext cx="987188" cy="1201171"/>
          </a:xfrm>
          <a:prstGeom prst="rect">
            <a:avLst/>
          </a:prstGeom>
          <a:noFill/>
          <a:ln>
            <a:noFill/>
          </a:ln>
        </p:spPr>
      </p:pic>
      <p:sp>
        <p:nvSpPr>
          <p:cNvPr id="5" name="TextBox 4">
            <a:extLst>
              <a:ext uri="{FF2B5EF4-FFF2-40B4-BE49-F238E27FC236}">
                <a16:creationId xmlns:a16="http://schemas.microsoft.com/office/drawing/2014/main" id="{99F8B2AA-741B-0233-A381-FDF7A4C9CD8E}"/>
              </a:ext>
            </a:extLst>
          </p:cNvPr>
          <p:cNvSpPr txBox="1"/>
          <p:nvPr/>
        </p:nvSpPr>
        <p:spPr>
          <a:xfrm>
            <a:off x="210404" y="721712"/>
            <a:ext cx="6098582" cy="400110"/>
          </a:xfrm>
          <a:prstGeom prst="rect">
            <a:avLst/>
          </a:prstGeom>
          <a:noFill/>
        </p:spPr>
        <p:txBody>
          <a:bodyPr wrap="square">
            <a:spAutoFit/>
          </a:bodyPr>
          <a:lstStyle/>
          <a:p>
            <a:r>
              <a:rPr lang="en-US" sz="1800" dirty="0">
                <a:effectLst/>
                <a:latin typeface="Aptos" panose="020B0004020202020204" pitchFamily="34" charset="0"/>
                <a:ea typeface="Aptos" panose="020B0004020202020204" pitchFamily="34" charset="0"/>
                <a:cs typeface="Mangal" panose="02040503050203030202" pitchFamily="18" charset="0"/>
              </a:rPr>
              <a:t> </a:t>
            </a:r>
            <a:r>
              <a:rPr lang="en-US" dirty="0">
                <a:latin typeface="Aptos" panose="020B0004020202020204" pitchFamily="34" charset="0"/>
                <a:ea typeface="Aptos" panose="020B0004020202020204" pitchFamily="34" charset="0"/>
                <a:cs typeface="Mangal" panose="02040503050203030202" pitchFamily="18" charset="0"/>
              </a:rPr>
              <a:t>Here consider the example of a </a:t>
            </a:r>
            <a:r>
              <a:rPr lang="en-US" sz="2000" dirty="0">
                <a:latin typeface="Aptos" panose="020B0004020202020204" pitchFamily="34" charset="0"/>
                <a:ea typeface="Aptos" panose="020B0004020202020204" pitchFamily="34" charset="0"/>
                <a:cs typeface="Mangal" panose="02040503050203030202" pitchFamily="18" charset="0"/>
              </a:rPr>
              <a:t>b</a:t>
            </a:r>
            <a:r>
              <a:rPr lang="en-US" sz="2000" dirty="0">
                <a:effectLst/>
                <a:latin typeface="Aptos" panose="020B0004020202020204" pitchFamily="34" charset="0"/>
                <a:ea typeface="Aptos" panose="020B0004020202020204" pitchFamily="34" charset="0"/>
                <a:cs typeface="Mangal" panose="02040503050203030202" pitchFamily="18" charset="0"/>
              </a:rPr>
              <a:t>ivariate normal PDF</a:t>
            </a:r>
            <a:endParaRPr lang="en-IN"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771796D-8AC4-5EB7-FA95-225B76EA665B}"/>
                  </a:ext>
                </a:extLst>
              </p:cNvPr>
              <p:cNvSpPr txBox="1"/>
              <p:nvPr/>
            </p:nvSpPr>
            <p:spPr>
              <a:xfrm>
                <a:off x="2837482" y="1193865"/>
                <a:ext cx="6098582" cy="7233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𝑓</m:t>
                      </m:r>
                      <m:d>
                        <m:dPr>
                          <m:ctrlPr>
                            <a:rPr lang="en-IN" sz="2000" i="1" smtClean="0">
                              <a:latin typeface="Cambria Math" panose="02040503050406030204" pitchFamily="18" charset="0"/>
                            </a:rPr>
                          </m:ctrlPr>
                        </m:dPr>
                        <m:e>
                          <m:r>
                            <a:rPr lang="en-IN" sz="2000" i="1">
                              <a:latin typeface="Cambria Math" panose="02040503050406030204" pitchFamily="18" charset="0"/>
                            </a:rPr>
                            <m:t>𝑥</m:t>
                          </m:r>
                        </m:e>
                      </m:d>
                      <m:r>
                        <a:rPr lang="en-IN" sz="2000" i="0">
                          <a:latin typeface="Cambria Math" panose="02040503050406030204" pitchFamily="18" charset="0"/>
                        </a:rPr>
                        <m:t>=</m:t>
                      </m:r>
                      <m:f>
                        <m:fPr>
                          <m:ctrlPr>
                            <a:rPr lang="en-IN" sz="2000" i="1">
                              <a:latin typeface="Cambria Math" panose="02040503050406030204" pitchFamily="18" charset="0"/>
                            </a:rPr>
                          </m:ctrlPr>
                        </m:fPr>
                        <m:num>
                          <m:r>
                            <a:rPr lang="en-IN" sz="2000" i="0">
                              <a:latin typeface="Cambria Math" panose="02040503050406030204" pitchFamily="18" charset="0"/>
                            </a:rPr>
                            <m:t>1</m:t>
                          </m:r>
                        </m:num>
                        <m:den>
                          <m:r>
                            <a:rPr lang="en-IN" sz="2000" i="0">
                              <a:latin typeface="Cambria Math" panose="02040503050406030204" pitchFamily="18" charset="0"/>
                            </a:rPr>
                            <m:t>2</m:t>
                          </m:r>
                          <m:r>
                            <a:rPr lang="en-IN" sz="2000" i="1">
                              <a:latin typeface="Cambria Math" panose="02040503050406030204" pitchFamily="18" charset="0"/>
                            </a:rPr>
                            <m:t>𝜋</m:t>
                          </m:r>
                          <m:sSup>
                            <m:sSupPr>
                              <m:ctrlPr>
                                <a:rPr lang="en-IN" sz="2000" i="1">
                                  <a:latin typeface="Cambria Math" panose="02040503050406030204" pitchFamily="18" charset="0"/>
                                </a:rPr>
                              </m:ctrlPr>
                            </m:sSupPr>
                            <m:e>
                              <m:d>
                                <m:dPr>
                                  <m:begChr m:val="|"/>
                                  <m:endChr m:val="|"/>
                                  <m:ctrlPr>
                                    <a:rPr lang="en-IN" sz="2000" i="1">
                                      <a:latin typeface="Cambria Math" panose="02040503050406030204" pitchFamily="18" charset="0"/>
                                    </a:rPr>
                                  </m:ctrlPr>
                                </m:dPr>
                                <m:e>
                                  <m:r>
                                    <a:rPr lang="en-IN" sz="2000" i="1">
                                      <a:latin typeface="Cambria Math" panose="02040503050406030204" pitchFamily="18" charset="0"/>
                                    </a:rPr>
                                    <m:t>𝛴</m:t>
                                  </m:r>
                                </m:e>
                              </m:d>
                            </m:e>
                            <m:sup>
                              <m:f>
                                <m:fPr>
                                  <m:type m:val="lin"/>
                                  <m:ctrlPr>
                                    <a:rPr lang="en-IN" sz="2000" i="1">
                                      <a:latin typeface="Cambria Math" panose="02040503050406030204" pitchFamily="18" charset="0"/>
                                    </a:rPr>
                                  </m:ctrlPr>
                                </m:fPr>
                                <m:num>
                                  <m:r>
                                    <a:rPr lang="en-IN" sz="2000" i="0">
                                      <a:latin typeface="Cambria Math" panose="02040503050406030204" pitchFamily="18" charset="0"/>
                                    </a:rPr>
                                    <m:t>1</m:t>
                                  </m:r>
                                </m:num>
                                <m:den>
                                  <m:r>
                                    <a:rPr lang="en-IN" sz="2000" i="0">
                                      <a:latin typeface="Cambria Math" panose="02040503050406030204" pitchFamily="18" charset="0"/>
                                    </a:rPr>
                                    <m:t>2</m:t>
                                  </m:r>
                                </m:den>
                              </m:f>
                            </m:sup>
                          </m:sSup>
                        </m:den>
                      </m:f>
                      <m:r>
                        <m:rPr>
                          <m:sty m:val="p"/>
                        </m:rPr>
                        <a:rPr lang="en-IN" sz="2000" i="0">
                          <a:latin typeface="Cambria Math" panose="02040503050406030204" pitchFamily="18" charset="0"/>
                        </a:rPr>
                        <m:t>exp</m:t>
                      </m:r>
                      <m:d>
                        <m:dPr>
                          <m:begChr m:val="{"/>
                          <m:endChr m:val="}"/>
                          <m:ctrlPr>
                            <a:rPr lang="en-IN" sz="2000" i="1">
                              <a:latin typeface="Cambria Math" panose="02040503050406030204" pitchFamily="18" charset="0"/>
                            </a:rPr>
                          </m:ctrlPr>
                        </m:dPr>
                        <m:e>
                          <m:r>
                            <a:rPr lang="en-IN" sz="2000" i="0">
                              <a:latin typeface="Cambria Math" panose="02040503050406030204" pitchFamily="18" charset="0"/>
                            </a:rPr>
                            <m:t>−</m:t>
                          </m:r>
                          <m:f>
                            <m:fPr>
                              <m:ctrlPr>
                                <a:rPr lang="en-IN" sz="2000" i="1">
                                  <a:latin typeface="Cambria Math" panose="02040503050406030204" pitchFamily="18" charset="0"/>
                                </a:rPr>
                              </m:ctrlPr>
                            </m:fPr>
                            <m:num>
                              <m:r>
                                <a:rPr lang="en-IN" sz="2000" i="0">
                                  <a:latin typeface="Cambria Math" panose="02040503050406030204" pitchFamily="18" charset="0"/>
                                </a:rPr>
                                <m:t>1</m:t>
                              </m:r>
                            </m:num>
                            <m:den>
                              <m:r>
                                <a:rPr lang="en-IN" sz="2000" i="0">
                                  <a:latin typeface="Cambria Math" panose="02040503050406030204" pitchFamily="18" charset="0"/>
                                </a:rPr>
                                <m:t>2</m:t>
                              </m:r>
                            </m:den>
                          </m:f>
                          <m:sSup>
                            <m:sSupPr>
                              <m:ctrlPr>
                                <a:rPr lang="en-IN" sz="2000" i="1">
                                  <a:latin typeface="Cambria Math" panose="02040503050406030204" pitchFamily="18" charset="0"/>
                                </a:rPr>
                              </m:ctrlPr>
                            </m:sSupPr>
                            <m:e>
                              <m:d>
                                <m:dPr>
                                  <m:ctrlPr>
                                    <a:rPr lang="en-IN" sz="2000" i="1">
                                      <a:latin typeface="Cambria Math" panose="02040503050406030204" pitchFamily="18" charset="0"/>
                                    </a:rPr>
                                  </m:ctrlPr>
                                </m:dPr>
                                <m:e>
                                  <m:r>
                                    <a:rPr lang="en-IN" sz="2000" i="1">
                                      <a:latin typeface="Cambria Math" panose="02040503050406030204" pitchFamily="18" charset="0"/>
                                    </a:rPr>
                                    <m:t>𝑥</m:t>
                                  </m:r>
                                  <m:r>
                                    <a:rPr lang="en-IN" sz="2000" i="0">
                                      <a:latin typeface="Cambria Math" panose="02040503050406030204" pitchFamily="18" charset="0"/>
                                    </a:rPr>
                                    <m:t>−</m:t>
                                  </m:r>
                                  <m:r>
                                    <a:rPr lang="en-IN" sz="2000" i="1">
                                      <a:latin typeface="Cambria Math" panose="02040503050406030204" pitchFamily="18" charset="0"/>
                                    </a:rPr>
                                    <m:t>𝜇</m:t>
                                  </m:r>
                                </m:e>
                              </m:d>
                            </m:e>
                            <m:sup>
                              <m:r>
                                <a:rPr lang="en-IN" sz="2000" i="0">
                                  <a:latin typeface="Cambria Math" panose="02040503050406030204" pitchFamily="18" charset="0"/>
                                </a:rPr>
                                <m:t>⊤</m:t>
                              </m:r>
                            </m:sup>
                          </m:sSup>
                          <m:sSup>
                            <m:sSupPr>
                              <m:ctrlPr>
                                <a:rPr lang="en-IN" sz="2000" i="1">
                                  <a:latin typeface="Cambria Math" panose="02040503050406030204" pitchFamily="18" charset="0"/>
                                </a:rPr>
                              </m:ctrlPr>
                            </m:sSupPr>
                            <m:e>
                              <m:r>
                                <a:rPr lang="en-IN" sz="2000" i="1">
                                  <a:latin typeface="Cambria Math" panose="02040503050406030204" pitchFamily="18" charset="0"/>
                                </a:rPr>
                                <m:t>𝛴</m:t>
                              </m:r>
                            </m:e>
                            <m:sup>
                              <m:r>
                                <a:rPr lang="en-IN" sz="2000" i="0">
                                  <a:latin typeface="Cambria Math" panose="02040503050406030204" pitchFamily="18" charset="0"/>
                                </a:rPr>
                                <m:t>−</m:t>
                              </m:r>
                              <m:r>
                                <a:rPr lang="en-IN" sz="2000" i="0">
                                  <a:latin typeface="Cambria Math" panose="02040503050406030204" pitchFamily="18" charset="0"/>
                                </a:rPr>
                                <m:t>1</m:t>
                              </m:r>
                            </m:sup>
                          </m:sSup>
                          <m:d>
                            <m:dPr>
                              <m:ctrlPr>
                                <a:rPr lang="en-IN" sz="2000" i="1">
                                  <a:latin typeface="Cambria Math" panose="02040503050406030204" pitchFamily="18" charset="0"/>
                                </a:rPr>
                              </m:ctrlPr>
                            </m:dPr>
                            <m:e>
                              <m:r>
                                <a:rPr lang="en-IN" sz="2000" i="1">
                                  <a:latin typeface="Cambria Math" panose="02040503050406030204" pitchFamily="18" charset="0"/>
                                </a:rPr>
                                <m:t>𝑥</m:t>
                              </m:r>
                              <m:r>
                                <a:rPr lang="en-IN" sz="2000" i="0">
                                  <a:latin typeface="Cambria Math" panose="02040503050406030204" pitchFamily="18" charset="0"/>
                                </a:rPr>
                                <m:t>−</m:t>
                              </m:r>
                              <m:r>
                                <a:rPr lang="en-IN" sz="2000" i="1">
                                  <a:latin typeface="Cambria Math" panose="02040503050406030204" pitchFamily="18" charset="0"/>
                                </a:rPr>
                                <m:t>𝜇</m:t>
                              </m:r>
                            </m:e>
                          </m:d>
                        </m:e>
                      </m:d>
                      <m:r>
                        <a:rPr lang="en-IN" sz="2000" i="0">
                          <a:latin typeface="Cambria Math" panose="02040503050406030204" pitchFamily="18" charset="0"/>
                        </a:rPr>
                        <m:t>, </m:t>
                      </m:r>
                    </m:oMath>
                  </m:oMathPara>
                </a14:m>
                <a:endParaRPr lang="en-US" sz="2000" i="0" dirty="0">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1771796D-8AC4-5EB7-FA95-225B76EA665B}"/>
                  </a:ext>
                </a:extLst>
              </p:cNvPr>
              <p:cNvSpPr txBox="1">
                <a:spLocks noRot="1" noChangeAspect="1" noMove="1" noResize="1" noEditPoints="1" noAdjustHandles="1" noChangeArrowheads="1" noChangeShapeType="1" noTextEdit="1"/>
              </p:cNvSpPr>
              <p:nvPr/>
            </p:nvSpPr>
            <p:spPr>
              <a:xfrm>
                <a:off x="2837482" y="1193865"/>
                <a:ext cx="6098582" cy="72334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A45F834-1404-F9D6-2F4D-7DA9086C493E}"/>
                  </a:ext>
                </a:extLst>
              </p:cNvPr>
              <p:cNvSpPr txBox="1"/>
              <p:nvPr/>
            </p:nvSpPr>
            <p:spPr>
              <a:xfrm>
                <a:off x="210404" y="1868555"/>
                <a:ext cx="11596049" cy="2211696"/>
              </a:xfrm>
              <a:prstGeom prst="rect">
                <a:avLst/>
              </a:prstGeom>
              <a:noFill/>
            </p:spPr>
            <p:txBody>
              <a:bodyPr wrap="square">
                <a:spAutoFit/>
              </a:bodyPr>
              <a:lstStyle/>
              <a:p>
                <a:pPr algn="just">
                  <a:lnSpc>
                    <a:spcPct val="150000"/>
                  </a:lnSpc>
                </a:pPr>
                <a14:m>
                  <m:oMathPara xmlns:m="http://schemas.openxmlformats.org/officeDocument/2006/math">
                    <m:oMathParaPr>
                      <m:jc m:val="left"/>
                    </m:oMathParaPr>
                    <m:oMath xmlns:m="http://schemas.openxmlformats.org/officeDocument/2006/math">
                      <m:r>
                        <m:rPr>
                          <m:nor/>
                        </m:rPr>
                        <a:rPr lang="en-US" sz="2000" smtClean="0"/>
                        <m:t>The</m:t>
                      </m:r>
                      <m:r>
                        <m:rPr>
                          <m:nor/>
                        </m:rPr>
                        <a:rPr lang="en-US" sz="2000" smtClean="0"/>
                        <m:t> </m:t>
                      </m:r>
                      <m:r>
                        <m:rPr>
                          <m:nor/>
                        </m:rPr>
                        <a:rPr lang="en-US" sz="2000" smtClean="0"/>
                        <m:t>bivariate</m:t>
                      </m:r>
                      <m:r>
                        <m:rPr>
                          <m:nor/>
                        </m:rPr>
                        <a:rPr lang="en-US" sz="2000" smtClean="0"/>
                        <m:t> </m:t>
                      </m:r>
                      <m:r>
                        <m:rPr>
                          <m:nor/>
                        </m:rPr>
                        <a:rPr lang="en-US" sz="2000" smtClean="0"/>
                        <m:t>normal</m:t>
                      </m:r>
                      <m:r>
                        <m:rPr>
                          <m:nor/>
                        </m:rPr>
                        <a:rPr lang="en-US" sz="2000" smtClean="0"/>
                        <m:t> </m:t>
                      </m:r>
                      <m:r>
                        <m:rPr>
                          <m:nor/>
                        </m:rPr>
                        <a:rPr lang="en-US" sz="2000" smtClean="0"/>
                        <m:t>distribution</m:t>
                      </m:r>
                      <m:r>
                        <m:rPr>
                          <m:nor/>
                        </m:rPr>
                        <a:rPr lang="en-US" sz="2000" smtClean="0"/>
                        <m:t> </m:t>
                      </m:r>
                      <m:r>
                        <m:rPr>
                          <m:nor/>
                        </m:rPr>
                        <a:rPr lang="en-US" sz="2000" smtClean="0"/>
                        <m:t>with</m:t>
                      </m:r>
                      <m:r>
                        <m:rPr>
                          <m:nor/>
                        </m:rPr>
                        <a:rPr lang="en-US" sz="2000" smtClean="0"/>
                        <m:t> </m:t>
                      </m:r>
                      <m:r>
                        <m:rPr>
                          <m:nor/>
                        </m:rPr>
                        <a:rPr lang="en-US" sz="2000" smtClean="0"/>
                        <m:t>mean</m:t>
                      </m:r>
                      <m:r>
                        <m:rPr>
                          <m:nor/>
                        </m:rPr>
                        <a:rPr lang="en-US" sz="2000" smtClean="0"/>
                        <m:t> </m:t>
                      </m:r>
                      <m:r>
                        <m:rPr>
                          <m:nor/>
                        </m:rPr>
                        <a:rPr lang="en-US" sz="2000" smtClean="0"/>
                        <m:t>vector</m:t>
                      </m:r>
                      <m:r>
                        <m:rPr>
                          <m:nor/>
                        </m:rPr>
                        <a:rPr lang="en-US" sz="2000" smtClean="0"/>
                        <m:t> </m:t>
                      </m:r>
                      <m:r>
                        <m:rPr>
                          <m:nor/>
                        </m:rPr>
                        <a:rPr lang="en-US" sz="2000" smtClean="0"/>
                        <m:t>and</m:t>
                      </m:r>
                      <m:r>
                        <m:rPr>
                          <m:nor/>
                        </m:rPr>
                        <a:rPr lang="en-US" sz="2000" smtClean="0"/>
                        <m:t> </m:t>
                      </m:r>
                      <m:r>
                        <m:rPr>
                          <m:nor/>
                        </m:rPr>
                        <a:rPr lang="en-US" sz="2000" smtClean="0"/>
                        <m:t>covariance</m:t>
                      </m:r>
                      <m:r>
                        <m:rPr>
                          <m:nor/>
                        </m:rPr>
                        <a:rPr lang="en-US" sz="2000" smtClean="0"/>
                        <m:t> </m:t>
                      </m:r>
                      <m:r>
                        <m:rPr>
                          <m:nor/>
                        </m:rPr>
                        <a:rPr lang="en-US" sz="2000" smtClean="0"/>
                        <m:t>matrix</m:t>
                      </m:r>
                      <m:r>
                        <m:rPr>
                          <m:nor/>
                        </m:rPr>
                        <a:rPr lang="en-US" sz="2000" smtClean="0"/>
                        <m:t> </m:t>
                      </m:r>
                      <m:r>
                        <m:rPr>
                          <m:nor/>
                        </m:rPr>
                        <a:rPr lang="en-US" sz="2000" smtClean="0"/>
                        <m:t>is</m:t>
                      </m:r>
                      <m:r>
                        <a:rPr lang="en-US" sz="2000" b="0" i="1" smtClean="0">
                          <a:latin typeface="Cambria Math" panose="02040503050406030204" pitchFamily="18" charset="0"/>
                        </a:rPr>
                        <m:t>:  </m:t>
                      </m:r>
                    </m:oMath>
                  </m:oMathPara>
                </a14:m>
                <a:endParaRPr lang="en-US" sz="2000" b="0" i="1" dirty="0">
                  <a:latin typeface="Cambria Math" panose="02040503050406030204" pitchFamily="18" charset="0"/>
                </a:endParaRPr>
              </a:p>
              <a:p>
                <a:pPr algn="just">
                  <a:lnSpc>
                    <a:spcPct val="150000"/>
                  </a:lnSpc>
                </a:pPr>
                <a:r>
                  <a:rPr lang="en-US" sz="2000" dirty="0"/>
                  <a:t>                                                     </a:t>
                </a:r>
                <a14:m>
                  <m:oMath xmlns:m="http://schemas.openxmlformats.org/officeDocument/2006/math">
                    <m:r>
                      <a:rPr lang="en-US" sz="2000" i="1">
                        <a:latin typeface="Cambria Math" panose="02040503050406030204" pitchFamily="18" charset="0"/>
                      </a:rPr>
                      <m:t>𝜇</m:t>
                    </m:r>
                    <m:r>
                      <a:rPr lang="en-US" sz="2000" i="1">
                        <a:latin typeface="Cambria Math" panose="02040503050406030204" pitchFamily="18" charset="0"/>
                      </a:rPr>
                      <m:t>′</m:t>
                    </m:r>
                    <m:r>
                      <a:rPr lang="en-US" sz="2000">
                        <a:latin typeface="Cambria Math" panose="02040503050406030204" pitchFamily="18" charset="0"/>
                      </a:rPr>
                      <m:t>=</m:t>
                    </m:r>
                    <m:d>
                      <m:dPr>
                        <m:ctrlPr>
                          <a:rPr lang="en-IN" sz="2000" i="1">
                            <a:latin typeface="Cambria Math" panose="02040503050406030204" pitchFamily="18" charset="0"/>
                          </a:rPr>
                        </m:ctrlPr>
                      </m:dPr>
                      <m:e>
                        <m:sSub>
                          <m:sSubPr>
                            <m:ctrlPr>
                              <a:rPr lang="en-IN" sz="2000" i="1">
                                <a:latin typeface="Cambria Math" panose="02040503050406030204" pitchFamily="18" charset="0"/>
                              </a:rPr>
                            </m:ctrlPr>
                          </m:sSubPr>
                          <m:e>
                            <m:r>
                              <a:rPr lang="en-US" sz="2000" i="1">
                                <a:latin typeface="Cambria Math" panose="02040503050406030204" pitchFamily="18" charset="0"/>
                              </a:rPr>
                              <m:t>𝜇</m:t>
                            </m:r>
                          </m:e>
                          <m:sub>
                            <m:r>
                              <a:rPr lang="en-US" sz="2000" i="1">
                                <a:latin typeface="Cambria Math" panose="02040503050406030204" pitchFamily="18" charset="0"/>
                              </a:rPr>
                              <m:t>1</m:t>
                            </m:r>
                          </m:sub>
                        </m:sSub>
                        <m:r>
                          <a:rPr lang="en-US" sz="2000">
                            <a:latin typeface="Cambria Math" panose="02040503050406030204" pitchFamily="18" charset="0"/>
                          </a:rPr>
                          <m:t>,</m:t>
                        </m:r>
                        <m:sSub>
                          <m:sSubPr>
                            <m:ctrlPr>
                              <a:rPr lang="en-IN" sz="2000" i="1">
                                <a:latin typeface="Cambria Math" panose="02040503050406030204" pitchFamily="18" charset="0"/>
                              </a:rPr>
                            </m:ctrlPr>
                          </m:sSubPr>
                          <m:e>
                            <m:r>
                              <a:rPr lang="en-US" sz="2000" i="1">
                                <a:latin typeface="Cambria Math" panose="02040503050406030204" pitchFamily="18" charset="0"/>
                              </a:rPr>
                              <m:t>𝜇</m:t>
                            </m:r>
                          </m:e>
                          <m:sub>
                            <m:r>
                              <a:rPr lang="en-US" sz="2000" i="1">
                                <a:latin typeface="Cambria Math" panose="02040503050406030204" pitchFamily="18" charset="0"/>
                              </a:rPr>
                              <m:t>2</m:t>
                            </m:r>
                          </m:sub>
                        </m:sSub>
                      </m:e>
                    </m:d>
                    <m:r>
                      <a:rPr lang="en-US" sz="2000">
                        <a:latin typeface="Cambria Math" panose="02040503050406030204" pitchFamily="18" charset="0"/>
                      </a:rPr>
                      <m:t>,</m:t>
                    </m:r>
                    <m:r>
                      <a:rPr lang="en-US" sz="2000" i="1">
                        <a:latin typeface="Cambria Math" panose="02040503050406030204" pitchFamily="18" charset="0"/>
                      </a:rPr>
                      <m:t> </m:t>
                    </m:r>
                    <m:r>
                      <a:rPr lang="en-US" sz="2000" i="1">
                        <a:latin typeface="Cambria Math" panose="02040503050406030204" pitchFamily="18" charset="0"/>
                      </a:rPr>
                      <m:t>𝛴</m:t>
                    </m:r>
                    <m:r>
                      <a:rPr lang="en-US" sz="2000">
                        <a:latin typeface="Cambria Math" panose="02040503050406030204" pitchFamily="18" charset="0"/>
                      </a:rPr>
                      <m:t>=</m:t>
                    </m:r>
                    <m:d>
                      <m:dPr>
                        <m:begChr m:val="["/>
                        <m:endChr m:val="]"/>
                        <m:ctrlPr>
                          <a:rPr lang="en-IN" sz="2000" i="1">
                            <a:latin typeface="Cambria Math" panose="02040503050406030204" pitchFamily="18" charset="0"/>
                          </a:rPr>
                        </m:ctrlPr>
                      </m:dPr>
                      <m:e>
                        <m:m>
                          <m:mPr>
                            <m:plcHide m:val="on"/>
                            <m:mcs>
                              <m:mc>
                                <m:mcPr>
                                  <m:count m:val="2"/>
                                  <m:mcJc m:val="center"/>
                                </m:mcPr>
                              </m:mc>
                            </m:mcs>
                            <m:ctrlPr>
                              <a:rPr lang="en-IN" sz="2000" i="1">
                                <a:latin typeface="Cambria Math" panose="02040503050406030204" pitchFamily="18" charset="0"/>
                              </a:rPr>
                            </m:ctrlPr>
                          </m:mPr>
                          <m:mr>
                            <m:e>
                              <m:sSub>
                                <m:sSubPr>
                                  <m:ctrlPr>
                                    <a:rPr lang="en-IN" sz="2000" i="1">
                                      <a:latin typeface="Cambria Math" panose="02040503050406030204" pitchFamily="18" charset="0"/>
                                    </a:rPr>
                                  </m:ctrlPr>
                                </m:sSubPr>
                                <m:e>
                                  <m:r>
                                    <a:rPr lang="en-US" sz="2000" i="1">
                                      <a:latin typeface="Cambria Math" panose="02040503050406030204" pitchFamily="18" charset="0"/>
                                    </a:rPr>
                                    <m:t>𝜎</m:t>
                                  </m:r>
                                </m:e>
                                <m:sub>
                                  <m:r>
                                    <a:rPr lang="en-US" sz="2000" i="1">
                                      <a:latin typeface="Cambria Math" panose="02040503050406030204" pitchFamily="18" charset="0"/>
                                    </a:rPr>
                                    <m:t>11</m:t>
                                  </m:r>
                                </m:sub>
                              </m:sSub>
                            </m:e>
                            <m:e>
                              <m:sSub>
                                <m:sSubPr>
                                  <m:ctrlPr>
                                    <a:rPr lang="en-IN" sz="2000" i="1">
                                      <a:latin typeface="Cambria Math" panose="02040503050406030204" pitchFamily="18" charset="0"/>
                                    </a:rPr>
                                  </m:ctrlPr>
                                </m:sSubPr>
                                <m:e>
                                  <m:r>
                                    <a:rPr lang="en-US" sz="2000" i="1">
                                      <a:latin typeface="Cambria Math" panose="02040503050406030204" pitchFamily="18" charset="0"/>
                                    </a:rPr>
                                    <m:t>𝜎</m:t>
                                  </m:r>
                                </m:e>
                                <m:sub>
                                  <m:r>
                                    <a:rPr lang="en-US" sz="2000" i="1">
                                      <a:latin typeface="Cambria Math" panose="02040503050406030204" pitchFamily="18" charset="0"/>
                                    </a:rPr>
                                    <m:t>12</m:t>
                                  </m:r>
                                </m:sub>
                              </m:sSub>
                            </m:e>
                          </m:mr>
                          <m:mr>
                            <m:e>
                              <m:sSub>
                                <m:sSubPr>
                                  <m:ctrlPr>
                                    <a:rPr lang="en-IN" sz="2000" i="1">
                                      <a:latin typeface="Cambria Math" panose="02040503050406030204" pitchFamily="18" charset="0"/>
                                    </a:rPr>
                                  </m:ctrlPr>
                                </m:sSubPr>
                                <m:e>
                                  <m:r>
                                    <a:rPr lang="en-US" sz="2000" i="1">
                                      <a:latin typeface="Cambria Math" panose="02040503050406030204" pitchFamily="18" charset="0"/>
                                    </a:rPr>
                                    <m:t>𝜎</m:t>
                                  </m:r>
                                </m:e>
                                <m:sub>
                                  <m:r>
                                    <a:rPr lang="en-US" sz="2000" i="1">
                                      <a:latin typeface="Cambria Math" panose="02040503050406030204" pitchFamily="18" charset="0"/>
                                    </a:rPr>
                                    <m:t>12</m:t>
                                  </m:r>
                                </m:sub>
                              </m:sSub>
                            </m:e>
                            <m:e>
                              <m:sSub>
                                <m:sSubPr>
                                  <m:ctrlPr>
                                    <a:rPr lang="en-IN" sz="2000" i="1">
                                      <a:latin typeface="Cambria Math" panose="02040503050406030204" pitchFamily="18" charset="0"/>
                                    </a:rPr>
                                  </m:ctrlPr>
                                </m:sSubPr>
                                <m:e>
                                  <m:r>
                                    <a:rPr lang="en-US" sz="2000" i="1">
                                      <a:latin typeface="Cambria Math" panose="02040503050406030204" pitchFamily="18" charset="0"/>
                                    </a:rPr>
                                    <m:t>𝜎</m:t>
                                  </m:r>
                                </m:e>
                                <m:sub>
                                  <m:r>
                                    <a:rPr lang="en-US" sz="2000" i="1">
                                      <a:latin typeface="Cambria Math" panose="02040503050406030204" pitchFamily="18" charset="0"/>
                                    </a:rPr>
                                    <m:t>22</m:t>
                                  </m:r>
                                </m:sub>
                              </m:sSub>
                            </m:e>
                          </m:mr>
                        </m:m>
                      </m:e>
                    </m:d>
                    <m:r>
                      <a:rPr lang="en-US" sz="2000">
                        <a:latin typeface="Cambria Math" panose="02040503050406030204" pitchFamily="18" charset="0"/>
                      </a:rPr>
                      <m:t>,</m:t>
                    </m:r>
                    <m:r>
                      <a:rPr lang="en-US" sz="2000" i="1">
                        <a:latin typeface="Cambria Math" panose="02040503050406030204" pitchFamily="18" charset="0"/>
                      </a:rPr>
                      <m:t> </m:t>
                    </m:r>
                    <m:r>
                      <a:rPr lang="en-IN" sz="2000" i="1" smtClean="0">
                        <a:latin typeface="Cambria Math" panose="02040503050406030204" pitchFamily="18" charset="0"/>
                      </a:rPr>
                      <m:t>𝑥</m:t>
                    </m:r>
                    <m:r>
                      <a:rPr lang="en-IN" sz="2000" i="0">
                        <a:latin typeface="Cambria Math" panose="02040503050406030204" pitchFamily="18" charset="0"/>
                      </a:rPr>
                      <m:t>=</m:t>
                    </m:r>
                    <m:d>
                      <m:dPr>
                        <m:ctrlPr>
                          <a:rPr lang="en-IN" sz="2000" i="1">
                            <a:latin typeface="Cambria Math" panose="02040503050406030204" pitchFamily="18" charset="0"/>
                          </a:rPr>
                        </m:ctrlPr>
                      </m:dPr>
                      <m:e>
                        <m:m>
                          <m:mPr>
                            <m:plcHide m:val="on"/>
                            <m:mcs>
                              <m:mc>
                                <m:mcPr>
                                  <m:count m:val="1"/>
                                  <m:mcJc m:val="center"/>
                                </m:mcPr>
                              </m:mc>
                            </m:mcs>
                            <m:ctrlPr>
                              <a:rPr lang="en-IN" sz="2000" i="1">
                                <a:latin typeface="Cambria Math" panose="02040503050406030204" pitchFamily="18" charset="0"/>
                              </a:rPr>
                            </m:ctrlPr>
                          </m:mPr>
                          <m:mr>
                            <m:e>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i="0">
                                      <a:latin typeface="Cambria Math" panose="02040503050406030204" pitchFamily="18" charset="0"/>
                                    </a:rPr>
                                    <m:t>1</m:t>
                                  </m:r>
                                </m:sub>
                              </m:sSub>
                            </m:e>
                          </m:mr>
                          <m:mr>
                            <m:e>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i="0">
                                      <a:latin typeface="Cambria Math" panose="02040503050406030204" pitchFamily="18" charset="0"/>
                                    </a:rPr>
                                    <m:t>2</m:t>
                                  </m:r>
                                </m:sub>
                              </m:sSub>
                            </m:e>
                          </m:mr>
                        </m:m>
                      </m:e>
                    </m:d>
                  </m:oMath>
                </a14:m>
                <a:endParaRPr lang="en-IN" sz="2000" dirty="0"/>
              </a:p>
              <a:p>
                <a:pPr algn="just">
                  <a:lnSpc>
                    <a:spcPct val="150000"/>
                  </a:lnSpc>
                </a:pPr>
                <a:r>
                  <a:rPr lang="en-US" sz="2000" dirty="0"/>
                  <a:t>Where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𝜎</m:t>
                        </m:r>
                      </m:e>
                      <m:sub>
                        <m:r>
                          <a:rPr lang="en-US" sz="2000" b="0" i="1" smtClean="0">
                            <a:latin typeface="Cambria Math" panose="02040503050406030204" pitchFamily="18" charset="0"/>
                          </a:rPr>
                          <m:t>12</m:t>
                        </m:r>
                      </m:sub>
                    </m:sSub>
                    <m:r>
                      <a:rPr lang="en-US" sz="2000" b="0" i="1" smtClean="0">
                        <a:latin typeface="Cambria Math" panose="02040503050406030204" pitchFamily="18" charset="0"/>
                      </a:rPr>
                      <m:t>= </m:t>
                    </m:r>
                    <m:rad>
                      <m:radPr>
                        <m:degHide m:val="on"/>
                        <m:ctrlPr>
                          <a:rPr lang="en-US" sz="2000" b="0" i="1" smtClean="0">
                            <a:latin typeface="Cambria Math" panose="02040503050406030204" pitchFamily="18" charset="0"/>
                          </a:rPr>
                        </m:ctrlPr>
                      </m:radPr>
                      <m:deg/>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𝜎</m:t>
                            </m:r>
                          </m:e>
                          <m:sub>
                            <m:r>
                              <a:rPr lang="en-US" sz="2000" b="0" i="1" smtClean="0">
                                <a:latin typeface="Cambria Math" panose="02040503050406030204" pitchFamily="18" charset="0"/>
                              </a:rPr>
                              <m:t>11</m:t>
                            </m:r>
                          </m:sub>
                        </m:sSub>
                        <m:r>
                          <a:rPr lang="en-US" sz="2000" b="0" i="1" smtClean="0">
                            <a:latin typeface="Cambria Math" panose="02040503050406030204" pitchFamily="18" charset="0"/>
                          </a:rPr>
                          <m:t> </m:t>
                        </m:r>
                      </m:e>
                    </m:rad>
                    <m:rad>
                      <m:radPr>
                        <m:degHide m:val="on"/>
                        <m:ctrlPr>
                          <a:rPr lang="en-US" sz="2000" b="0" i="1" smtClean="0">
                            <a:latin typeface="Cambria Math" panose="02040503050406030204" pitchFamily="18" charset="0"/>
                          </a:rPr>
                        </m:ctrlPr>
                      </m:radPr>
                      <m:deg/>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𝜎</m:t>
                            </m:r>
                          </m:e>
                          <m:sub>
                            <m:r>
                              <a:rPr lang="en-US" sz="2000" b="0" i="1" smtClean="0">
                                <a:latin typeface="Cambria Math" panose="02040503050406030204" pitchFamily="18" charset="0"/>
                              </a:rPr>
                              <m:t>22</m:t>
                            </m:r>
                          </m:sub>
                        </m:sSub>
                      </m:e>
                    </m:rad>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𝜌</m:t>
                        </m:r>
                      </m:e>
                      <m:sub>
                        <m:r>
                          <a:rPr lang="en-US" sz="2000" b="0" i="1" smtClean="0">
                            <a:latin typeface="Cambria Math" panose="02040503050406030204" pitchFamily="18" charset="0"/>
                          </a:rPr>
                          <m:t>12</m:t>
                        </m:r>
                      </m:sub>
                    </m:sSub>
                  </m:oMath>
                </a14:m>
                <a:r>
                  <a:rPr lang="en-US" sz="2000" dirty="0"/>
                  <a:t>, Simplify the expression of the density function and get the expression in terms of scalar quantities only.</a:t>
                </a:r>
                <a:endParaRPr lang="en-IN" sz="2000" dirty="0"/>
              </a:p>
            </p:txBody>
          </p:sp>
        </mc:Choice>
        <mc:Fallback xmlns="">
          <p:sp>
            <p:nvSpPr>
              <p:cNvPr id="8" name="TextBox 7">
                <a:extLst>
                  <a:ext uri="{FF2B5EF4-FFF2-40B4-BE49-F238E27FC236}">
                    <a16:creationId xmlns:a16="http://schemas.microsoft.com/office/drawing/2014/main" id="{6A45F834-1404-F9D6-2F4D-7DA9086C493E}"/>
                  </a:ext>
                </a:extLst>
              </p:cNvPr>
              <p:cNvSpPr txBox="1">
                <a:spLocks noRot="1" noChangeAspect="1" noMove="1" noResize="1" noEditPoints="1" noAdjustHandles="1" noChangeArrowheads="1" noChangeShapeType="1" noTextEdit="1"/>
              </p:cNvSpPr>
              <p:nvPr/>
            </p:nvSpPr>
            <p:spPr>
              <a:xfrm>
                <a:off x="210404" y="1868555"/>
                <a:ext cx="11596049" cy="2211696"/>
              </a:xfrm>
              <a:prstGeom prst="rect">
                <a:avLst/>
              </a:prstGeom>
              <a:blipFill>
                <a:blip r:embed="rId5"/>
                <a:stretch>
                  <a:fillRect l="-578" r="-526" b="-4144"/>
                </a:stretch>
              </a:blipFill>
            </p:spPr>
            <p:txBody>
              <a:bodyPr/>
              <a:lstStyle/>
              <a:p>
                <a:r>
                  <a:rPr lang="en-IN">
                    <a:noFill/>
                  </a:rPr>
                  <a:t> </a:t>
                </a:r>
              </a:p>
            </p:txBody>
          </p:sp>
        </mc:Fallback>
      </mc:AlternateContent>
      <p:sp>
        <p:nvSpPr>
          <p:cNvPr id="10" name="TextBox 9">
            <a:extLst>
              <a:ext uri="{FF2B5EF4-FFF2-40B4-BE49-F238E27FC236}">
                <a16:creationId xmlns:a16="http://schemas.microsoft.com/office/drawing/2014/main" id="{D0B19A05-0B8A-60A5-603F-DC5A2E91F9AB}"/>
              </a:ext>
            </a:extLst>
          </p:cNvPr>
          <p:cNvSpPr txBox="1"/>
          <p:nvPr/>
        </p:nvSpPr>
        <p:spPr>
          <a:xfrm>
            <a:off x="7970083" y="4242281"/>
            <a:ext cx="1281034" cy="369332"/>
          </a:xfrm>
          <a:prstGeom prst="rect">
            <a:avLst/>
          </a:prstGeom>
          <a:noFill/>
        </p:spPr>
        <p:txBody>
          <a:bodyPr wrap="square" rtlCol="0">
            <a:spAutoFit/>
          </a:bodyPr>
          <a:lstStyle/>
          <a:p>
            <a:r>
              <a:rPr lang="en-US" b="1" dirty="0"/>
              <a:t>Julia Code:</a:t>
            </a:r>
            <a:endParaRPr lang="en-IN" b="1" dirty="0"/>
          </a:p>
        </p:txBody>
      </p:sp>
      <p:pic>
        <p:nvPicPr>
          <p:cNvPr id="12" name="Picture 11">
            <a:extLst>
              <a:ext uri="{FF2B5EF4-FFF2-40B4-BE49-F238E27FC236}">
                <a16:creationId xmlns:a16="http://schemas.microsoft.com/office/drawing/2014/main" id="{994F28AB-228A-7D82-0BA1-F0422467017C}"/>
              </a:ext>
            </a:extLst>
          </p:cNvPr>
          <p:cNvPicPr>
            <a:picLocks noChangeAspect="1"/>
          </p:cNvPicPr>
          <p:nvPr/>
        </p:nvPicPr>
        <p:blipFill>
          <a:blip r:embed="rId6"/>
          <a:stretch>
            <a:fillRect/>
          </a:stretch>
        </p:blipFill>
        <p:spPr>
          <a:xfrm>
            <a:off x="208998" y="4426947"/>
            <a:ext cx="6848664" cy="1847337"/>
          </a:xfrm>
          <a:prstGeom prst="rect">
            <a:avLst/>
          </a:prstGeom>
        </p:spPr>
      </p:pic>
      <p:sp>
        <p:nvSpPr>
          <p:cNvPr id="13" name="TextBox 12">
            <a:extLst>
              <a:ext uri="{FF2B5EF4-FFF2-40B4-BE49-F238E27FC236}">
                <a16:creationId xmlns:a16="http://schemas.microsoft.com/office/drawing/2014/main" id="{3E4D18A2-C549-E50F-6AD0-06906D912D7F}"/>
              </a:ext>
            </a:extLst>
          </p:cNvPr>
          <p:cNvSpPr txBox="1"/>
          <p:nvPr/>
        </p:nvSpPr>
        <p:spPr>
          <a:xfrm>
            <a:off x="331808" y="4139681"/>
            <a:ext cx="1162373" cy="369332"/>
          </a:xfrm>
          <a:prstGeom prst="rect">
            <a:avLst/>
          </a:prstGeom>
          <a:noFill/>
        </p:spPr>
        <p:txBody>
          <a:bodyPr wrap="square" rtlCol="0">
            <a:spAutoFit/>
          </a:bodyPr>
          <a:lstStyle/>
          <a:p>
            <a:r>
              <a:rPr lang="en-US" b="1" dirty="0"/>
              <a:t>R Code:</a:t>
            </a:r>
            <a:endParaRPr lang="en-IN" b="1" dirty="0"/>
          </a:p>
        </p:txBody>
      </p:sp>
      <p:pic>
        <p:nvPicPr>
          <p:cNvPr id="15" name="Picture 14">
            <a:extLst>
              <a:ext uri="{FF2B5EF4-FFF2-40B4-BE49-F238E27FC236}">
                <a16:creationId xmlns:a16="http://schemas.microsoft.com/office/drawing/2014/main" id="{4693C411-DCB3-0885-9AA8-227B4FC17752}"/>
              </a:ext>
            </a:extLst>
          </p:cNvPr>
          <p:cNvPicPr>
            <a:picLocks noChangeAspect="1"/>
          </p:cNvPicPr>
          <p:nvPr/>
        </p:nvPicPr>
        <p:blipFill>
          <a:blip r:embed="rId7"/>
          <a:stretch>
            <a:fillRect/>
          </a:stretch>
        </p:blipFill>
        <p:spPr>
          <a:xfrm>
            <a:off x="7450803" y="4665812"/>
            <a:ext cx="3496163" cy="1533739"/>
          </a:xfrm>
          <a:prstGeom prst="rect">
            <a:avLst/>
          </a:prstGeom>
        </p:spPr>
      </p:pic>
    </p:spTree>
    <p:extLst>
      <p:ext uri="{BB962C8B-B14F-4D97-AF65-F5344CB8AC3E}">
        <p14:creationId xmlns:p14="http://schemas.microsoft.com/office/powerpoint/2010/main" val="863450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38106-B62E-143E-14D1-94B914F826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27B9C9-3780-73EE-E524-5CD7ABE69C9F}"/>
              </a:ext>
            </a:extLst>
          </p:cNvPr>
          <p:cNvSpPr>
            <a:spLocks noGrp="1"/>
          </p:cNvSpPr>
          <p:nvPr>
            <p:ph type="sldNum" sz="quarter" idx="12"/>
          </p:nvPr>
        </p:nvSpPr>
        <p:spPr/>
        <p:txBody>
          <a:bodyPr/>
          <a:lstStyle/>
          <a:p>
            <a:fld id="{8EC77227-B7F4-4800-97BE-1DE2687871B5}" type="slidenum">
              <a:rPr lang="en-IN" smtClean="0"/>
              <a:t>14</a:t>
            </a:fld>
            <a:endParaRPr lang="en-IN" dirty="0"/>
          </a:p>
        </p:txBody>
      </p:sp>
      <p:pic>
        <p:nvPicPr>
          <p:cNvPr id="3" name="Google Shape;90;p1">
            <a:extLst>
              <a:ext uri="{FF2B5EF4-FFF2-40B4-BE49-F238E27FC236}">
                <a16:creationId xmlns:a16="http://schemas.microsoft.com/office/drawing/2014/main" id="{76EDF475-C0D3-A517-D57B-E05052B844E2}"/>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9BF2C40D-7920-E060-CFA1-0706D3C99258}"/>
              </a:ext>
            </a:extLst>
          </p:cNvPr>
          <p:cNvSpPr txBox="1"/>
          <p:nvPr/>
        </p:nvSpPr>
        <p:spPr>
          <a:xfrm>
            <a:off x="213100" y="138920"/>
            <a:ext cx="9953788"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Julia's deep learning, machine learning, and statistical computing ecosystem</a:t>
            </a:r>
            <a:endParaRPr lang="en-IN" sz="2400" b="1" dirty="0">
              <a:solidFill>
                <a:srgbClr val="FF0000"/>
              </a:solidFill>
            </a:endParaRPr>
          </a:p>
        </p:txBody>
      </p:sp>
      <p:sp>
        <p:nvSpPr>
          <p:cNvPr id="6" name="TextBox 5">
            <a:extLst>
              <a:ext uri="{FF2B5EF4-FFF2-40B4-BE49-F238E27FC236}">
                <a16:creationId xmlns:a16="http://schemas.microsoft.com/office/drawing/2014/main" id="{581FE095-32A5-30A8-D164-4171CD96F1CB}"/>
              </a:ext>
            </a:extLst>
          </p:cNvPr>
          <p:cNvSpPr txBox="1"/>
          <p:nvPr/>
        </p:nvSpPr>
        <p:spPr>
          <a:xfrm>
            <a:off x="213100" y="600585"/>
            <a:ext cx="10867726" cy="1711366"/>
          </a:xfrm>
          <a:prstGeom prst="rect">
            <a:avLst/>
          </a:prstGeom>
          <a:noFill/>
        </p:spPr>
        <p:txBody>
          <a:bodyPr wrap="square">
            <a:spAutoFit/>
          </a:bodyPr>
          <a:lstStyle/>
          <a:p>
            <a:pPr algn="just">
              <a:lnSpc>
                <a:spcPct val="150000"/>
              </a:lnSpc>
            </a:pPr>
            <a:r>
              <a:rPr lang="en-US" dirty="0"/>
              <a:t> An overview of Julia’s ecosystem for deep learning, machine learning, and statistical computing is presented, highlighting community-driven packages for data manipulation, statistical modelling, scientific machine learning, and visualization. The following table provides a concise summary of major Julia communities, representative packages, and their primary application areas relevant to statistical computing and data science.</a:t>
            </a:r>
          </a:p>
        </p:txBody>
      </p:sp>
      <p:graphicFrame>
        <p:nvGraphicFramePr>
          <p:cNvPr id="7" name="Table 6">
            <a:extLst>
              <a:ext uri="{FF2B5EF4-FFF2-40B4-BE49-F238E27FC236}">
                <a16:creationId xmlns:a16="http://schemas.microsoft.com/office/drawing/2014/main" id="{270D17D6-AE58-228D-596C-1A83FDF19D96}"/>
              </a:ext>
            </a:extLst>
          </p:cNvPr>
          <p:cNvGraphicFramePr>
            <a:graphicFrameLocks noGrp="1"/>
          </p:cNvGraphicFramePr>
          <p:nvPr>
            <p:extLst>
              <p:ext uri="{D42A27DB-BD31-4B8C-83A1-F6EECF244321}">
                <p14:modId xmlns:p14="http://schemas.microsoft.com/office/powerpoint/2010/main" val="3291724187"/>
              </p:ext>
            </p:extLst>
          </p:nvPr>
        </p:nvGraphicFramePr>
        <p:xfrm>
          <a:off x="213099" y="2494508"/>
          <a:ext cx="10697707" cy="4044404"/>
        </p:xfrm>
        <a:graphic>
          <a:graphicData uri="http://schemas.openxmlformats.org/drawingml/2006/table">
            <a:tbl>
              <a:tblPr firstRow="1" bandRow="1" bandCol="1">
                <a:tableStyleId>{EB344D84-9AFB-497E-A393-DC336BA19D2E}</a:tableStyleId>
              </a:tblPr>
              <a:tblGrid>
                <a:gridCol w="865854">
                  <a:extLst>
                    <a:ext uri="{9D8B030D-6E8A-4147-A177-3AD203B41FA5}">
                      <a16:colId xmlns:a16="http://schemas.microsoft.com/office/drawing/2014/main" val="1887161558"/>
                    </a:ext>
                  </a:extLst>
                </a:gridCol>
                <a:gridCol w="1781217">
                  <a:extLst>
                    <a:ext uri="{9D8B030D-6E8A-4147-A177-3AD203B41FA5}">
                      <a16:colId xmlns:a16="http://schemas.microsoft.com/office/drawing/2014/main" val="3812708395"/>
                    </a:ext>
                  </a:extLst>
                </a:gridCol>
                <a:gridCol w="4320497">
                  <a:extLst>
                    <a:ext uri="{9D8B030D-6E8A-4147-A177-3AD203B41FA5}">
                      <a16:colId xmlns:a16="http://schemas.microsoft.com/office/drawing/2014/main" val="1458516075"/>
                    </a:ext>
                  </a:extLst>
                </a:gridCol>
                <a:gridCol w="3730139">
                  <a:extLst>
                    <a:ext uri="{9D8B030D-6E8A-4147-A177-3AD203B41FA5}">
                      <a16:colId xmlns:a16="http://schemas.microsoft.com/office/drawing/2014/main" val="3011275443"/>
                    </a:ext>
                  </a:extLst>
                </a:gridCol>
              </a:tblGrid>
              <a:tr h="577772">
                <a:tc>
                  <a:txBody>
                    <a:bodyPr/>
                    <a:lstStyle/>
                    <a:p>
                      <a:pPr algn="ctr">
                        <a:spcBef>
                          <a:spcPts val="180"/>
                        </a:spcBef>
                        <a:spcAft>
                          <a:spcPts val="180"/>
                        </a:spcAft>
                        <a:buNone/>
                      </a:pPr>
                      <a:r>
                        <a:rPr lang="en-US" sz="1800" cap="all" dirty="0">
                          <a:effectLst/>
                        </a:rPr>
                        <a:t>Sr. No.</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cap="all">
                          <a:effectLst/>
                        </a:rPr>
                        <a:t>Community</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cap="all">
                          <a:effectLst/>
                        </a:rPr>
                        <a:t>Representative Packages</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cap="all" dirty="0">
                          <a:effectLst/>
                        </a:rPr>
                        <a:t>Primary Applications</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1226262224"/>
                  </a:ext>
                </a:extLst>
              </a:tr>
              <a:tr h="577772">
                <a:tc>
                  <a:txBody>
                    <a:bodyPr/>
                    <a:lstStyle/>
                    <a:p>
                      <a:pPr algn="ctr">
                        <a:spcBef>
                          <a:spcPts val="180"/>
                        </a:spcBef>
                        <a:spcAft>
                          <a:spcPts val="180"/>
                        </a:spcAft>
                        <a:buNone/>
                      </a:pPr>
                      <a:r>
                        <a:rPr lang="en-US" sz="1800">
                          <a:effectLst/>
                        </a:rPr>
                        <a:t>1</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dirty="0" err="1">
                          <a:effectLst/>
                        </a:rPr>
                        <a:t>JuliaStats</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StatsBase.jl, MultivariateStats.jl, HypothesisTests.jl</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Statistical modeling, inference, and machine learning</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1778262100"/>
                  </a:ext>
                </a:extLst>
              </a:tr>
              <a:tr h="577772">
                <a:tc>
                  <a:txBody>
                    <a:bodyPr/>
                    <a:lstStyle/>
                    <a:p>
                      <a:pPr algn="ctr">
                        <a:spcBef>
                          <a:spcPts val="180"/>
                        </a:spcBef>
                        <a:spcAft>
                          <a:spcPts val="180"/>
                        </a:spcAft>
                        <a:buNone/>
                      </a:pPr>
                      <a:r>
                        <a:rPr lang="en-US" sz="1800">
                          <a:effectLst/>
                        </a:rPr>
                        <a:t>2</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dirty="0" err="1">
                          <a:effectLst/>
                        </a:rPr>
                        <a:t>JuliaImages</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dirty="0" err="1">
                          <a:effectLst/>
                        </a:rPr>
                        <a:t>ImageTransformations.jl</a:t>
                      </a:r>
                      <a:r>
                        <a:rPr lang="en-US" sz="1800" dirty="0">
                          <a:effectLst/>
                        </a:rPr>
                        <a:t>, </a:t>
                      </a:r>
                      <a:r>
                        <a:rPr lang="en-US" sz="1800" dirty="0" err="1">
                          <a:effectLst/>
                        </a:rPr>
                        <a:t>Images.jl</a:t>
                      </a:r>
                      <a:r>
                        <a:rPr lang="en-US" sz="1800" dirty="0">
                          <a:effectLst/>
                        </a:rPr>
                        <a:t>, </a:t>
                      </a:r>
                      <a:r>
                        <a:rPr lang="en-US" sz="1800" dirty="0" err="1">
                          <a:effectLst/>
                        </a:rPr>
                        <a:t>ImageSegmentation.jl</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Image analysis and image processing</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2574646592"/>
                  </a:ext>
                </a:extLst>
              </a:tr>
              <a:tr h="577772">
                <a:tc>
                  <a:txBody>
                    <a:bodyPr/>
                    <a:lstStyle/>
                    <a:p>
                      <a:pPr algn="ctr">
                        <a:spcBef>
                          <a:spcPts val="180"/>
                        </a:spcBef>
                        <a:spcAft>
                          <a:spcPts val="180"/>
                        </a:spcAft>
                        <a:buNone/>
                      </a:pPr>
                      <a:r>
                        <a:rPr lang="en-US" sz="1800">
                          <a:effectLst/>
                        </a:rPr>
                        <a:t>3</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SciML</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dirty="0" err="1">
                          <a:effectLst/>
                        </a:rPr>
                        <a:t>DifferentialEquations.jl</a:t>
                      </a:r>
                      <a:r>
                        <a:rPr lang="en-US" sz="1800" dirty="0">
                          <a:effectLst/>
                        </a:rPr>
                        <a:t>, </a:t>
                      </a:r>
                      <a:r>
                        <a:rPr lang="en-US" sz="1800" dirty="0" err="1">
                          <a:effectLst/>
                        </a:rPr>
                        <a:t>ModelingToolkit.jl</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Scientific machine learning and mathematical modeling</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1958240743"/>
                  </a:ext>
                </a:extLst>
              </a:tr>
              <a:tr h="577772">
                <a:tc>
                  <a:txBody>
                    <a:bodyPr/>
                    <a:lstStyle/>
                    <a:p>
                      <a:pPr algn="ctr">
                        <a:spcBef>
                          <a:spcPts val="180"/>
                        </a:spcBef>
                        <a:spcAft>
                          <a:spcPts val="180"/>
                        </a:spcAft>
                        <a:buNone/>
                      </a:pPr>
                      <a:r>
                        <a:rPr lang="en-US" sz="1800">
                          <a:effectLst/>
                        </a:rPr>
                        <a:t>4</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JuliaData</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dirty="0" err="1">
                          <a:effectLst/>
                        </a:rPr>
                        <a:t>DataFrames.jl</a:t>
                      </a:r>
                      <a:r>
                        <a:rPr lang="en-US" sz="1800" dirty="0">
                          <a:effectLst/>
                        </a:rPr>
                        <a:t>, </a:t>
                      </a:r>
                      <a:r>
                        <a:rPr lang="en-US" sz="1800" dirty="0" err="1">
                          <a:effectLst/>
                        </a:rPr>
                        <a:t>DataFramesMeta.jl</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Data manipulation, storage, and input–output operations</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494878591"/>
                  </a:ext>
                </a:extLst>
              </a:tr>
              <a:tr h="577772">
                <a:tc>
                  <a:txBody>
                    <a:bodyPr/>
                    <a:lstStyle/>
                    <a:p>
                      <a:pPr algn="ctr">
                        <a:spcBef>
                          <a:spcPts val="180"/>
                        </a:spcBef>
                        <a:spcAft>
                          <a:spcPts val="180"/>
                        </a:spcAft>
                        <a:buNone/>
                      </a:pPr>
                      <a:r>
                        <a:rPr lang="en-US" sz="1800">
                          <a:effectLst/>
                        </a:rPr>
                        <a:t>5</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FluxML</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dirty="0" err="1">
                          <a:effectLst/>
                        </a:rPr>
                        <a:t>Flux.jl</a:t>
                      </a:r>
                      <a:r>
                        <a:rPr lang="en-US" sz="1800" dirty="0">
                          <a:effectLst/>
                        </a:rPr>
                        <a:t>, </a:t>
                      </a:r>
                      <a:r>
                        <a:rPr lang="en-US" sz="1800" dirty="0" err="1">
                          <a:effectLst/>
                        </a:rPr>
                        <a:t>MacroTools.jl</a:t>
                      </a:r>
                      <a:r>
                        <a:rPr lang="en-US" sz="1800" dirty="0">
                          <a:effectLst/>
                        </a:rPr>
                        <a:t>, </a:t>
                      </a:r>
                      <a:r>
                        <a:rPr lang="en-US" sz="1800" dirty="0" err="1">
                          <a:effectLst/>
                        </a:rPr>
                        <a:t>GeometricFlux.jl</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dirty="0">
                          <a:effectLst/>
                        </a:rPr>
                        <a:t>Machine learning and deep learning</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1647620720"/>
                  </a:ext>
                </a:extLst>
              </a:tr>
              <a:tr h="577772">
                <a:tc>
                  <a:txBody>
                    <a:bodyPr/>
                    <a:lstStyle/>
                    <a:p>
                      <a:pPr algn="ctr">
                        <a:spcBef>
                          <a:spcPts val="180"/>
                        </a:spcBef>
                        <a:spcAft>
                          <a:spcPts val="180"/>
                        </a:spcAft>
                        <a:buNone/>
                      </a:pPr>
                      <a:r>
                        <a:rPr lang="en-US" sz="1800">
                          <a:effectLst/>
                        </a:rPr>
                        <a:t>6</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JuliaPlots</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a:effectLst/>
                        </a:rPr>
                        <a:t>StatsPlots.jl, Plots.jl ,PlotlyJS.jl</a:t>
                      </a:r>
                      <a:endParaRPr lang="en-IN" sz="180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tc>
                  <a:txBody>
                    <a:bodyPr/>
                    <a:lstStyle/>
                    <a:p>
                      <a:pPr algn="ctr">
                        <a:spcBef>
                          <a:spcPts val="180"/>
                        </a:spcBef>
                        <a:spcAft>
                          <a:spcPts val="180"/>
                        </a:spcAft>
                        <a:buNone/>
                      </a:pPr>
                      <a:r>
                        <a:rPr lang="en-US" sz="1800" dirty="0">
                          <a:effectLst/>
                        </a:rPr>
                        <a:t>Data visualization and graphical analysis</a:t>
                      </a:r>
                      <a:endParaRPr lang="en-IN" sz="1800" dirty="0">
                        <a:effectLst/>
                        <a:latin typeface="Aptos" panose="020B0004020202020204" pitchFamily="34" charset="0"/>
                        <a:ea typeface="Aptos" panose="020B0004020202020204" pitchFamily="34" charset="0"/>
                        <a:cs typeface="Mangal" panose="02040503050203030202" pitchFamily="18" charset="0"/>
                      </a:endParaRPr>
                    </a:p>
                  </a:txBody>
                  <a:tcPr marL="68580" marR="68580" marT="0" marB="0"/>
                </a:tc>
                <a:extLst>
                  <a:ext uri="{0D108BD9-81ED-4DB2-BD59-A6C34878D82A}">
                    <a16:rowId xmlns:a16="http://schemas.microsoft.com/office/drawing/2014/main" val="67207518"/>
                  </a:ext>
                </a:extLst>
              </a:tr>
            </a:tbl>
          </a:graphicData>
        </a:graphic>
      </p:graphicFrame>
    </p:spTree>
    <p:extLst>
      <p:ext uri="{BB962C8B-B14F-4D97-AF65-F5344CB8AC3E}">
        <p14:creationId xmlns:p14="http://schemas.microsoft.com/office/powerpoint/2010/main" val="2189929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F8D41-D2CB-B796-7704-95C363A9E86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49CE72-8485-BBBA-6A46-17461DB21A7A}"/>
              </a:ext>
            </a:extLst>
          </p:cNvPr>
          <p:cNvSpPr>
            <a:spLocks noGrp="1"/>
          </p:cNvSpPr>
          <p:nvPr>
            <p:ph type="sldNum" sz="quarter" idx="12"/>
          </p:nvPr>
        </p:nvSpPr>
        <p:spPr/>
        <p:txBody>
          <a:bodyPr/>
          <a:lstStyle/>
          <a:p>
            <a:fld id="{8EC77227-B7F4-4800-97BE-1DE2687871B5}" type="slidenum">
              <a:rPr lang="en-IN" smtClean="0"/>
              <a:t>15</a:t>
            </a:fld>
            <a:endParaRPr lang="en-IN" dirty="0"/>
          </a:p>
        </p:txBody>
      </p:sp>
      <p:pic>
        <p:nvPicPr>
          <p:cNvPr id="3" name="Google Shape;90;p1">
            <a:extLst>
              <a:ext uri="{FF2B5EF4-FFF2-40B4-BE49-F238E27FC236}">
                <a16:creationId xmlns:a16="http://schemas.microsoft.com/office/drawing/2014/main" id="{63595748-E16F-4A45-FA8B-78B441E69990}"/>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4" name="TextBox 3">
            <a:extLst>
              <a:ext uri="{FF2B5EF4-FFF2-40B4-BE49-F238E27FC236}">
                <a16:creationId xmlns:a16="http://schemas.microsoft.com/office/drawing/2014/main" id="{D0B4EFCF-F7A5-CD69-A341-7203969FB715}"/>
              </a:ext>
            </a:extLst>
          </p:cNvPr>
          <p:cNvSpPr txBox="1"/>
          <p:nvPr/>
        </p:nvSpPr>
        <p:spPr>
          <a:xfrm>
            <a:off x="213100" y="138920"/>
            <a:ext cx="9953788"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Julia's deep learning, machine learning, and statistical computing ecosystem</a:t>
            </a:r>
            <a:endParaRPr lang="en-IN" sz="2400" b="1" dirty="0">
              <a:solidFill>
                <a:srgbClr val="FF0000"/>
              </a:solidFill>
            </a:endParaRPr>
          </a:p>
        </p:txBody>
      </p:sp>
      <p:sp>
        <p:nvSpPr>
          <p:cNvPr id="8" name="TextBox 7">
            <a:extLst>
              <a:ext uri="{FF2B5EF4-FFF2-40B4-BE49-F238E27FC236}">
                <a16:creationId xmlns:a16="http://schemas.microsoft.com/office/drawing/2014/main" id="{41A662B9-E5D5-E079-C8E5-AF95B2E7AE32}"/>
              </a:ext>
            </a:extLst>
          </p:cNvPr>
          <p:cNvSpPr txBox="1"/>
          <p:nvPr/>
        </p:nvSpPr>
        <p:spPr>
          <a:xfrm>
            <a:off x="213100" y="960791"/>
            <a:ext cx="11140700" cy="503535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b="1" dirty="0"/>
              <a:t>Statistical Computing:</a:t>
            </a:r>
            <a:r>
              <a:rPr lang="en-IN" dirty="0"/>
              <a:t> Julia provides a unified, high-performance environment for data handling, statistical modelling, and visualization through the </a:t>
            </a:r>
            <a:r>
              <a:rPr lang="en-IN" i="1" dirty="0" err="1"/>
              <a:t>JuliaStats</a:t>
            </a:r>
            <a:r>
              <a:rPr lang="en-IN" dirty="0"/>
              <a:t> and </a:t>
            </a:r>
            <a:r>
              <a:rPr lang="en-IN" i="1" dirty="0" err="1"/>
              <a:t>JuliaData</a:t>
            </a:r>
            <a:r>
              <a:rPr lang="en-IN" dirty="0"/>
              <a:t> ecosystems. Core packages such as </a:t>
            </a:r>
            <a:r>
              <a:rPr lang="en-IN" b="1" dirty="0" err="1">
                <a:solidFill>
                  <a:srgbClr val="002060"/>
                </a:solidFill>
                <a:latin typeface="Courier New" panose="02070309020205020404" pitchFamily="49" charset="0"/>
              </a:rPr>
              <a:t>StatsBase.jl</a:t>
            </a:r>
            <a:r>
              <a:rPr lang="en-IN" dirty="0"/>
              <a:t>, </a:t>
            </a:r>
            <a:r>
              <a:rPr lang="en-IN" b="1" dirty="0" err="1">
                <a:solidFill>
                  <a:srgbClr val="002060"/>
                </a:solidFill>
                <a:latin typeface="Courier New" panose="02070309020205020404" pitchFamily="49" charset="0"/>
              </a:rPr>
              <a:t>HypothesisTests.jl</a:t>
            </a:r>
            <a:r>
              <a:rPr lang="en-IN" dirty="0"/>
              <a:t>, </a:t>
            </a:r>
            <a:r>
              <a:rPr lang="en-IN" b="1" dirty="0" err="1">
                <a:solidFill>
                  <a:srgbClr val="002060"/>
                </a:solidFill>
                <a:latin typeface="Courier New" panose="02070309020205020404" pitchFamily="49" charset="0"/>
              </a:rPr>
              <a:t>MultivariateStats.jl</a:t>
            </a:r>
            <a:r>
              <a:rPr lang="en-IN" dirty="0"/>
              <a:t>, </a:t>
            </a:r>
            <a:r>
              <a:rPr lang="en-IN" b="1" dirty="0" err="1">
                <a:solidFill>
                  <a:srgbClr val="002060"/>
                </a:solidFill>
                <a:latin typeface="Courier New" panose="02070309020205020404" pitchFamily="49" charset="0"/>
              </a:rPr>
              <a:t>DataFrames.jl</a:t>
            </a:r>
            <a:r>
              <a:rPr lang="en-IN" dirty="0"/>
              <a:t>, and </a:t>
            </a:r>
            <a:r>
              <a:rPr lang="en-IN" b="1" dirty="0" err="1">
                <a:solidFill>
                  <a:srgbClr val="002060"/>
                </a:solidFill>
                <a:latin typeface="Courier New" panose="02070309020205020404" pitchFamily="49" charset="0"/>
              </a:rPr>
              <a:t>StatsPlots.jl</a:t>
            </a:r>
            <a:r>
              <a:rPr lang="en-IN" b="1" dirty="0">
                <a:solidFill>
                  <a:srgbClr val="002060"/>
                </a:solidFill>
              </a:rPr>
              <a:t> </a:t>
            </a:r>
            <a:r>
              <a:rPr lang="en-IN" dirty="0"/>
              <a:t>support descriptive statistics, inference, multivariate analysis, data wrangling, and exploratory visualization.</a:t>
            </a:r>
          </a:p>
          <a:p>
            <a:pPr marL="285750" indent="-285750" algn="just">
              <a:lnSpc>
                <a:spcPct val="150000"/>
              </a:lnSpc>
              <a:buFont typeface="Arial" panose="020B0604020202020204" pitchFamily="34" charset="0"/>
              <a:buChar char="•"/>
            </a:pPr>
            <a:r>
              <a:rPr lang="en-IN" b="1" dirty="0"/>
              <a:t>Machine Learning:</a:t>
            </a:r>
            <a:r>
              <a:rPr lang="en-IN" dirty="0"/>
              <a:t> Julia’s ML ecosystem is centred around </a:t>
            </a:r>
            <a:r>
              <a:rPr lang="en-IN" b="1" dirty="0">
                <a:solidFill>
                  <a:srgbClr val="002060"/>
                </a:solidFill>
                <a:latin typeface="Courier New" panose="02070309020205020404" pitchFamily="49" charset="0"/>
              </a:rPr>
              <a:t>MLJ</a:t>
            </a:r>
            <a:r>
              <a:rPr lang="en-IN" dirty="0"/>
              <a:t>, which offers a unified interface for model training, tuning, evaluation, and comparison. Leveraging multiple dispatch and type specialization, Julia enables flexible yet efficient ML workflows and supports cross-language integration via tools like </a:t>
            </a:r>
            <a:r>
              <a:rPr lang="en-IN" b="1" dirty="0" err="1">
                <a:solidFill>
                  <a:srgbClr val="002060"/>
                </a:solidFill>
                <a:latin typeface="Courier New" panose="02070309020205020404" pitchFamily="49" charset="0"/>
              </a:rPr>
              <a:t>JuliaConnectoR</a:t>
            </a:r>
            <a:r>
              <a:rPr lang="en-IN" b="1" dirty="0">
                <a:solidFill>
                  <a:srgbClr val="002060"/>
                </a:solidFill>
              </a:rPr>
              <a:t>.</a:t>
            </a:r>
          </a:p>
          <a:p>
            <a:pPr marL="285750" indent="-285750" algn="just">
              <a:lnSpc>
                <a:spcPct val="150000"/>
              </a:lnSpc>
              <a:buFont typeface="Arial" panose="020B0604020202020204" pitchFamily="34" charset="0"/>
              <a:buChar char="•"/>
            </a:pPr>
            <a:r>
              <a:rPr lang="en-IN" b="1" dirty="0"/>
              <a:t>Deep Learning:</a:t>
            </a:r>
            <a:r>
              <a:rPr lang="en-IN" dirty="0"/>
              <a:t> Native frameworks such as </a:t>
            </a:r>
            <a:r>
              <a:rPr lang="en-IN" b="1" dirty="0" err="1">
                <a:solidFill>
                  <a:srgbClr val="002060"/>
                </a:solidFill>
                <a:latin typeface="Courier New" panose="02070309020205020404" pitchFamily="49" charset="0"/>
              </a:rPr>
              <a:t>Flux.jl</a:t>
            </a:r>
            <a:r>
              <a:rPr lang="en-IN" dirty="0"/>
              <a:t> and </a:t>
            </a:r>
            <a:r>
              <a:rPr lang="en-IN" b="1" dirty="0" err="1">
                <a:solidFill>
                  <a:srgbClr val="002060"/>
                </a:solidFill>
                <a:latin typeface="Courier New" panose="02070309020205020404" pitchFamily="49" charset="0"/>
              </a:rPr>
              <a:t>Lux.jl</a:t>
            </a:r>
            <a:r>
              <a:rPr lang="en-IN" dirty="0"/>
              <a:t> enable expressive, high-performance neural network modelling with automatic differentiation and GPU support. Extensions like </a:t>
            </a:r>
            <a:r>
              <a:rPr lang="en-IN" b="1" dirty="0" err="1">
                <a:solidFill>
                  <a:srgbClr val="002060"/>
                </a:solidFill>
                <a:latin typeface="Courier New" panose="02070309020205020404" pitchFamily="49" charset="0"/>
              </a:rPr>
              <a:t>DiffEqFlux.jl</a:t>
            </a:r>
            <a:r>
              <a:rPr lang="en-IN" dirty="0"/>
              <a:t>, </a:t>
            </a:r>
            <a:r>
              <a:rPr lang="en-IN" b="1" dirty="0" err="1">
                <a:solidFill>
                  <a:srgbClr val="002060"/>
                </a:solidFill>
                <a:latin typeface="Courier New" panose="02070309020205020404" pitchFamily="49" charset="0"/>
              </a:rPr>
              <a:t>GraphNeuralNetworks.jl</a:t>
            </a:r>
            <a:r>
              <a:rPr lang="en-IN" dirty="0"/>
              <a:t>, and </a:t>
            </a:r>
            <a:r>
              <a:rPr lang="en-IN" b="1" dirty="0" err="1">
                <a:solidFill>
                  <a:srgbClr val="002060"/>
                </a:solidFill>
                <a:latin typeface="Courier New" panose="02070309020205020404" pitchFamily="49" charset="0"/>
              </a:rPr>
              <a:t>GeometricFlux.jl</a:t>
            </a:r>
            <a:r>
              <a:rPr lang="en-IN" dirty="0"/>
              <a:t> integrate deep learning with scientific computing, differential equations, and graph-structured data.</a:t>
            </a:r>
          </a:p>
        </p:txBody>
      </p:sp>
    </p:spTree>
    <p:extLst>
      <p:ext uri="{BB962C8B-B14F-4D97-AF65-F5344CB8AC3E}">
        <p14:creationId xmlns:p14="http://schemas.microsoft.com/office/powerpoint/2010/main" val="1950156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566397-7784-B2D0-378A-E70F3010DC17}"/>
              </a:ext>
            </a:extLst>
          </p:cNvPr>
          <p:cNvSpPr>
            <a:spLocks noGrp="1"/>
          </p:cNvSpPr>
          <p:nvPr>
            <p:ph type="sldNum" sz="quarter" idx="12"/>
          </p:nvPr>
        </p:nvSpPr>
        <p:spPr/>
        <p:txBody>
          <a:bodyPr/>
          <a:lstStyle/>
          <a:p>
            <a:fld id="{8EC77227-B7F4-4800-97BE-1DE2687871B5}" type="slidenum">
              <a:rPr lang="en-IN" smtClean="0"/>
              <a:t>16</a:t>
            </a:fld>
            <a:endParaRPr lang="en-IN" dirty="0"/>
          </a:p>
        </p:txBody>
      </p:sp>
      <p:sp>
        <p:nvSpPr>
          <p:cNvPr id="3" name="TextBox 2">
            <a:extLst>
              <a:ext uri="{FF2B5EF4-FFF2-40B4-BE49-F238E27FC236}">
                <a16:creationId xmlns:a16="http://schemas.microsoft.com/office/drawing/2014/main" id="{ABEAD24F-6B5B-3955-6E32-F457F8E5DC97}"/>
              </a:ext>
            </a:extLst>
          </p:cNvPr>
          <p:cNvSpPr txBox="1"/>
          <p:nvPr/>
        </p:nvSpPr>
        <p:spPr>
          <a:xfrm>
            <a:off x="334365" y="92425"/>
            <a:ext cx="3356980"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Notable Uses of Julia</a:t>
            </a:r>
            <a:endParaRPr lang="en-IN" sz="2400" b="1" dirty="0">
              <a:solidFill>
                <a:srgbClr val="FF0000"/>
              </a:solidFill>
            </a:endParaRPr>
          </a:p>
        </p:txBody>
      </p:sp>
      <p:sp>
        <p:nvSpPr>
          <p:cNvPr id="4" name="TextBox 3">
            <a:extLst>
              <a:ext uri="{FF2B5EF4-FFF2-40B4-BE49-F238E27FC236}">
                <a16:creationId xmlns:a16="http://schemas.microsoft.com/office/drawing/2014/main" id="{AAE7FCA5-9470-7C07-C83B-BF55158ACB5E}"/>
              </a:ext>
            </a:extLst>
          </p:cNvPr>
          <p:cNvSpPr txBox="1"/>
          <p:nvPr/>
        </p:nvSpPr>
        <p:spPr>
          <a:xfrm>
            <a:off x="334365" y="1462543"/>
            <a:ext cx="2292824" cy="523220"/>
          </a:xfrm>
          <a:prstGeom prst="rect">
            <a:avLst/>
          </a:prstGeom>
          <a:noFill/>
        </p:spPr>
        <p:txBody>
          <a:bodyPr wrap="square" rtlCol="0">
            <a:spAutoFit/>
          </a:bodyPr>
          <a:lstStyle/>
          <a:p>
            <a:r>
              <a:rPr lang="en-US" sz="2800" b="1" dirty="0">
                <a:solidFill>
                  <a:schemeClr val="accent2"/>
                </a:solidFill>
              </a:rPr>
              <a:t>Company</a:t>
            </a:r>
            <a:endParaRPr lang="en-IN" b="1" dirty="0">
              <a:solidFill>
                <a:schemeClr val="accent2"/>
              </a:solidFill>
            </a:endParaRPr>
          </a:p>
        </p:txBody>
      </p:sp>
      <p:sp>
        <p:nvSpPr>
          <p:cNvPr id="5" name="TextBox 4">
            <a:extLst>
              <a:ext uri="{FF2B5EF4-FFF2-40B4-BE49-F238E27FC236}">
                <a16:creationId xmlns:a16="http://schemas.microsoft.com/office/drawing/2014/main" id="{4B84E2AF-F963-840F-4B67-920142C15581}"/>
              </a:ext>
            </a:extLst>
          </p:cNvPr>
          <p:cNvSpPr txBox="1"/>
          <p:nvPr/>
        </p:nvSpPr>
        <p:spPr>
          <a:xfrm>
            <a:off x="967851" y="2131141"/>
            <a:ext cx="2292824" cy="3416320"/>
          </a:xfrm>
          <a:prstGeom prst="rect">
            <a:avLst/>
          </a:prstGeom>
          <a:noFill/>
        </p:spPr>
        <p:txBody>
          <a:bodyPr wrap="square" rtlCol="0">
            <a:spAutoFit/>
          </a:bodyPr>
          <a:lstStyle/>
          <a:p>
            <a:pPr marL="285750" indent="-285750">
              <a:buFont typeface="Arial" panose="020B0604020202020204" pitchFamily="34" charset="0"/>
              <a:buChar char="•"/>
            </a:pPr>
            <a:r>
              <a:rPr lang="en-US" sz="2400" b="1" dirty="0"/>
              <a:t>Amazon</a:t>
            </a:r>
          </a:p>
          <a:p>
            <a:pPr marL="285750" indent="-285750">
              <a:buFont typeface="Arial" panose="020B0604020202020204" pitchFamily="34" charset="0"/>
              <a:buChar char="•"/>
            </a:pPr>
            <a:r>
              <a:rPr lang="en-US" sz="2400" b="1" dirty="0"/>
              <a:t>Apple</a:t>
            </a:r>
          </a:p>
          <a:p>
            <a:pPr marL="285750" indent="-285750">
              <a:buFont typeface="Arial" panose="020B0604020202020204" pitchFamily="34" charset="0"/>
              <a:buChar char="•"/>
            </a:pPr>
            <a:r>
              <a:rPr lang="en-US" sz="2400" b="1" dirty="0"/>
              <a:t>Capital One</a:t>
            </a:r>
          </a:p>
          <a:p>
            <a:pPr marL="285750" indent="-285750">
              <a:buFont typeface="Arial" panose="020B0604020202020204" pitchFamily="34" charset="0"/>
              <a:buChar char="•"/>
            </a:pPr>
            <a:r>
              <a:rPr lang="en-US" sz="2400" b="1" dirty="0"/>
              <a:t>Google</a:t>
            </a:r>
          </a:p>
          <a:p>
            <a:pPr marL="285750" indent="-285750">
              <a:buFont typeface="Arial" panose="020B0604020202020204" pitchFamily="34" charset="0"/>
              <a:buChar char="•"/>
            </a:pPr>
            <a:r>
              <a:rPr lang="en-US" sz="2400" b="1" dirty="0"/>
              <a:t>IBM</a:t>
            </a:r>
          </a:p>
          <a:p>
            <a:pPr marL="285750" indent="-285750">
              <a:buFont typeface="Arial" panose="020B0604020202020204" pitchFamily="34" charset="0"/>
              <a:buChar char="•"/>
            </a:pPr>
            <a:r>
              <a:rPr lang="en-US" sz="2400" b="1" dirty="0"/>
              <a:t>Intel</a:t>
            </a:r>
          </a:p>
          <a:p>
            <a:pPr marL="285750" indent="-285750">
              <a:buFont typeface="Arial" panose="020B0604020202020204" pitchFamily="34" charset="0"/>
              <a:buChar char="•"/>
            </a:pPr>
            <a:r>
              <a:rPr lang="en-US" sz="2400" b="1" dirty="0"/>
              <a:t>Pfizer</a:t>
            </a:r>
          </a:p>
          <a:p>
            <a:pPr marL="285750" indent="-285750">
              <a:buFont typeface="Arial" panose="020B0604020202020204" pitchFamily="34" charset="0"/>
              <a:buChar char="•"/>
            </a:pPr>
            <a:r>
              <a:rPr lang="en-US" sz="2400" b="1" dirty="0"/>
              <a:t>JPMorgan</a:t>
            </a:r>
          </a:p>
          <a:p>
            <a:pPr marL="285750" indent="-285750">
              <a:buFont typeface="Arial" panose="020B0604020202020204" pitchFamily="34" charset="0"/>
              <a:buChar char="•"/>
            </a:pPr>
            <a:r>
              <a:rPr lang="en-US" sz="2400" b="1" dirty="0"/>
              <a:t>Microsoft</a:t>
            </a:r>
            <a:endParaRPr lang="en-IN" b="1" dirty="0"/>
          </a:p>
        </p:txBody>
      </p:sp>
      <p:sp>
        <p:nvSpPr>
          <p:cNvPr id="6" name="TextBox 5">
            <a:extLst>
              <a:ext uri="{FF2B5EF4-FFF2-40B4-BE49-F238E27FC236}">
                <a16:creationId xmlns:a16="http://schemas.microsoft.com/office/drawing/2014/main" id="{2A1C7A67-EEB7-C625-B7BA-79D8AEEBC6B8}"/>
              </a:ext>
            </a:extLst>
          </p:cNvPr>
          <p:cNvSpPr txBox="1"/>
          <p:nvPr/>
        </p:nvSpPr>
        <p:spPr>
          <a:xfrm>
            <a:off x="4536738" y="1462543"/>
            <a:ext cx="2292824" cy="523220"/>
          </a:xfrm>
          <a:prstGeom prst="rect">
            <a:avLst/>
          </a:prstGeom>
          <a:noFill/>
        </p:spPr>
        <p:txBody>
          <a:bodyPr wrap="square" rtlCol="0">
            <a:spAutoFit/>
          </a:bodyPr>
          <a:lstStyle/>
          <a:p>
            <a:r>
              <a:rPr lang="en-US" sz="2800" b="1" dirty="0">
                <a:solidFill>
                  <a:schemeClr val="accent2"/>
                </a:solidFill>
              </a:rPr>
              <a:t>Organizations </a:t>
            </a:r>
            <a:endParaRPr lang="en-IN" sz="2800" b="1" dirty="0">
              <a:solidFill>
                <a:schemeClr val="accent2"/>
              </a:solidFill>
            </a:endParaRPr>
          </a:p>
        </p:txBody>
      </p:sp>
      <p:sp>
        <p:nvSpPr>
          <p:cNvPr id="7" name="TextBox 6">
            <a:extLst>
              <a:ext uri="{FF2B5EF4-FFF2-40B4-BE49-F238E27FC236}">
                <a16:creationId xmlns:a16="http://schemas.microsoft.com/office/drawing/2014/main" id="{281B4192-F25B-1C43-D669-ED937E1CD42E}"/>
              </a:ext>
            </a:extLst>
          </p:cNvPr>
          <p:cNvSpPr txBox="1"/>
          <p:nvPr/>
        </p:nvSpPr>
        <p:spPr>
          <a:xfrm>
            <a:off x="4915467" y="2131141"/>
            <a:ext cx="2699981" cy="830997"/>
          </a:xfrm>
          <a:prstGeom prst="rect">
            <a:avLst/>
          </a:prstGeom>
          <a:noFill/>
        </p:spPr>
        <p:txBody>
          <a:bodyPr wrap="square" rtlCol="0">
            <a:spAutoFit/>
          </a:bodyPr>
          <a:lstStyle/>
          <a:p>
            <a:pPr marL="285750" indent="-285750">
              <a:buFont typeface="Arial" panose="020B0604020202020204" pitchFamily="34" charset="0"/>
              <a:buChar char="•"/>
            </a:pPr>
            <a:r>
              <a:rPr lang="en-US" sz="2400" b="1" dirty="0"/>
              <a:t>NASA</a:t>
            </a:r>
          </a:p>
          <a:p>
            <a:pPr marL="285750" indent="-285750">
              <a:buFont typeface="Arial" panose="020B0604020202020204" pitchFamily="34" charset="0"/>
              <a:buChar char="•"/>
            </a:pPr>
            <a:r>
              <a:rPr lang="en-US" sz="2400" b="1" dirty="0"/>
              <a:t>US Fed Reserve</a:t>
            </a:r>
          </a:p>
        </p:txBody>
      </p:sp>
      <p:sp>
        <p:nvSpPr>
          <p:cNvPr id="10" name="TextBox 9">
            <a:extLst>
              <a:ext uri="{FF2B5EF4-FFF2-40B4-BE49-F238E27FC236}">
                <a16:creationId xmlns:a16="http://schemas.microsoft.com/office/drawing/2014/main" id="{076C0710-DD50-6079-62E0-2309524584E6}"/>
              </a:ext>
            </a:extLst>
          </p:cNvPr>
          <p:cNvSpPr txBox="1"/>
          <p:nvPr/>
        </p:nvSpPr>
        <p:spPr>
          <a:xfrm>
            <a:off x="7994177" y="1462543"/>
            <a:ext cx="6107372" cy="523220"/>
          </a:xfrm>
          <a:prstGeom prst="rect">
            <a:avLst/>
          </a:prstGeom>
          <a:noFill/>
        </p:spPr>
        <p:txBody>
          <a:bodyPr wrap="square">
            <a:spAutoFit/>
          </a:bodyPr>
          <a:lstStyle/>
          <a:p>
            <a:r>
              <a:rPr lang="en-US" sz="2800" b="1" dirty="0">
                <a:solidFill>
                  <a:schemeClr val="accent2"/>
                </a:solidFill>
              </a:rPr>
              <a:t>Universities/ Institutes</a:t>
            </a:r>
            <a:endParaRPr lang="en-IN" sz="2800" dirty="0"/>
          </a:p>
        </p:txBody>
      </p:sp>
      <p:sp>
        <p:nvSpPr>
          <p:cNvPr id="12" name="TextBox 11">
            <a:extLst>
              <a:ext uri="{FF2B5EF4-FFF2-40B4-BE49-F238E27FC236}">
                <a16:creationId xmlns:a16="http://schemas.microsoft.com/office/drawing/2014/main" id="{BC533F10-5BC4-F637-9E41-A8FC1A8C800B}"/>
              </a:ext>
            </a:extLst>
          </p:cNvPr>
          <p:cNvSpPr txBox="1"/>
          <p:nvPr/>
        </p:nvSpPr>
        <p:spPr>
          <a:xfrm>
            <a:off x="8632209" y="2131141"/>
            <a:ext cx="2699981" cy="2308324"/>
          </a:xfrm>
          <a:prstGeom prst="rect">
            <a:avLst/>
          </a:prstGeom>
          <a:noFill/>
        </p:spPr>
        <p:txBody>
          <a:bodyPr wrap="square">
            <a:spAutoFit/>
          </a:bodyPr>
          <a:lstStyle/>
          <a:p>
            <a:pPr marL="285750" indent="-285750">
              <a:buFont typeface="Arial" panose="020B0604020202020204" pitchFamily="34" charset="0"/>
              <a:buChar char="•"/>
            </a:pPr>
            <a:r>
              <a:rPr lang="en-US" sz="2400" b="1" dirty="0"/>
              <a:t>MIT</a:t>
            </a:r>
          </a:p>
          <a:p>
            <a:pPr marL="285750" indent="-285750">
              <a:buFont typeface="Arial" panose="020B0604020202020204" pitchFamily="34" charset="0"/>
              <a:buChar char="•"/>
            </a:pPr>
            <a:r>
              <a:rPr lang="en-US" sz="2400" b="1" dirty="0"/>
              <a:t>Stanford</a:t>
            </a:r>
          </a:p>
          <a:p>
            <a:pPr marL="285750" indent="-285750">
              <a:buFont typeface="Arial" panose="020B0604020202020204" pitchFamily="34" charset="0"/>
              <a:buChar char="•"/>
            </a:pPr>
            <a:r>
              <a:rPr lang="en-US" sz="2400" b="1" dirty="0"/>
              <a:t>TAMU</a:t>
            </a:r>
          </a:p>
          <a:p>
            <a:pPr marL="285750" indent="-285750">
              <a:buFont typeface="Arial" panose="020B0604020202020204" pitchFamily="34" charset="0"/>
              <a:buChar char="•"/>
            </a:pPr>
            <a:r>
              <a:rPr lang="en-US" sz="2400" b="1" dirty="0"/>
              <a:t>ETH Zurich</a:t>
            </a:r>
          </a:p>
          <a:p>
            <a:pPr marL="285750" indent="-285750">
              <a:buFont typeface="Arial" panose="020B0604020202020204" pitchFamily="34" charset="0"/>
              <a:buChar char="•"/>
            </a:pPr>
            <a:r>
              <a:rPr lang="en-US" sz="2400" b="1" dirty="0"/>
              <a:t>CMU</a:t>
            </a:r>
          </a:p>
          <a:p>
            <a:pPr marL="285750" indent="-285750">
              <a:buFont typeface="Arial" panose="020B0604020202020204" pitchFamily="34" charset="0"/>
              <a:buChar char="•"/>
            </a:pPr>
            <a:r>
              <a:rPr lang="en-US" sz="2400" b="1" dirty="0"/>
              <a:t>CMI</a:t>
            </a:r>
          </a:p>
        </p:txBody>
      </p:sp>
      <p:pic>
        <p:nvPicPr>
          <p:cNvPr id="1026" name="Picture 2" descr="Learn Julia - Apps on Google Play">
            <a:extLst>
              <a:ext uri="{FF2B5EF4-FFF2-40B4-BE49-F238E27FC236}">
                <a16:creationId xmlns:a16="http://schemas.microsoft.com/office/drawing/2014/main" id="{934CDA26-2968-C550-D0C2-0F64FD44ED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2778" y="3938515"/>
            <a:ext cx="2065361" cy="2065361"/>
          </a:xfrm>
          <a:prstGeom prst="rect">
            <a:avLst/>
          </a:prstGeom>
          <a:noFill/>
          <a:extLst>
            <a:ext uri="{909E8E84-426E-40DD-AFC4-6F175D3DCCD1}">
              <a14:hiddenFill xmlns:a14="http://schemas.microsoft.com/office/drawing/2010/main">
                <a:solidFill>
                  <a:srgbClr val="FFFFFF"/>
                </a:solidFill>
              </a14:hiddenFill>
            </a:ext>
          </a:extLst>
        </p:spPr>
      </p:pic>
      <p:pic>
        <p:nvPicPr>
          <p:cNvPr id="8" name="Google Shape;90;p1">
            <a:extLst>
              <a:ext uri="{FF2B5EF4-FFF2-40B4-BE49-F238E27FC236}">
                <a16:creationId xmlns:a16="http://schemas.microsoft.com/office/drawing/2014/main" id="{924E1683-CAA7-F675-F794-8FD17F29EE19}"/>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Tree>
    <p:extLst>
      <p:ext uri="{BB962C8B-B14F-4D97-AF65-F5344CB8AC3E}">
        <p14:creationId xmlns:p14="http://schemas.microsoft.com/office/powerpoint/2010/main" val="1335509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A26B1-BE49-1BAB-3C4A-B6DFA9F3F43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FD916A-05FC-787B-2920-A90F089D01B4}"/>
              </a:ext>
            </a:extLst>
          </p:cNvPr>
          <p:cNvSpPr>
            <a:spLocks noGrp="1"/>
          </p:cNvSpPr>
          <p:nvPr>
            <p:ph type="sldNum" sz="quarter" idx="12"/>
          </p:nvPr>
        </p:nvSpPr>
        <p:spPr/>
        <p:txBody>
          <a:bodyPr/>
          <a:lstStyle/>
          <a:p>
            <a:fld id="{8EC77227-B7F4-4800-97BE-1DE2687871B5}" type="slidenum">
              <a:rPr lang="en-IN" smtClean="0"/>
              <a:t>17</a:t>
            </a:fld>
            <a:endParaRPr lang="en-IN" dirty="0"/>
          </a:p>
        </p:txBody>
      </p:sp>
      <p:sp>
        <p:nvSpPr>
          <p:cNvPr id="3" name="TextBox 2">
            <a:extLst>
              <a:ext uri="{FF2B5EF4-FFF2-40B4-BE49-F238E27FC236}">
                <a16:creationId xmlns:a16="http://schemas.microsoft.com/office/drawing/2014/main" id="{4B6BFF27-627E-49CF-7648-A081568F11F6}"/>
              </a:ext>
            </a:extLst>
          </p:cNvPr>
          <p:cNvSpPr txBox="1"/>
          <p:nvPr/>
        </p:nvSpPr>
        <p:spPr>
          <a:xfrm>
            <a:off x="294468" y="92425"/>
            <a:ext cx="4339526"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dirty="0">
                <a:solidFill>
                  <a:srgbClr val="FF0000"/>
                </a:solidFill>
              </a:rPr>
              <a:t>IDEs/Environments for Julia </a:t>
            </a:r>
          </a:p>
        </p:txBody>
      </p:sp>
      <p:pic>
        <p:nvPicPr>
          <p:cNvPr id="1026" name="Picture 2" descr="Learn Julia - Apps on Google Play">
            <a:extLst>
              <a:ext uri="{FF2B5EF4-FFF2-40B4-BE49-F238E27FC236}">
                <a16:creationId xmlns:a16="http://schemas.microsoft.com/office/drawing/2014/main" id="{32D2CE98-F512-13AE-04CB-038ED4E263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5153" y="2396318"/>
            <a:ext cx="2065361" cy="2065361"/>
          </a:xfrm>
          <a:prstGeom prst="rect">
            <a:avLst/>
          </a:prstGeom>
          <a:noFill/>
          <a:extLst>
            <a:ext uri="{909E8E84-426E-40DD-AFC4-6F175D3DCCD1}">
              <a14:hiddenFill xmlns:a14="http://schemas.microsoft.com/office/drawing/2010/main">
                <a:solidFill>
                  <a:srgbClr val="FFFFFF"/>
                </a:solidFill>
              </a14:hiddenFill>
            </a:ext>
          </a:extLst>
        </p:spPr>
      </p:pic>
      <p:pic>
        <p:nvPicPr>
          <p:cNvPr id="8" name="Google Shape;90;p1">
            <a:extLst>
              <a:ext uri="{FF2B5EF4-FFF2-40B4-BE49-F238E27FC236}">
                <a16:creationId xmlns:a16="http://schemas.microsoft.com/office/drawing/2014/main" id="{7EFC758A-5ECB-9105-2DAE-765CEB03C678}"/>
              </a:ext>
            </a:extLst>
          </p:cNvPr>
          <p:cNvPicPr preferRelativeResize="0"/>
          <p:nvPr/>
        </p:nvPicPr>
        <p:blipFill rotWithShape="1">
          <a:blip r:embed="rId4">
            <a:alphaModFix/>
          </a:blip>
          <a:srcRect/>
          <a:stretch/>
        </p:blipFill>
        <p:spPr>
          <a:xfrm>
            <a:off x="11204812" y="0"/>
            <a:ext cx="987188" cy="1201171"/>
          </a:xfrm>
          <a:prstGeom prst="rect">
            <a:avLst/>
          </a:prstGeom>
          <a:noFill/>
          <a:ln>
            <a:noFill/>
          </a:ln>
        </p:spPr>
      </p:pic>
      <p:sp>
        <p:nvSpPr>
          <p:cNvPr id="13" name="TextBox 12">
            <a:extLst>
              <a:ext uri="{FF2B5EF4-FFF2-40B4-BE49-F238E27FC236}">
                <a16:creationId xmlns:a16="http://schemas.microsoft.com/office/drawing/2014/main" id="{73BC38C0-3B0F-D33C-D86F-386B1B843E65}"/>
              </a:ext>
            </a:extLst>
          </p:cNvPr>
          <p:cNvSpPr txBox="1"/>
          <p:nvPr/>
        </p:nvSpPr>
        <p:spPr>
          <a:xfrm>
            <a:off x="1034511" y="1201171"/>
            <a:ext cx="6098582" cy="3418756"/>
          </a:xfrm>
          <a:prstGeom prst="rect">
            <a:avLst/>
          </a:prstGeom>
          <a:noFill/>
        </p:spPr>
        <p:txBody>
          <a:bodyPr wrap="square">
            <a:spAutoFit/>
          </a:bodyPr>
          <a:lstStyle/>
          <a:p>
            <a:pPr marL="457200" indent="-457200">
              <a:lnSpc>
                <a:spcPct val="200000"/>
              </a:lnSpc>
              <a:buFont typeface="Arial" panose="020B0604020202020204" pitchFamily="34" charset="0"/>
              <a:buChar char="•"/>
            </a:pPr>
            <a:r>
              <a:rPr lang="en-IN" sz="2800" b="1" dirty="0"/>
              <a:t>VS Code + Julia extension</a:t>
            </a:r>
            <a:endParaRPr lang="en-IN" sz="2800" dirty="0"/>
          </a:p>
          <a:p>
            <a:pPr marL="457200" indent="-457200">
              <a:lnSpc>
                <a:spcPct val="200000"/>
              </a:lnSpc>
              <a:buFont typeface="Arial" panose="020B0604020202020204" pitchFamily="34" charset="0"/>
              <a:buChar char="•"/>
            </a:pPr>
            <a:r>
              <a:rPr lang="en-IN" sz="2800" b="1" dirty="0"/>
              <a:t>Pluto.jl (reactive notebook)</a:t>
            </a:r>
            <a:endParaRPr lang="en-IN" sz="2800" dirty="0"/>
          </a:p>
          <a:p>
            <a:pPr marL="457200" indent="-457200">
              <a:lnSpc>
                <a:spcPct val="200000"/>
              </a:lnSpc>
              <a:buFont typeface="Arial" panose="020B0604020202020204" pitchFamily="34" charset="0"/>
              <a:buChar char="•"/>
            </a:pPr>
            <a:r>
              <a:rPr lang="en-IN" sz="2800" b="1" dirty="0"/>
              <a:t>Jupyter (via IJulia)</a:t>
            </a:r>
            <a:endParaRPr lang="en-IN" sz="2800" dirty="0"/>
          </a:p>
          <a:p>
            <a:pPr marL="457200" indent="-457200">
              <a:lnSpc>
                <a:spcPct val="200000"/>
              </a:lnSpc>
              <a:buFont typeface="Arial" panose="020B0604020202020204" pitchFamily="34" charset="0"/>
              <a:buChar char="•"/>
            </a:pPr>
            <a:r>
              <a:rPr lang="en-IN" sz="2800" b="1" dirty="0"/>
              <a:t>Google Colab  </a:t>
            </a:r>
            <a:endParaRPr lang="en-IN" sz="2800" dirty="0"/>
          </a:p>
        </p:txBody>
      </p:sp>
    </p:spTree>
    <p:extLst>
      <p:ext uri="{BB962C8B-B14F-4D97-AF65-F5344CB8AC3E}">
        <p14:creationId xmlns:p14="http://schemas.microsoft.com/office/powerpoint/2010/main" val="6756724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EAC45-7642-F0F2-168D-FD0C3ACBF97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9E1FFD-7067-B73E-1214-72B542B23EA2}"/>
              </a:ext>
            </a:extLst>
          </p:cNvPr>
          <p:cNvSpPr>
            <a:spLocks noGrp="1"/>
          </p:cNvSpPr>
          <p:nvPr>
            <p:ph type="sldNum" sz="quarter" idx="12"/>
          </p:nvPr>
        </p:nvSpPr>
        <p:spPr/>
        <p:txBody>
          <a:bodyPr/>
          <a:lstStyle/>
          <a:p>
            <a:fld id="{8EC77227-B7F4-4800-97BE-1DE2687871B5}" type="slidenum">
              <a:rPr lang="en-IN" smtClean="0"/>
              <a:t>18</a:t>
            </a:fld>
            <a:endParaRPr lang="en-IN" dirty="0"/>
          </a:p>
        </p:txBody>
      </p:sp>
      <p:sp>
        <p:nvSpPr>
          <p:cNvPr id="3" name="TextBox 2">
            <a:extLst>
              <a:ext uri="{FF2B5EF4-FFF2-40B4-BE49-F238E27FC236}">
                <a16:creationId xmlns:a16="http://schemas.microsoft.com/office/drawing/2014/main" id="{620B894D-8C63-E37B-71E5-83431DA881BC}"/>
              </a:ext>
            </a:extLst>
          </p:cNvPr>
          <p:cNvSpPr txBox="1"/>
          <p:nvPr/>
        </p:nvSpPr>
        <p:spPr>
          <a:xfrm>
            <a:off x="271222" y="112101"/>
            <a:ext cx="4804474"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IN" sz="2400" b="1" dirty="0">
                <a:solidFill>
                  <a:srgbClr val="FF0000"/>
                </a:solidFill>
              </a:rPr>
              <a:t>Installation of Packages in Julia </a:t>
            </a:r>
          </a:p>
        </p:txBody>
      </p:sp>
      <p:pic>
        <p:nvPicPr>
          <p:cNvPr id="8" name="Google Shape;90;p1">
            <a:extLst>
              <a:ext uri="{FF2B5EF4-FFF2-40B4-BE49-F238E27FC236}">
                <a16:creationId xmlns:a16="http://schemas.microsoft.com/office/drawing/2014/main" id="{8C6768A4-58E7-D8C2-1AC1-BC862E2CF855}"/>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5" name="TextBox 4">
            <a:extLst>
              <a:ext uri="{FF2B5EF4-FFF2-40B4-BE49-F238E27FC236}">
                <a16:creationId xmlns:a16="http://schemas.microsoft.com/office/drawing/2014/main" id="{0029A278-4153-FF58-E00E-8B455DFC96A4}"/>
              </a:ext>
            </a:extLst>
          </p:cNvPr>
          <p:cNvSpPr txBox="1"/>
          <p:nvPr/>
        </p:nvSpPr>
        <p:spPr>
          <a:xfrm>
            <a:off x="216976" y="838355"/>
            <a:ext cx="11136824" cy="1295868"/>
          </a:xfrm>
          <a:prstGeom prst="rect">
            <a:avLst/>
          </a:prstGeom>
          <a:noFill/>
        </p:spPr>
        <p:txBody>
          <a:bodyPr wrap="square">
            <a:spAutoFit/>
          </a:bodyPr>
          <a:lstStyle/>
          <a:p>
            <a:pPr algn="just">
              <a:lnSpc>
                <a:spcPct val="150000"/>
              </a:lnSpc>
            </a:pPr>
            <a:r>
              <a:rPr lang="en-US" dirty="0"/>
              <a:t>Julia provides a built-in package manager, </a:t>
            </a:r>
            <a:r>
              <a:rPr lang="en-US" b="1" dirty="0"/>
              <a:t>Pkg</a:t>
            </a:r>
            <a:r>
              <a:rPr lang="en-US" dirty="0"/>
              <a:t>, to install and manage external libraries that extend the language’s capabilities. It allows users to easily install single or multiple packages, or even packages directly from GitHub repositories, ensuring flexibility and reproducibility in project environments.</a:t>
            </a:r>
          </a:p>
        </p:txBody>
      </p:sp>
      <p:sp>
        <p:nvSpPr>
          <p:cNvPr id="7" name="TextBox 6">
            <a:extLst>
              <a:ext uri="{FF2B5EF4-FFF2-40B4-BE49-F238E27FC236}">
                <a16:creationId xmlns:a16="http://schemas.microsoft.com/office/drawing/2014/main" id="{47B2F484-B8FE-5CE0-872F-70209CA6A6B5}"/>
              </a:ext>
            </a:extLst>
          </p:cNvPr>
          <p:cNvSpPr txBox="1"/>
          <p:nvPr/>
        </p:nvSpPr>
        <p:spPr>
          <a:xfrm>
            <a:off x="216976" y="2277015"/>
            <a:ext cx="2727702" cy="369332"/>
          </a:xfrm>
          <a:prstGeom prst="rect">
            <a:avLst/>
          </a:prstGeom>
          <a:noFill/>
        </p:spPr>
        <p:txBody>
          <a:bodyPr wrap="square">
            <a:spAutoFit/>
          </a:bodyPr>
          <a:lstStyle/>
          <a:p>
            <a:pPr marL="285750" indent="-285750">
              <a:buFont typeface="Arial" panose="020B0604020202020204" pitchFamily="34" charset="0"/>
              <a:buChar char="•"/>
            </a:pPr>
            <a:r>
              <a:rPr lang="en-IN" b="1" dirty="0"/>
              <a:t>Install a Single Package</a:t>
            </a:r>
          </a:p>
        </p:txBody>
      </p:sp>
      <p:pic>
        <p:nvPicPr>
          <p:cNvPr id="10" name="Picture 9">
            <a:extLst>
              <a:ext uri="{FF2B5EF4-FFF2-40B4-BE49-F238E27FC236}">
                <a16:creationId xmlns:a16="http://schemas.microsoft.com/office/drawing/2014/main" id="{DC0E19B4-7D0E-803D-60B9-6E05D1A00FBF}"/>
              </a:ext>
            </a:extLst>
          </p:cNvPr>
          <p:cNvPicPr>
            <a:picLocks noChangeAspect="1"/>
          </p:cNvPicPr>
          <p:nvPr/>
        </p:nvPicPr>
        <p:blipFill>
          <a:blip r:embed="rId4"/>
          <a:stretch>
            <a:fillRect/>
          </a:stretch>
        </p:blipFill>
        <p:spPr>
          <a:xfrm>
            <a:off x="513224" y="2646347"/>
            <a:ext cx="5856580" cy="897281"/>
          </a:xfrm>
          <a:prstGeom prst="rect">
            <a:avLst/>
          </a:prstGeom>
        </p:spPr>
      </p:pic>
      <p:sp>
        <p:nvSpPr>
          <p:cNvPr id="12" name="TextBox 11">
            <a:extLst>
              <a:ext uri="{FF2B5EF4-FFF2-40B4-BE49-F238E27FC236}">
                <a16:creationId xmlns:a16="http://schemas.microsoft.com/office/drawing/2014/main" id="{2E51D9AC-365F-215D-90B9-C88CF0FA7D3F}"/>
              </a:ext>
            </a:extLst>
          </p:cNvPr>
          <p:cNvSpPr txBox="1"/>
          <p:nvPr/>
        </p:nvSpPr>
        <p:spPr>
          <a:xfrm>
            <a:off x="216976" y="3543628"/>
            <a:ext cx="6098582" cy="369332"/>
          </a:xfrm>
          <a:prstGeom prst="rect">
            <a:avLst/>
          </a:prstGeom>
          <a:noFill/>
        </p:spPr>
        <p:txBody>
          <a:bodyPr wrap="square">
            <a:spAutoFit/>
          </a:bodyPr>
          <a:lstStyle/>
          <a:p>
            <a:pPr marL="285750" indent="-285750">
              <a:buFont typeface="Arial" panose="020B0604020202020204" pitchFamily="34" charset="0"/>
              <a:buChar char="•"/>
            </a:pPr>
            <a:r>
              <a:rPr lang="en-US" b="1" dirty="0"/>
              <a:t>Install multiple packages at once</a:t>
            </a:r>
            <a:endParaRPr lang="en-IN" b="1" dirty="0"/>
          </a:p>
        </p:txBody>
      </p:sp>
      <p:pic>
        <p:nvPicPr>
          <p:cNvPr id="15" name="Picture 14">
            <a:extLst>
              <a:ext uri="{FF2B5EF4-FFF2-40B4-BE49-F238E27FC236}">
                <a16:creationId xmlns:a16="http://schemas.microsoft.com/office/drawing/2014/main" id="{F3FEDF84-2E11-5720-62AF-5D8AA81D644A}"/>
              </a:ext>
            </a:extLst>
          </p:cNvPr>
          <p:cNvPicPr>
            <a:picLocks noChangeAspect="1"/>
          </p:cNvPicPr>
          <p:nvPr/>
        </p:nvPicPr>
        <p:blipFill>
          <a:blip r:embed="rId5"/>
          <a:stretch>
            <a:fillRect/>
          </a:stretch>
        </p:blipFill>
        <p:spPr>
          <a:xfrm>
            <a:off x="515496" y="4165139"/>
            <a:ext cx="5854308" cy="891142"/>
          </a:xfrm>
          <a:prstGeom prst="rect">
            <a:avLst/>
          </a:prstGeom>
        </p:spPr>
      </p:pic>
      <p:sp>
        <p:nvSpPr>
          <p:cNvPr id="17" name="TextBox 16">
            <a:extLst>
              <a:ext uri="{FF2B5EF4-FFF2-40B4-BE49-F238E27FC236}">
                <a16:creationId xmlns:a16="http://schemas.microsoft.com/office/drawing/2014/main" id="{CD5A8AA8-6CEB-EFDB-9CDB-F0C6B3EAB4C3}"/>
              </a:ext>
            </a:extLst>
          </p:cNvPr>
          <p:cNvSpPr txBox="1"/>
          <p:nvPr/>
        </p:nvSpPr>
        <p:spPr>
          <a:xfrm>
            <a:off x="271222" y="5123794"/>
            <a:ext cx="6098582" cy="369332"/>
          </a:xfrm>
          <a:prstGeom prst="rect">
            <a:avLst/>
          </a:prstGeom>
          <a:noFill/>
        </p:spPr>
        <p:txBody>
          <a:bodyPr wrap="square">
            <a:spAutoFit/>
          </a:bodyPr>
          <a:lstStyle/>
          <a:p>
            <a:pPr marL="285750" indent="-285750">
              <a:buFont typeface="Arial" panose="020B0604020202020204" pitchFamily="34" charset="0"/>
              <a:buChar char="•"/>
            </a:pPr>
            <a:r>
              <a:rPr lang="en-US" b="1" dirty="0"/>
              <a:t>Install a package from a GitHub URL</a:t>
            </a:r>
            <a:endParaRPr lang="en-IN" b="1" dirty="0"/>
          </a:p>
        </p:txBody>
      </p:sp>
      <p:pic>
        <p:nvPicPr>
          <p:cNvPr id="19" name="Picture 18">
            <a:extLst>
              <a:ext uri="{FF2B5EF4-FFF2-40B4-BE49-F238E27FC236}">
                <a16:creationId xmlns:a16="http://schemas.microsoft.com/office/drawing/2014/main" id="{BBCE720B-B3FB-B692-7D37-022CBB9B4D04}"/>
              </a:ext>
            </a:extLst>
          </p:cNvPr>
          <p:cNvPicPr>
            <a:picLocks noChangeAspect="1"/>
          </p:cNvPicPr>
          <p:nvPr/>
        </p:nvPicPr>
        <p:blipFill>
          <a:blip r:embed="rId6"/>
          <a:stretch>
            <a:fillRect/>
          </a:stretch>
        </p:blipFill>
        <p:spPr>
          <a:xfrm>
            <a:off x="513224" y="5632350"/>
            <a:ext cx="5582776" cy="861440"/>
          </a:xfrm>
          <a:prstGeom prst="rect">
            <a:avLst/>
          </a:prstGeom>
        </p:spPr>
      </p:pic>
      <p:pic>
        <p:nvPicPr>
          <p:cNvPr id="20" name="Picture 2" descr="Learn Julia - Apps on Google Play">
            <a:extLst>
              <a:ext uri="{FF2B5EF4-FFF2-40B4-BE49-F238E27FC236}">
                <a16:creationId xmlns:a16="http://schemas.microsoft.com/office/drawing/2014/main" id="{BD4DCD43-C60E-20C3-005F-273F9B788B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16839" y="3058433"/>
            <a:ext cx="2065361" cy="2065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0626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DF134-053C-8E58-B5EF-5C1C0207E4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20F086-FC13-EB4D-CE78-391322742767}"/>
              </a:ext>
            </a:extLst>
          </p:cNvPr>
          <p:cNvSpPr>
            <a:spLocks noGrp="1"/>
          </p:cNvSpPr>
          <p:nvPr>
            <p:ph type="sldNum" sz="quarter" idx="12"/>
          </p:nvPr>
        </p:nvSpPr>
        <p:spPr/>
        <p:txBody>
          <a:bodyPr/>
          <a:lstStyle/>
          <a:p>
            <a:fld id="{8EC77227-B7F4-4800-97BE-1DE2687871B5}" type="slidenum">
              <a:rPr lang="en-IN" smtClean="0"/>
              <a:t>19</a:t>
            </a:fld>
            <a:endParaRPr lang="en-IN" dirty="0"/>
          </a:p>
        </p:txBody>
      </p:sp>
      <p:sp>
        <p:nvSpPr>
          <p:cNvPr id="3" name="TextBox 2">
            <a:extLst>
              <a:ext uri="{FF2B5EF4-FFF2-40B4-BE49-F238E27FC236}">
                <a16:creationId xmlns:a16="http://schemas.microsoft.com/office/drawing/2014/main" id="{BA83AFD9-D55B-C007-2018-68D22A24879E}"/>
              </a:ext>
            </a:extLst>
          </p:cNvPr>
          <p:cNvSpPr txBox="1"/>
          <p:nvPr/>
        </p:nvSpPr>
        <p:spPr>
          <a:xfrm>
            <a:off x="271222" y="112101"/>
            <a:ext cx="4804474" cy="461665"/>
          </a:xfrm>
          <a:prstGeom prst="rect">
            <a:avLst/>
          </a:prstGeom>
          <a:noFill/>
          <a:ln>
            <a:noFill/>
          </a:ln>
          <a:effectLst>
            <a:outerShdw blurRad="50800" dist="38100" dir="2700000" algn="tl" rotWithShape="0">
              <a:prstClr val="black">
                <a:alpha val="40000"/>
              </a:prstClr>
            </a:outerShdw>
          </a:effectLst>
        </p:spPr>
        <p:txBody>
          <a:bodyPr wrap="square" rtlCol="0">
            <a:spAutoFit/>
          </a:bodyPr>
          <a:lstStyle/>
          <a:p>
            <a:r>
              <a:rPr lang="en-US" sz="2400" b="1" dirty="0">
                <a:solidFill>
                  <a:srgbClr val="FF0000"/>
                </a:solidFill>
              </a:rPr>
              <a:t>Basic Plotting in Julia</a:t>
            </a:r>
            <a:endParaRPr lang="en-IN" sz="2400" b="1" dirty="0">
              <a:solidFill>
                <a:srgbClr val="FF0000"/>
              </a:solidFill>
            </a:endParaRPr>
          </a:p>
        </p:txBody>
      </p:sp>
      <p:pic>
        <p:nvPicPr>
          <p:cNvPr id="8" name="Google Shape;90;p1">
            <a:extLst>
              <a:ext uri="{FF2B5EF4-FFF2-40B4-BE49-F238E27FC236}">
                <a16:creationId xmlns:a16="http://schemas.microsoft.com/office/drawing/2014/main" id="{F91A433F-ED82-27AD-80BB-7DD582E7EEEA}"/>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6" name="TextBox 5">
            <a:extLst>
              <a:ext uri="{FF2B5EF4-FFF2-40B4-BE49-F238E27FC236}">
                <a16:creationId xmlns:a16="http://schemas.microsoft.com/office/drawing/2014/main" id="{CB0DB603-4B39-BA35-D78A-A530961F68AB}"/>
              </a:ext>
            </a:extLst>
          </p:cNvPr>
          <p:cNvSpPr txBox="1"/>
          <p:nvPr/>
        </p:nvSpPr>
        <p:spPr>
          <a:xfrm>
            <a:off x="271222" y="473604"/>
            <a:ext cx="10749732" cy="1295868"/>
          </a:xfrm>
          <a:prstGeom prst="rect">
            <a:avLst/>
          </a:prstGeom>
          <a:noFill/>
        </p:spPr>
        <p:txBody>
          <a:bodyPr wrap="square">
            <a:spAutoFit/>
          </a:bodyPr>
          <a:lstStyle/>
          <a:p>
            <a:pPr algn="just">
              <a:lnSpc>
                <a:spcPct val="150000"/>
              </a:lnSpc>
            </a:pPr>
            <a:r>
              <a:rPr lang="en-US" dirty="0"/>
              <a:t>Julia provides powerful and flexible tools for data visualization through packages such as </a:t>
            </a:r>
            <a:r>
              <a:rPr lang="en-US" b="1" dirty="0" err="1">
                <a:solidFill>
                  <a:srgbClr val="002060"/>
                </a:solidFill>
                <a:latin typeface="Courier New" panose="02070309020205020404" pitchFamily="49" charset="0"/>
              </a:rPr>
              <a:t>Plots.jl</a:t>
            </a:r>
            <a:r>
              <a:rPr lang="en-US" dirty="0"/>
              <a:t> and </a:t>
            </a:r>
            <a:r>
              <a:rPr lang="en-US" b="1" dirty="0" err="1">
                <a:solidFill>
                  <a:srgbClr val="002060"/>
                </a:solidFill>
                <a:latin typeface="Courier New" panose="02070309020205020404" pitchFamily="49" charset="0"/>
              </a:rPr>
              <a:t>Makie.jl</a:t>
            </a:r>
            <a:r>
              <a:rPr lang="en-US" b="1" dirty="0">
                <a:solidFill>
                  <a:srgbClr val="002060"/>
                </a:solidFill>
              </a:rPr>
              <a:t>.</a:t>
            </a:r>
            <a:r>
              <a:rPr lang="en-US" dirty="0"/>
              <a:t> With simple and intuitive syntax, users can quickly create line plots, scatter plots, histograms, and more. Basic plotting helps in understanding data patterns, trends, and distributions effectively.</a:t>
            </a:r>
            <a:endParaRPr lang="en-IN" dirty="0"/>
          </a:p>
        </p:txBody>
      </p:sp>
      <p:pic>
        <p:nvPicPr>
          <p:cNvPr id="11" name="Picture 10">
            <a:extLst>
              <a:ext uri="{FF2B5EF4-FFF2-40B4-BE49-F238E27FC236}">
                <a16:creationId xmlns:a16="http://schemas.microsoft.com/office/drawing/2014/main" id="{1C3F83CD-876A-B57A-2364-B4FF4A2B911C}"/>
              </a:ext>
            </a:extLst>
          </p:cNvPr>
          <p:cNvPicPr>
            <a:picLocks noChangeAspect="1"/>
          </p:cNvPicPr>
          <p:nvPr/>
        </p:nvPicPr>
        <p:blipFill>
          <a:blip r:embed="rId4"/>
          <a:stretch>
            <a:fillRect/>
          </a:stretch>
        </p:blipFill>
        <p:spPr>
          <a:xfrm>
            <a:off x="291423" y="1769472"/>
            <a:ext cx="5480587" cy="1558461"/>
          </a:xfrm>
          <a:prstGeom prst="rect">
            <a:avLst/>
          </a:prstGeom>
        </p:spPr>
      </p:pic>
      <p:pic>
        <p:nvPicPr>
          <p:cNvPr id="14" name="Picture 13">
            <a:extLst>
              <a:ext uri="{FF2B5EF4-FFF2-40B4-BE49-F238E27FC236}">
                <a16:creationId xmlns:a16="http://schemas.microsoft.com/office/drawing/2014/main" id="{99AA0129-39A4-12B0-C7D3-7E672A75D9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4744" y="3207008"/>
            <a:ext cx="5144146" cy="3429431"/>
          </a:xfrm>
          <a:prstGeom prst="rect">
            <a:avLst/>
          </a:prstGeom>
        </p:spPr>
      </p:pic>
      <p:pic>
        <p:nvPicPr>
          <p:cNvPr id="22" name="Picture 21">
            <a:extLst>
              <a:ext uri="{FF2B5EF4-FFF2-40B4-BE49-F238E27FC236}">
                <a16:creationId xmlns:a16="http://schemas.microsoft.com/office/drawing/2014/main" id="{201728F6-A1CB-C613-517B-4117D667D071}"/>
              </a:ext>
            </a:extLst>
          </p:cNvPr>
          <p:cNvPicPr>
            <a:picLocks noChangeAspect="1"/>
          </p:cNvPicPr>
          <p:nvPr/>
        </p:nvPicPr>
        <p:blipFill>
          <a:blip r:embed="rId6"/>
          <a:stretch>
            <a:fillRect/>
          </a:stretch>
        </p:blipFill>
        <p:spPr>
          <a:xfrm>
            <a:off x="5955868" y="1810995"/>
            <a:ext cx="5964910" cy="1516938"/>
          </a:xfrm>
          <a:prstGeom prst="rect">
            <a:avLst/>
          </a:prstGeom>
        </p:spPr>
      </p:pic>
      <p:pic>
        <p:nvPicPr>
          <p:cNvPr id="24" name="Picture 23">
            <a:extLst>
              <a:ext uri="{FF2B5EF4-FFF2-40B4-BE49-F238E27FC236}">
                <a16:creationId xmlns:a16="http://schemas.microsoft.com/office/drawing/2014/main" id="{CD301BCD-2B48-C7A2-0FBF-FF4C02E117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54766" y="3131544"/>
            <a:ext cx="4999034" cy="3332689"/>
          </a:xfrm>
          <a:prstGeom prst="rect">
            <a:avLst/>
          </a:prstGeom>
        </p:spPr>
      </p:pic>
    </p:spTree>
    <p:extLst>
      <p:ext uri="{BB962C8B-B14F-4D97-AF65-F5344CB8AC3E}">
        <p14:creationId xmlns:p14="http://schemas.microsoft.com/office/powerpoint/2010/main" val="373984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D8ECA7-56D3-D7BC-975D-F9ADC5725219}"/>
              </a:ext>
            </a:extLst>
          </p:cNvPr>
          <p:cNvSpPr>
            <a:spLocks noGrp="1"/>
          </p:cNvSpPr>
          <p:nvPr>
            <p:ph type="sldNum" sz="quarter" idx="12"/>
          </p:nvPr>
        </p:nvSpPr>
        <p:spPr/>
        <p:txBody>
          <a:bodyPr/>
          <a:lstStyle/>
          <a:p>
            <a:fld id="{8EC77227-B7F4-4800-97BE-1DE2687871B5}" type="slidenum">
              <a:rPr lang="en-IN" smtClean="0"/>
              <a:t>20</a:t>
            </a:fld>
            <a:endParaRPr lang="en-IN" dirty="0"/>
          </a:p>
        </p:txBody>
      </p:sp>
      <p:sp>
        <p:nvSpPr>
          <p:cNvPr id="6" name="TextBox 5">
            <a:extLst>
              <a:ext uri="{FF2B5EF4-FFF2-40B4-BE49-F238E27FC236}">
                <a16:creationId xmlns:a16="http://schemas.microsoft.com/office/drawing/2014/main" id="{8E947212-C1F5-3EFC-FF8B-31121A89C868}"/>
              </a:ext>
            </a:extLst>
          </p:cNvPr>
          <p:cNvSpPr txBox="1"/>
          <p:nvPr/>
        </p:nvSpPr>
        <p:spPr>
          <a:xfrm>
            <a:off x="305338" y="109939"/>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
        <p:nvSpPr>
          <p:cNvPr id="4" name="TextBox 3">
            <a:extLst>
              <a:ext uri="{FF2B5EF4-FFF2-40B4-BE49-F238E27FC236}">
                <a16:creationId xmlns:a16="http://schemas.microsoft.com/office/drawing/2014/main" id="{546C19F2-9588-1D81-0A00-B77AFB8D5C48}"/>
              </a:ext>
            </a:extLst>
          </p:cNvPr>
          <p:cNvSpPr txBox="1"/>
          <p:nvPr/>
        </p:nvSpPr>
        <p:spPr>
          <a:xfrm>
            <a:off x="341193" y="738611"/>
            <a:ext cx="2552132" cy="400110"/>
          </a:xfrm>
          <a:prstGeom prst="rect">
            <a:avLst/>
          </a:prstGeom>
          <a:noFill/>
        </p:spPr>
        <p:txBody>
          <a:bodyPr wrap="square" rtlCol="0">
            <a:spAutoFit/>
          </a:bodyPr>
          <a:lstStyle/>
          <a:p>
            <a:r>
              <a:rPr lang="en-US" sz="2000" b="1" dirty="0">
                <a:solidFill>
                  <a:srgbClr val="00B050"/>
                </a:solidFill>
              </a:rPr>
              <a:t>Binomial Distribution</a:t>
            </a:r>
            <a:endParaRPr lang="en-IN" sz="2000" b="1" dirty="0">
              <a:solidFill>
                <a:srgbClr val="00B050"/>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8B332C6-D654-6478-06A0-02233AEE85FB}"/>
                  </a:ext>
                </a:extLst>
              </p:cNvPr>
              <p:cNvSpPr txBox="1"/>
              <p:nvPr/>
            </p:nvSpPr>
            <p:spPr>
              <a:xfrm>
                <a:off x="341193" y="1032880"/>
                <a:ext cx="11341291" cy="879664"/>
              </a:xfrm>
              <a:prstGeom prst="rect">
                <a:avLst/>
              </a:prstGeom>
              <a:noFill/>
            </p:spPr>
            <p:txBody>
              <a:bodyPr wrap="square">
                <a:spAutoFit/>
              </a:bodyPr>
              <a:lstStyle/>
              <a:p>
                <a:pPr marL="0" lvl="0" indent="0" algn="just">
                  <a:lnSpc>
                    <a:spcPct val="150000"/>
                  </a:lnSpc>
                  <a:buNone/>
                </a:pPr>
                <a:r>
                  <a:rPr lang="en-US" sz="1800" dirty="0"/>
                  <a:t>The binomial distribution describes the probability of </a:t>
                </a:r>
                <a14:m>
                  <m:oMath xmlns:m="http://schemas.openxmlformats.org/officeDocument/2006/math">
                    <m:r>
                      <a:rPr lang="en-US" sz="1800">
                        <a:latin typeface="Cambria Math" panose="02040503050406030204" pitchFamily="18" charset="0"/>
                      </a:rPr>
                      <m:t>𝑘</m:t>
                    </m:r>
                  </m:oMath>
                </a14:m>
                <a:r>
                  <a:rPr lang="en-US" sz="1800" dirty="0"/>
                  <a:t> successes in n independent Bernoulli trials with success probability </a:t>
                </a:r>
                <a14:m>
                  <m:oMath xmlns:m="http://schemas.openxmlformats.org/officeDocument/2006/math">
                    <m:r>
                      <a:rPr lang="en-US" sz="1800">
                        <a:latin typeface="Cambria Math" panose="02040503050406030204" pitchFamily="18" charset="0"/>
                      </a:rPr>
                      <m:t>𝑝</m:t>
                    </m:r>
                  </m:oMath>
                </a14:m>
                <a:r>
                  <a:rPr lang="en-US" sz="1800" dirty="0"/>
                  <a:t>. The PMF is:</a:t>
                </a:r>
              </a:p>
            </p:txBody>
          </p:sp>
        </mc:Choice>
        <mc:Fallback xmlns="">
          <p:sp>
            <p:nvSpPr>
              <p:cNvPr id="9" name="TextBox 8">
                <a:extLst>
                  <a:ext uri="{FF2B5EF4-FFF2-40B4-BE49-F238E27FC236}">
                    <a16:creationId xmlns:a16="http://schemas.microsoft.com/office/drawing/2014/main" id="{08B332C6-D654-6478-06A0-02233AEE85FB}"/>
                  </a:ext>
                </a:extLst>
              </p:cNvPr>
              <p:cNvSpPr txBox="1">
                <a:spLocks noRot="1" noChangeAspect="1" noMove="1" noResize="1" noEditPoints="1" noAdjustHandles="1" noChangeArrowheads="1" noChangeShapeType="1" noTextEdit="1"/>
              </p:cNvSpPr>
              <p:nvPr/>
            </p:nvSpPr>
            <p:spPr>
              <a:xfrm>
                <a:off x="341193" y="1032880"/>
                <a:ext cx="11341291" cy="879664"/>
              </a:xfrm>
              <a:prstGeom prst="rect">
                <a:avLst/>
              </a:prstGeom>
              <a:blipFill>
                <a:blip r:embed="rId3"/>
                <a:stretch>
                  <a:fillRect l="-484" r="-430" b="-965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3389BBC-9EE5-0C1B-FE1E-5686352D90DE}"/>
                  </a:ext>
                </a:extLst>
              </p:cNvPr>
              <p:cNvSpPr txBox="1"/>
              <p:nvPr/>
            </p:nvSpPr>
            <p:spPr>
              <a:xfrm>
                <a:off x="2542464" y="1856803"/>
                <a:ext cx="7107071" cy="566694"/>
              </a:xfrm>
              <a:prstGeom prst="rect">
                <a:avLst/>
              </a:prstGeom>
              <a:noFill/>
            </p:spPr>
            <p:txBody>
              <a:bodyPr wrap="square">
                <a:spAutoFit/>
              </a:bodyPr>
              <a:lstStyle/>
              <a:p>
                <a:pPr marL="0" lvl="0" indent="0" algn="just">
                  <a:buNone/>
                </a:pPr>
                <a14:m>
                  <m:oMathPara xmlns:m="http://schemas.openxmlformats.org/officeDocument/2006/math">
                    <m:oMathParaPr>
                      <m:jc m:val="center"/>
                    </m:oMathParaPr>
                    <m:oMath xmlns:m="http://schemas.openxmlformats.org/officeDocument/2006/math">
                      <m:r>
                        <a:rPr lang="ar-AE" sz="1800" smtClean="0">
                          <a:latin typeface="Cambria Math" panose="02040503050406030204" pitchFamily="18" charset="0"/>
                        </a:rPr>
                        <m:t>𝑃</m:t>
                      </m:r>
                      <m:d>
                        <m:dPr>
                          <m:ctrlPr>
                            <a:rPr lang="ar-AE" sz="1800" i="1">
                              <a:latin typeface="Cambria Math" panose="02040503050406030204" pitchFamily="18" charset="0"/>
                            </a:rPr>
                          </m:ctrlPr>
                        </m:dPr>
                        <m:e>
                          <m:r>
                            <a:rPr lang="ar-AE" sz="1800">
                              <a:latin typeface="Cambria Math" panose="02040503050406030204" pitchFamily="18" charset="0"/>
                            </a:rPr>
                            <m:t>𝑋</m:t>
                          </m:r>
                          <m:r>
                            <a:rPr lang="ar-AE" sz="1800">
                              <a:latin typeface="Cambria Math" panose="02040503050406030204" pitchFamily="18" charset="0"/>
                            </a:rPr>
                            <m:t>=</m:t>
                          </m:r>
                          <m:r>
                            <a:rPr lang="ar-AE" sz="1800">
                              <a:latin typeface="Cambria Math" panose="02040503050406030204" pitchFamily="18" charset="0"/>
                            </a:rPr>
                            <m:t>𝑘</m:t>
                          </m:r>
                          <m:r>
                            <a:rPr lang="ar-AE" sz="1800">
                              <a:latin typeface="Cambria Math" panose="02040503050406030204" pitchFamily="18" charset="0"/>
                            </a:rPr>
                            <m:t>∣</m:t>
                          </m:r>
                          <m:r>
                            <a:rPr lang="ar-AE" sz="1800">
                              <a:latin typeface="Cambria Math" panose="02040503050406030204" pitchFamily="18" charset="0"/>
                            </a:rPr>
                            <m:t>𝑝</m:t>
                          </m:r>
                        </m:e>
                      </m:d>
                      <m:r>
                        <a:rPr lang="ar-AE" sz="1800">
                          <a:latin typeface="Cambria Math" panose="02040503050406030204" pitchFamily="18" charset="0"/>
                        </a:rPr>
                        <m:t>=</m:t>
                      </m:r>
                      <m:d>
                        <m:dPr>
                          <m:ctrlPr>
                            <a:rPr lang="ar-AE" sz="1800" i="1">
                              <a:latin typeface="Cambria Math" panose="02040503050406030204" pitchFamily="18" charset="0"/>
                            </a:rPr>
                          </m:ctrlPr>
                        </m:dPr>
                        <m:e>
                          <m:f>
                            <m:fPr>
                              <m:type m:val="noBar"/>
                              <m:ctrlPr>
                                <a:rPr lang="ar-AE" sz="1800" i="1">
                                  <a:latin typeface="Cambria Math" panose="02040503050406030204" pitchFamily="18" charset="0"/>
                                </a:rPr>
                              </m:ctrlPr>
                            </m:fPr>
                            <m:num>
                              <m:r>
                                <a:rPr lang="ar-AE" sz="1800">
                                  <a:latin typeface="Cambria Math" panose="02040503050406030204" pitchFamily="18" charset="0"/>
                                </a:rPr>
                                <m:t>𝑛</m:t>
                              </m:r>
                            </m:num>
                            <m:den>
                              <m:r>
                                <a:rPr lang="ar-AE" sz="1800">
                                  <a:latin typeface="Cambria Math" panose="02040503050406030204" pitchFamily="18" charset="0"/>
                                </a:rPr>
                                <m:t>𝑘</m:t>
                              </m:r>
                            </m:den>
                          </m:f>
                        </m:e>
                      </m:d>
                      <m:sSup>
                        <m:sSupPr>
                          <m:ctrlPr>
                            <a:rPr lang="ar-AE" sz="1800" i="1">
                              <a:latin typeface="Cambria Math" panose="02040503050406030204" pitchFamily="18" charset="0"/>
                            </a:rPr>
                          </m:ctrlPr>
                        </m:sSupPr>
                        <m:e>
                          <m:r>
                            <a:rPr lang="ar-AE" sz="1800">
                              <a:latin typeface="Cambria Math" panose="02040503050406030204" pitchFamily="18" charset="0"/>
                            </a:rPr>
                            <m:t>𝑝</m:t>
                          </m:r>
                        </m:e>
                        <m:sup>
                          <m:r>
                            <a:rPr lang="ar-AE" sz="1800">
                              <a:latin typeface="Cambria Math" panose="02040503050406030204" pitchFamily="18" charset="0"/>
                            </a:rPr>
                            <m:t>𝑘</m:t>
                          </m:r>
                        </m:sup>
                      </m:sSup>
                      <m:sSup>
                        <m:sSupPr>
                          <m:ctrlPr>
                            <a:rPr lang="ar-AE" sz="1800" i="1">
                              <a:latin typeface="Cambria Math" panose="02040503050406030204" pitchFamily="18" charset="0"/>
                            </a:rPr>
                          </m:ctrlPr>
                        </m:sSupPr>
                        <m:e>
                          <m:d>
                            <m:dPr>
                              <m:ctrlPr>
                                <a:rPr lang="ar-AE" sz="1800" i="1">
                                  <a:latin typeface="Cambria Math" panose="02040503050406030204" pitchFamily="18" charset="0"/>
                                </a:rPr>
                              </m:ctrlPr>
                            </m:dPr>
                            <m:e>
                              <m:r>
                                <a:rPr lang="ar-AE" sz="1800">
                                  <a:latin typeface="Cambria Math" panose="02040503050406030204" pitchFamily="18" charset="0"/>
                                </a:rPr>
                                <m:t>1</m:t>
                              </m:r>
                              <m:r>
                                <a:rPr lang="ar-AE" sz="1800">
                                  <a:latin typeface="Cambria Math" panose="02040503050406030204" pitchFamily="18" charset="0"/>
                                </a:rPr>
                                <m:t>−</m:t>
                              </m:r>
                              <m:r>
                                <a:rPr lang="ar-AE" sz="1800">
                                  <a:latin typeface="Cambria Math" panose="02040503050406030204" pitchFamily="18" charset="0"/>
                                </a:rPr>
                                <m:t>𝑝</m:t>
                              </m:r>
                            </m:e>
                          </m:d>
                        </m:e>
                        <m:sup>
                          <m:r>
                            <a:rPr lang="ar-AE" sz="1800">
                              <a:latin typeface="Cambria Math" panose="02040503050406030204" pitchFamily="18" charset="0"/>
                            </a:rPr>
                            <m:t>𝑛</m:t>
                          </m:r>
                          <m:r>
                            <a:rPr lang="ar-AE" sz="1800">
                              <a:latin typeface="Cambria Math" panose="02040503050406030204" pitchFamily="18" charset="0"/>
                            </a:rPr>
                            <m:t>−</m:t>
                          </m:r>
                          <m:r>
                            <a:rPr lang="ar-AE" sz="1800">
                              <a:latin typeface="Cambria Math" panose="02040503050406030204" pitchFamily="18" charset="0"/>
                            </a:rPr>
                            <m:t>𝑘</m:t>
                          </m:r>
                        </m:sup>
                      </m:sSup>
                      <m:r>
                        <a:rPr lang="ar-AE" sz="1800">
                          <a:latin typeface="Cambria Math" panose="02040503050406030204" pitchFamily="18" charset="0"/>
                        </a:rPr>
                        <m:t>, </m:t>
                      </m:r>
                      <m:r>
                        <a:rPr lang="ar-AE" sz="1800">
                          <a:latin typeface="Cambria Math" panose="02040503050406030204" pitchFamily="18" charset="0"/>
                        </a:rPr>
                        <m:t>𝑘</m:t>
                      </m:r>
                      <m:r>
                        <a:rPr lang="ar-AE" sz="1800">
                          <a:latin typeface="Cambria Math" panose="02040503050406030204" pitchFamily="18" charset="0"/>
                        </a:rPr>
                        <m:t>=</m:t>
                      </m:r>
                      <m:r>
                        <a:rPr lang="ar-AE" sz="1800">
                          <a:latin typeface="Cambria Math" panose="02040503050406030204" pitchFamily="18" charset="0"/>
                        </a:rPr>
                        <m:t>0</m:t>
                      </m:r>
                      <m:r>
                        <a:rPr lang="ar-AE" sz="1800">
                          <a:latin typeface="Cambria Math" panose="02040503050406030204" pitchFamily="18" charset="0"/>
                        </a:rPr>
                        <m:t>,</m:t>
                      </m:r>
                      <m:r>
                        <a:rPr lang="ar-AE" sz="1800">
                          <a:latin typeface="Cambria Math" panose="02040503050406030204" pitchFamily="18" charset="0"/>
                        </a:rPr>
                        <m:t>1</m:t>
                      </m:r>
                      <m:r>
                        <a:rPr lang="ar-AE" sz="1800">
                          <a:latin typeface="Cambria Math" panose="02040503050406030204" pitchFamily="18" charset="0"/>
                        </a:rPr>
                        <m:t>,…,</m:t>
                      </m:r>
                      <m:r>
                        <a:rPr lang="ar-AE" sz="1800">
                          <a:latin typeface="Cambria Math" panose="02040503050406030204" pitchFamily="18" charset="0"/>
                        </a:rPr>
                        <m:t>𝑛</m:t>
                      </m:r>
                      <m:r>
                        <a:rPr lang="ar-AE" sz="1800">
                          <a:latin typeface="Cambria Math" panose="02040503050406030204" pitchFamily="18" charset="0"/>
                        </a:rPr>
                        <m:t>; </m:t>
                      </m:r>
                      <m:r>
                        <a:rPr lang="ar-AE" sz="1800">
                          <a:latin typeface="Cambria Math" panose="02040503050406030204" pitchFamily="18" charset="0"/>
                        </a:rPr>
                        <m:t>0</m:t>
                      </m:r>
                      <m:r>
                        <a:rPr lang="ar-AE" sz="1800">
                          <a:latin typeface="Cambria Math" panose="02040503050406030204" pitchFamily="18" charset="0"/>
                        </a:rPr>
                        <m:t>≤</m:t>
                      </m:r>
                      <m:r>
                        <a:rPr lang="ar-AE" sz="1800">
                          <a:latin typeface="Cambria Math" panose="02040503050406030204" pitchFamily="18" charset="0"/>
                        </a:rPr>
                        <m:t>𝑝</m:t>
                      </m:r>
                      <m:r>
                        <a:rPr lang="ar-AE" sz="1800">
                          <a:latin typeface="Cambria Math" panose="02040503050406030204" pitchFamily="18" charset="0"/>
                        </a:rPr>
                        <m:t>≤</m:t>
                      </m:r>
                      <m:r>
                        <a:rPr lang="ar-AE" sz="1800">
                          <a:latin typeface="Cambria Math" panose="02040503050406030204" pitchFamily="18" charset="0"/>
                        </a:rPr>
                        <m:t>1</m:t>
                      </m:r>
                    </m:oMath>
                  </m:oMathPara>
                </a14:m>
                <a:endParaRPr lang="ar-AE" sz="1800" dirty="0"/>
              </a:p>
            </p:txBody>
          </p:sp>
        </mc:Choice>
        <mc:Fallback xmlns="">
          <p:sp>
            <p:nvSpPr>
              <p:cNvPr id="11" name="TextBox 10">
                <a:extLst>
                  <a:ext uri="{FF2B5EF4-FFF2-40B4-BE49-F238E27FC236}">
                    <a16:creationId xmlns:a16="http://schemas.microsoft.com/office/drawing/2014/main" id="{F3389BBC-9EE5-0C1B-FE1E-5686352D90DE}"/>
                  </a:ext>
                </a:extLst>
              </p:cNvPr>
              <p:cNvSpPr txBox="1">
                <a:spLocks noRot="1" noChangeAspect="1" noMove="1" noResize="1" noEditPoints="1" noAdjustHandles="1" noChangeArrowheads="1" noChangeShapeType="1" noTextEdit="1"/>
              </p:cNvSpPr>
              <p:nvPr/>
            </p:nvSpPr>
            <p:spPr>
              <a:xfrm>
                <a:off x="2542464" y="1856803"/>
                <a:ext cx="7107071" cy="56669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D15B87F-1646-7141-0FA3-320DFD29AC13}"/>
                  </a:ext>
                </a:extLst>
              </p:cNvPr>
              <p:cNvSpPr txBox="1"/>
              <p:nvPr/>
            </p:nvSpPr>
            <p:spPr>
              <a:xfrm>
                <a:off x="341194" y="2505592"/>
                <a:ext cx="11341290" cy="879664"/>
              </a:xfrm>
              <a:prstGeom prst="rect">
                <a:avLst/>
              </a:prstGeom>
              <a:noFill/>
            </p:spPr>
            <p:txBody>
              <a:bodyPr wrap="square">
                <a:spAutoFit/>
              </a:bodyPr>
              <a:lstStyle/>
              <a:p>
                <a:pPr marL="0" lvl="0" indent="0" algn="just">
                  <a:lnSpc>
                    <a:spcPct val="150000"/>
                  </a:lnSpc>
                  <a:buNone/>
                </a:pPr>
                <a:r>
                  <a:rPr lang="en-US" sz="1800" dirty="0"/>
                  <a:t>For the example of an ecological study on a rare plant species, </a:t>
                </a:r>
                <a14:m>
                  <m:oMath xmlns:m="http://schemas.openxmlformats.org/officeDocument/2006/math">
                    <m:r>
                      <a:rPr lang="en-US" sz="1800">
                        <a:latin typeface="Cambria Math" panose="02040503050406030204" pitchFamily="18" charset="0"/>
                      </a:rPr>
                      <m:t>𝑛</m:t>
                    </m:r>
                    <m:r>
                      <a:rPr lang="en-US" sz="1800">
                        <a:latin typeface="Cambria Math" panose="02040503050406030204" pitchFamily="18" charset="0"/>
                      </a:rPr>
                      <m:t>=</m:t>
                    </m:r>
                    <m:r>
                      <a:rPr lang="en-US" sz="1800">
                        <a:latin typeface="Cambria Math" panose="02040503050406030204" pitchFamily="18" charset="0"/>
                      </a:rPr>
                      <m:t>10</m:t>
                    </m:r>
                  </m:oMath>
                </a14:m>
                <a:r>
                  <a:rPr lang="en-US" sz="1800" dirty="0"/>
                  <a:t> and </a:t>
                </a:r>
                <a14:m>
                  <m:oMath xmlns:m="http://schemas.openxmlformats.org/officeDocument/2006/math">
                    <m:r>
                      <a:rPr lang="en-US" sz="1800">
                        <a:latin typeface="Cambria Math" panose="02040503050406030204" pitchFamily="18" charset="0"/>
                      </a:rPr>
                      <m:t>𝑝</m:t>
                    </m:r>
                    <m:r>
                      <a:rPr lang="en-US" sz="1800">
                        <a:latin typeface="Cambria Math" panose="02040503050406030204" pitchFamily="18" charset="0"/>
                      </a:rPr>
                      <m:t>=</m:t>
                    </m:r>
                    <m:r>
                      <a:rPr lang="en-US" sz="1800">
                        <a:latin typeface="Cambria Math" panose="02040503050406030204" pitchFamily="18" charset="0"/>
                      </a:rPr>
                      <m:t>0</m:t>
                    </m:r>
                    <m:r>
                      <a:rPr lang="en-US" sz="1800">
                        <a:latin typeface="Cambria Math" panose="02040503050406030204" pitchFamily="18" charset="0"/>
                      </a:rPr>
                      <m:t>.</m:t>
                    </m:r>
                    <m:r>
                      <a:rPr lang="en-US" sz="1800">
                        <a:latin typeface="Cambria Math" panose="02040503050406030204" pitchFamily="18" charset="0"/>
                      </a:rPr>
                      <m:t>3</m:t>
                    </m:r>
                  </m:oMath>
                </a14:m>
                <a:r>
                  <a:rPr lang="en-US" sz="1800" dirty="0"/>
                  <a:t>, representing the probability that a rare plant is found at a given location. The probability of observing exactly </a:t>
                </a:r>
                <a14:m>
                  <m:oMath xmlns:m="http://schemas.openxmlformats.org/officeDocument/2006/math">
                    <m:r>
                      <a:rPr lang="en-US" sz="1800">
                        <a:latin typeface="Cambria Math" panose="02040503050406030204" pitchFamily="18" charset="0"/>
                      </a:rPr>
                      <m:t>𝑘</m:t>
                    </m:r>
                  </m:oMath>
                </a14:m>
                <a:r>
                  <a:rPr lang="en-US" sz="1800" dirty="0"/>
                  <a:t> successes can be calculated as:</a:t>
                </a:r>
              </a:p>
            </p:txBody>
          </p:sp>
        </mc:Choice>
        <mc:Fallback xmlns="">
          <p:sp>
            <p:nvSpPr>
              <p:cNvPr id="13" name="TextBox 12">
                <a:extLst>
                  <a:ext uri="{FF2B5EF4-FFF2-40B4-BE49-F238E27FC236}">
                    <a16:creationId xmlns:a16="http://schemas.microsoft.com/office/drawing/2014/main" id="{6D15B87F-1646-7141-0FA3-320DFD29AC13}"/>
                  </a:ext>
                </a:extLst>
              </p:cNvPr>
              <p:cNvSpPr txBox="1">
                <a:spLocks noRot="1" noChangeAspect="1" noMove="1" noResize="1" noEditPoints="1" noAdjustHandles="1" noChangeArrowheads="1" noChangeShapeType="1" noTextEdit="1"/>
              </p:cNvSpPr>
              <p:nvPr/>
            </p:nvSpPr>
            <p:spPr>
              <a:xfrm>
                <a:off x="341194" y="2505592"/>
                <a:ext cx="11341290" cy="879664"/>
              </a:xfrm>
              <a:prstGeom prst="rect">
                <a:avLst/>
              </a:prstGeom>
              <a:blipFill>
                <a:blip r:embed="rId5"/>
                <a:stretch>
                  <a:fillRect l="-484" r="-430" b="-10417"/>
                </a:stretch>
              </a:blipFill>
            </p:spPr>
            <p:txBody>
              <a:bodyPr/>
              <a:lstStyle/>
              <a:p>
                <a:r>
                  <a:rPr lang="en-IN">
                    <a:noFill/>
                  </a:rPr>
                  <a:t> </a:t>
                </a:r>
              </a:p>
            </p:txBody>
          </p:sp>
        </mc:Fallback>
      </mc:AlternateContent>
      <p:pic>
        <p:nvPicPr>
          <p:cNvPr id="17" name="Picture 16">
            <a:extLst>
              <a:ext uri="{FF2B5EF4-FFF2-40B4-BE49-F238E27FC236}">
                <a16:creationId xmlns:a16="http://schemas.microsoft.com/office/drawing/2014/main" id="{6FEC70CA-99C2-9C1A-D01D-166830EDC9E6}"/>
              </a:ext>
            </a:extLst>
          </p:cNvPr>
          <p:cNvPicPr>
            <a:picLocks noChangeAspect="1"/>
          </p:cNvPicPr>
          <p:nvPr/>
        </p:nvPicPr>
        <p:blipFill>
          <a:blip r:embed="rId6"/>
          <a:stretch>
            <a:fillRect/>
          </a:stretch>
        </p:blipFill>
        <p:spPr>
          <a:xfrm>
            <a:off x="6069841" y="3633815"/>
            <a:ext cx="5081517" cy="2949171"/>
          </a:xfrm>
          <a:prstGeom prst="rect">
            <a:avLst/>
          </a:prstGeom>
        </p:spPr>
      </p:pic>
      <p:pic>
        <p:nvPicPr>
          <p:cNvPr id="19" name="Picture 18">
            <a:extLst>
              <a:ext uri="{FF2B5EF4-FFF2-40B4-BE49-F238E27FC236}">
                <a16:creationId xmlns:a16="http://schemas.microsoft.com/office/drawing/2014/main" id="{FF4E30AF-F2BD-B662-6033-1E790C68EF12}"/>
              </a:ext>
            </a:extLst>
          </p:cNvPr>
          <p:cNvPicPr>
            <a:picLocks noChangeAspect="1"/>
          </p:cNvPicPr>
          <p:nvPr/>
        </p:nvPicPr>
        <p:blipFill>
          <a:blip r:embed="rId7"/>
          <a:stretch>
            <a:fillRect/>
          </a:stretch>
        </p:blipFill>
        <p:spPr>
          <a:xfrm>
            <a:off x="341193" y="3697508"/>
            <a:ext cx="5544324" cy="2495898"/>
          </a:xfrm>
          <a:prstGeom prst="rect">
            <a:avLst/>
          </a:prstGeom>
        </p:spPr>
      </p:pic>
      <p:pic>
        <p:nvPicPr>
          <p:cNvPr id="5" name="Google Shape;90;p1">
            <a:extLst>
              <a:ext uri="{FF2B5EF4-FFF2-40B4-BE49-F238E27FC236}">
                <a16:creationId xmlns:a16="http://schemas.microsoft.com/office/drawing/2014/main" id="{19CC5EC4-2E36-76B9-A0AE-1EAC192677F8}"/>
              </a:ext>
            </a:extLst>
          </p:cNvPr>
          <p:cNvPicPr preferRelativeResize="0"/>
          <p:nvPr/>
        </p:nvPicPr>
        <p:blipFill rotWithShape="1">
          <a:blip r:embed="rId8">
            <a:alphaModFix/>
          </a:blip>
          <a:srcRect/>
          <a:stretch/>
        </p:blipFill>
        <p:spPr>
          <a:xfrm>
            <a:off x="11204812" y="0"/>
            <a:ext cx="987188" cy="1201171"/>
          </a:xfrm>
          <a:prstGeom prst="rect">
            <a:avLst/>
          </a:prstGeom>
          <a:noFill/>
          <a:ln>
            <a:noFill/>
          </a:ln>
        </p:spPr>
      </p:pic>
    </p:spTree>
    <p:extLst>
      <p:ext uri="{BB962C8B-B14F-4D97-AF65-F5344CB8AC3E}">
        <p14:creationId xmlns:p14="http://schemas.microsoft.com/office/powerpoint/2010/main" val="803295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11764-90D2-548C-E8D8-D5305423187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C1B44A2-4136-E396-30BA-4F09757C4630}"/>
              </a:ext>
            </a:extLst>
          </p:cNvPr>
          <p:cNvSpPr txBox="1"/>
          <p:nvPr/>
        </p:nvSpPr>
        <p:spPr>
          <a:xfrm>
            <a:off x="338776" y="138920"/>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
        <p:nvSpPr>
          <p:cNvPr id="4" name="TextBox 3">
            <a:extLst>
              <a:ext uri="{FF2B5EF4-FFF2-40B4-BE49-F238E27FC236}">
                <a16:creationId xmlns:a16="http://schemas.microsoft.com/office/drawing/2014/main" id="{6669BB30-0D16-6F56-6621-95BF3A007BB9}"/>
              </a:ext>
            </a:extLst>
          </p:cNvPr>
          <p:cNvSpPr txBox="1"/>
          <p:nvPr/>
        </p:nvSpPr>
        <p:spPr>
          <a:xfrm>
            <a:off x="338776" y="705768"/>
            <a:ext cx="2552132" cy="400110"/>
          </a:xfrm>
          <a:prstGeom prst="rect">
            <a:avLst/>
          </a:prstGeom>
          <a:noFill/>
        </p:spPr>
        <p:txBody>
          <a:bodyPr wrap="square" rtlCol="0">
            <a:spAutoFit/>
          </a:bodyPr>
          <a:lstStyle/>
          <a:p>
            <a:r>
              <a:rPr lang="en-US" sz="2000" b="1" dirty="0">
                <a:solidFill>
                  <a:srgbClr val="00B050"/>
                </a:solidFill>
              </a:rPr>
              <a:t>Binomial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097F87DB-F497-DB02-F133-E292D3483397}"/>
              </a:ext>
            </a:extLst>
          </p:cNvPr>
          <p:cNvSpPr txBox="1"/>
          <p:nvPr/>
        </p:nvSpPr>
        <p:spPr>
          <a:xfrm>
            <a:off x="338776" y="995968"/>
            <a:ext cx="11341291" cy="880369"/>
          </a:xfrm>
          <a:prstGeom prst="rect">
            <a:avLst/>
          </a:prstGeom>
          <a:noFill/>
        </p:spPr>
        <p:txBody>
          <a:bodyPr wrap="square">
            <a:spAutoFit/>
          </a:bodyPr>
          <a:lstStyle/>
          <a:p>
            <a:pPr lvl="0" algn="just">
              <a:lnSpc>
                <a:spcPct val="150000"/>
              </a:lnSpc>
            </a:pPr>
            <a:r>
              <a:rPr lang="en-US" dirty="0"/>
              <a:t>To visualize how the binomial distribution behaves under different values of 𝑛 and 𝑝, we generate a plot and its PMF for three parameter combinations</a:t>
            </a:r>
            <a:endParaRPr lang="en-US" sz="1800" dirty="0"/>
          </a:p>
        </p:txBody>
      </p:sp>
      <p:sp>
        <p:nvSpPr>
          <p:cNvPr id="13" name="TextBox 12">
            <a:extLst>
              <a:ext uri="{FF2B5EF4-FFF2-40B4-BE49-F238E27FC236}">
                <a16:creationId xmlns:a16="http://schemas.microsoft.com/office/drawing/2014/main" id="{AD4A1AC9-674D-6727-6F16-67DB32B9ABE9}"/>
              </a:ext>
            </a:extLst>
          </p:cNvPr>
          <p:cNvSpPr txBox="1"/>
          <p:nvPr/>
        </p:nvSpPr>
        <p:spPr>
          <a:xfrm>
            <a:off x="341194" y="2646797"/>
            <a:ext cx="11341290" cy="369332"/>
          </a:xfrm>
          <a:prstGeom prst="rect">
            <a:avLst/>
          </a:prstGeom>
          <a:noFill/>
        </p:spPr>
        <p:txBody>
          <a:bodyPr wrap="square">
            <a:spAutoFit/>
          </a:bodyPr>
          <a:lstStyle/>
          <a:p>
            <a:pPr marL="0" lvl="0" indent="0" algn="just">
              <a:buNone/>
            </a:pPr>
            <a:r>
              <a:rPr lang="en-US" sz="1800" dirty="0"/>
              <a:t> </a:t>
            </a:r>
          </a:p>
        </p:txBody>
      </p:sp>
      <p:sp>
        <p:nvSpPr>
          <p:cNvPr id="7" name="TextBox 6">
            <a:extLst>
              <a:ext uri="{FF2B5EF4-FFF2-40B4-BE49-F238E27FC236}">
                <a16:creationId xmlns:a16="http://schemas.microsoft.com/office/drawing/2014/main" id="{F965E4E7-3BE5-C69F-47E3-4ACE1651473B}"/>
              </a:ext>
            </a:extLst>
          </p:cNvPr>
          <p:cNvSpPr txBox="1"/>
          <p:nvPr/>
        </p:nvSpPr>
        <p:spPr>
          <a:xfrm>
            <a:off x="4045975" y="1572339"/>
            <a:ext cx="2180228" cy="1294072"/>
          </a:xfrm>
          <a:prstGeom prst="rect">
            <a:avLst/>
          </a:prstGeom>
          <a:noFill/>
        </p:spPr>
        <p:txBody>
          <a:bodyPr wrap="square">
            <a:spAutoFit/>
          </a:bodyPr>
          <a:lstStyle/>
          <a:p>
            <a:pPr marL="285750" indent="-285750" algn="ctr">
              <a:lnSpc>
                <a:spcPct val="150000"/>
              </a:lnSpc>
              <a:buFont typeface="Arial" panose="020B0604020202020204" pitchFamily="34" charset="0"/>
              <a:buChar char="•"/>
            </a:pPr>
            <a:r>
              <a:rPr lang="en-IN" dirty="0"/>
              <a:t>𝑛 = 10, 𝑝 = 0.3,</a:t>
            </a:r>
          </a:p>
          <a:p>
            <a:pPr marL="285750" indent="-285750" algn="ctr">
              <a:lnSpc>
                <a:spcPct val="150000"/>
              </a:lnSpc>
              <a:buFont typeface="Arial" panose="020B0604020202020204" pitchFamily="34" charset="0"/>
              <a:buChar char="•"/>
            </a:pPr>
            <a:r>
              <a:rPr lang="en-IN" dirty="0"/>
              <a:t>𝑛 = 20, 𝑝 = 0.5,</a:t>
            </a:r>
          </a:p>
          <a:p>
            <a:pPr marL="285750" indent="-285750" algn="ctr">
              <a:lnSpc>
                <a:spcPct val="150000"/>
              </a:lnSpc>
              <a:buFont typeface="Arial" panose="020B0604020202020204" pitchFamily="34" charset="0"/>
              <a:buChar char="•"/>
            </a:pPr>
            <a:r>
              <a:rPr lang="en-IN" dirty="0"/>
              <a:t>𝑛 = 30, 𝑝 = 0.7.</a:t>
            </a:r>
          </a:p>
        </p:txBody>
      </p:sp>
      <p:pic>
        <p:nvPicPr>
          <p:cNvPr id="10" name="Picture 9">
            <a:extLst>
              <a:ext uri="{FF2B5EF4-FFF2-40B4-BE49-F238E27FC236}">
                <a16:creationId xmlns:a16="http://schemas.microsoft.com/office/drawing/2014/main" id="{585EDEA2-80F1-46A8-4FD3-4A7939480628}"/>
              </a:ext>
            </a:extLst>
          </p:cNvPr>
          <p:cNvPicPr>
            <a:picLocks noChangeAspect="1"/>
          </p:cNvPicPr>
          <p:nvPr/>
        </p:nvPicPr>
        <p:blipFill>
          <a:blip r:embed="rId3"/>
          <a:stretch>
            <a:fillRect/>
          </a:stretch>
        </p:blipFill>
        <p:spPr>
          <a:xfrm>
            <a:off x="338776" y="3016129"/>
            <a:ext cx="5673062" cy="3292906"/>
          </a:xfrm>
          <a:prstGeom prst="rect">
            <a:avLst/>
          </a:prstGeom>
        </p:spPr>
      </p:pic>
      <p:pic>
        <p:nvPicPr>
          <p:cNvPr id="16" name="Picture 15">
            <a:extLst>
              <a:ext uri="{FF2B5EF4-FFF2-40B4-BE49-F238E27FC236}">
                <a16:creationId xmlns:a16="http://schemas.microsoft.com/office/drawing/2014/main" id="{02792A10-1AC9-8264-658C-FA97005FA7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578167"/>
            <a:ext cx="5399538" cy="3712183"/>
          </a:xfrm>
          <a:prstGeom prst="rect">
            <a:avLst/>
          </a:prstGeom>
        </p:spPr>
      </p:pic>
      <p:pic>
        <p:nvPicPr>
          <p:cNvPr id="18" name="Google Shape;90;p1">
            <a:extLst>
              <a:ext uri="{FF2B5EF4-FFF2-40B4-BE49-F238E27FC236}">
                <a16:creationId xmlns:a16="http://schemas.microsoft.com/office/drawing/2014/main" id="{A1F8475F-F42D-86F8-425A-321EFC3FF21E}"/>
              </a:ext>
            </a:extLst>
          </p:cNvPr>
          <p:cNvPicPr preferRelativeResize="0"/>
          <p:nvPr/>
        </p:nvPicPr>
        <p:blipFill rotWithShape="1">
          <a:blip r:embed="rId5">
            <a:alphaModFix/>
          </a:blip>
          <a:srcRect/>
          <a:stretch/>
        </p:blipFill>
        <p:spPr>
          <a:xfrm>
            <a:off x="11204812" y="0"/>
            <a:ext cx="987188" cy="1201171"/>
          </a:xfrm>
          <a:prstGeom prst="rect">
            <a:avLst/>
          </a:prstGeom>
          <a:noFill/>
          <a:ln>
            <a:noFill/>
          </a:ln>
        </p:spPr>
      </p:pic>
      <p:sp>
        <p:nvSpPr>
          <p:cNvPr id="2" name="Slide Number Placeholder 1">
            <a:extLst>
              <a:ext uri="{FF2B5EF4-FFF2-40B4-BE49-F238E27FC236}">
                <a16:creationId xmlns:a16="http://schemas.microsoft.com/office/drawing/2014/main" id="{DB3B9365-4331-E3F4-2676-975A387C5744}"/>
              </a:ext>
            </a:extLst>
          </p:cNvPr>
          <p:cNvSpPr>
            <a:spLocks noGrp="1"/>
          </p:cNvSpPr>
          <p:nvPr>
            <p:ph type="sldNum" sz="quarter" idx="12"/>
          </p:nvPr>
        </p:nvSpPr>
        <p:spPr/>
        <p:txBody>
          <a:bodyPr/>
          <a:lstStyle/>
          <a:p>
            <a:fld id="{8EC77227-B7F4-4800-97BE-1DE2687871B5}" type="slidenum">
              <a:rPr lang="en-IN" smtClean="0"/>
              <a:t>21</a:t>
            </a:fld>
            <a:endParaRPr lang="en-IN" dirty="0"/>
          </a:p>
        </p:txBody>
      </p:sp>
    </p:spTree>
    <p:extLst>
      <p:ext uri="{BB962C8B-B14F-4D97-AF65-F5344CB8AC3E}">
        <p14:creationId xmlns:p14="http://schemas.microsoft.com/office/powerpoint/2010/main" val="2109324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5D995-9201-A494-671B-72C07C81D1E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1AA625-4C4B-9919-00BE-89BC64292D74}"/>
              </a:ext>
            </a:extLst>
          </p:cNvPr>
          <p:cNvSpPr>
            <a:spLocks noGrp="1"/>
          </p:cNvSpPr>
          <p:nvPr>
            <p:ph type="sldNum" sz="quarter" idx="12"/>
          </p:nvPr>
        </p:nvSpPr>
        <p:spPr/>
        <p:txBody>
          <a:bodyPr/>
          <a:lstStyle/>
          <a:p>
            <a:fld id="{8EC77227-B7F4-4800-97BE-1DE2687871B5}" type="slidenum">
              <a:rPr lang="en-IN" smtClean="0"/>
              <a:t>22</a:t>
            </a:fld>
            <a:endParaRPr lang="en-IN" dirty="0"/>
          </a:p>
        </p:txBody>
      </p:sp>
      <p:sp>
        <p:nvSpPr>
          <p:cNvPr id="6" name="TextBox 5">
            <a:extLst>
              <a:ext uri="{FF2B5EF4-FFF2-40B4-BE49-F238E27FC236}">
                <a16:creationId xmlns:a16="http://schemas.microsoft.com/office/drawing/2014/main" id="{98476668-3391-2D03-1360-AA7E82FC0B14}"/>
              </a:ext>
            </a:extLst>
          </p:cNvPr>
          <p:cNvSpPr txBox="1"/>
          <p:nvPr/>
        </p:nvSpPr>
        <p:spPr>
          <a:xfrm>
            <a:off x="230356" y="107923"/>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
        <p:nvSpPr>
          <p:cNvPr id="4" name="TextBox 3">
            <a:extLst>
              <a:ext uri="{FF2B5EF4-FFF2-40B4-BE49-F238E27FC236}">
                <a16:creationId xmlns:a16="http://schemas.microsoft.com/office/drawing/2014/main" id="{32D9445B-EE42-C1DA-4325-E16188895B36}"/>
              </a:ext>
            </a:extLst>
          </p:cNvPr>
          <p:cNvSpPr txBox="1"/>
          <p:nvPr/>
        </p:nvSpPr>
        <p:spPr>
          <a:xfrm>
            <a:off x="236562" y="452557"/>
            <a:ext cx="2552132" cy="400110"/>
          </a:xfrm>
          <a:prstGeom prst="rect">
            <a:avLst/>
          </a:prstGeom>
          <a:noFill/>
        </p:spPr>
        <p:txBody>
          <a:bodyPr wrap="square" rtlCol="0">
            <a:spAutoFit/>
          </a:bodyPr>
          <a:lstStyle/>
          <a:p>
            <a:r>
              <a:rPr lang="en-US" sz="2000" b="1" dirty="0">
                <a:solidFill>
                  <a:srgbClr val="00B050"/>
                </a:solidFill>
              </a:rPr>
              <a:t> Poisson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44FA057A-C09B-3EBA-2072-1311405805D0}"/>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EB1935D-E8E6-A4D9-78CD-7DFC4B38226E}"/>
                  </a:ext>
                </a:extLst>
              </p:cNvPr>
              <p:cNvSpPr txBox="1"/>
              <p:nvPr/>
            </p:nvSpPr>
            <p:spPr>
              <a:xfrm>
                <a:off x="2542464" y="1952602"/>
                <a:ext cx="7107071" cy="369332"/>
              </a:xfrm>
              <a:prstGeom prst="rect">
                <a:avLst/>
              </a:prstGeom>
              <a:noFill/>
            </p:spPr>
            <p:txBody>
              <a:bodyPr wrap="square">
                <a:spAutoFit/>
              </a:bodyPr>
              <a:lstStyle/>
              <a:p>
                <a:pPr marL="0" lvl="0" indent="0" algn="just">
                  <a:buNone/>
                </a:pP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 </m:t>
                      </m:r>
                    </m:oMath>
                  </m:oMathPara>
                </a14:m>
                <a:endParaRPr lang="ar-AE" sz="1800" dirty="0"/>
              </a:p>
            </p:txBody>
          </p:sp>
        </mc:Choice>
        <mc:Fallback xmlns="">
          <p:sp>
            <p:nvSpPr>
              <p:cNvPr id="11" name="TextBox 10">
                <a:extLst>
                  <a:ext uri="{FF2B5EF4-FFF2-40B4-BE49-F238E27FC236}">
                    <a16:creationId xmlns:a16="http://schemas.microsoft.com/office/drawing/2014/main" id="{DEB1935D-E8E6-A4D9-78CD-7DFC4B38226E}"/>
                  </a:ext>
                </a:extLst>
              </p:cNvPr>
              <p:cNvSpPr txBox="1">
                <a:spLocks noRot="1" noChangeAspect="1" noMove="1" noResize="1" noEditPoints="1" noAdjustHandles="1" noChangeArrowheads="1" noChangeShapeType="1" noTextEdit="1"/>
              </p:cNvSpPr>
              <p:nvPr/>
            </p:nvSpPr>
            <p:spPr>
              <a:xfrm>
                <a:off x="2542464" y="1952602"/>
                <a:ext cx="7107071"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E2F5EBC-FEBD-774A-4EA9-D1E593B66864}"/>
                  </a:ext>
                </a:extLst>
              </p:cNvPr>
              <p:cNvSpPr txBox="1"/>
              <p:nvPr/>
            </p:nvSpPr>
            <p:spPr>
              <a:xfrm>
                <a:off x="236562" y="652872"/>
                <a:ext cx="10968250" cy="1968680"/>
              </a:xfrm>
              <a:prstGeom prst="rect">
                <a:avLst/>
              </a:prstGeom>
              <a:noFill/>
            </p:spPr>
            <p:txBody>
              <a:bodyPr wrap="square">
                <a:spAutoFit/>
              </a:bodyPr>
              <a:lstStyle/>
              <a:p>
                <a:pPr lvl="0">
                  <a:lnSpc>
                    <a:spcPct val="150000"/>
                  </a:lnSpc>
                </a:pPr>
                <a:r>
                  <a:rPr lang="en-IN" dirty="0"/>
                  <a:t>The Poisson distribution is defined by a single parameter, </a:t>
                </a:r>
                <a14:m>
                  <m:oMath xmlns:m="http://schemas.openxmlformats.org/officeDocument/2006/math">
                    <m:r>
                      <a:rPr lang="en-IN">
                        <a:latin typeface="Cambria Math" panose="02040503050406030204" pitchFamily="18" charset="0"/>
                      </a:rPr>
                      <m:t>𝜆</m:t>
                    </m:r>
                  </m:oMath>
                </a14:m>
                <a:r>
                  <a:rPr lang="en-IN" dirty="0"/>
                  <a:t>- the average rate of events per unit time or space. The PMF is:        </a:t>
                </a:r>
                <a14:m>
                  <m:oMath xmlns:m="http://schemas.openxmlformats.org/officeDocument/2006/math">
                    <m:r>
                      <m:rPr>
                        <m:nor/>
                      </m:rPr>
                      <a:rPr lang="en-IN"/>
                      <m:t>P</m:t>
                    </m:r>
                    <m:d>
                      <m:dPr>
                        <m:ctrlPr>
                          <a:rPr lang="ar-AE" i="1">
                            <a:latin typeface="Cambria Math" panose="02040503050406030204" pitchFamily="18" charset="0"/>
                          </a:rPr>
                        </m:ctrlPr>
                      </m:dPr>
                      <m:e>
                        <m:r>
                          <a:rPr lang="ar-AE">
                            <a:latin typeface="Cambria Math" panose="02040503050406030204" pitchFamily="18" charset="0"/>
                          </a:rPr>
                          <m:t>𝑋</m:t>
                        </m:r>
                        <m:r>
                          <a:rPr lang="ar-AE">
                            <a:latin typeface="Cambria Math" panose="02040503050406030204" pitchFamily="18" charset="0"/>
                          </a:rPr>
                          <m:t>=</m:t>
                        </m:r>
                        <m:r>
                          <a:rPr lang="ar-AE">
                            <a:latin typeface="Cambria Math" panose="02040503050406030204" pitchFamily="18" charset="0"/>
                          </a:rPr>
                          <m:t>𝑘</m:t>
                        </m:r>
                        <m:r>
                          <a:rPr lang="ar-AE">
                            <a:latin typeface="Cambria Math" panose="02040503050406030204" pitchFamily="18" charset="0"/>
                          </a:rPr>
                          <m:t>|</m:t>
                        </m:r>
                        <m:r>
                          <a:rPr lang="ar-AE">
                            <a:latin typeface="Cambria Math" panose="02040503050406030204" pitchFamily="18" charset="0"/>
                          </a:rPr>
                          <m:t>𝜆</m:t>
                        </m:r>
                      </m:e>
                    </m:d>
                    <m:r>
                      <a:rPr lang="ar-AE">
                        <a:latin typeface="Cambria Math" panose="02040503050406030204" pitchFamily="18" charset="0"/>
                      </a:rPr>
                      <m:t>=</m:t>
                    </m:r>
                    <m:f>
                      <m:fPr>
                        <m:ctrlPr>
                          <a:rPr lang="ar-AE" i="1">
                            <a:latin typeface="Cambria Math" panose="02040503050406030204" pitchFamily="18" charset="0"/>
                          </a:rPr>
                        </m:ctrlPr>
                      </m:fPr>
                      <m:num>
                        <m:sSup>
                          <m:sSupPr>
                            <m:ctrlPr>
                              <a:rPr lang="ar-AE" i="1">
                                <a:latin typeface="Cambria Math" panose="02040503050406030204" pitchFamily="18" charset="0"/>
                              </a:rPr>
                            </m:ctrlPr>
                          </m:sSupPr>
                          <m:e>
                            <m:r>
                              <a:rPr lang="ar-AE">
                                <a:latin typeface="Cambria Math" panose="02040503050406030204" pitchFamily="18" charset="0"/>
                              </a:rPr>
                              <m:t>𝜆</m:t>
                            </m:r>
                          </m:e>
                          <m:sup>
                            <m:r>
                              <a:rPr lang="ar-AE">
                                <a:latin typeface="Cambria Math" panose="02040503050406030204" pitchFamily="18" charset="0"/>
                              </a:rPr>
                              <m:t>𝑘</m:t>
                            </m:r>
                          </m:sup>
                        </m:sSup>
                        <m:sSup>
                          <m:sSupPr>
                            <m:ctrlPr>
                              <a:rPr lang="ar-AE" i="1">
                                <a:latin typeface="Cambria Math" panose="02040503050406030204" pitchFamily="18" charset="0"/>
                              </a:rPr>
                            </m:ctrlPr>
                          </m:sSupPr>
                          <m:e>
                            <m:r>
                              <a:rPr lang="ar-AE">
                                <a:latin typeface="Cambria Math" panose="02040503050406030204" pitchFamily="18" charset="0"/>
                              </a:rPr>
                              <m:t>𝑒</m:t>
                            </m:r>
                          </m:e>
                          <m:sup>
                            <m:r>
                              <a:rPr lang="ar-AE">
                                <a:latin typeface="Cambria Math" panose="02040503050406030204" pitchFamily="18" charset="0"/>
                              </a:rPr>
                              <m:t>−</m:t>
                            </m:r>
                            <m:r>
                              <a:rPr lang="ar-AE">
                                <a:latin typeface="Cambria Math" panose="02040503050406030204" pitchFamily="18" charset="0"/>
                              </a:rPr>
                              <m:t>𝜆</m:t>
                            </m:r>
                          </m:sup>
                        </m:sSup>
                      </m:num>
                      <m:den>
                        <m:r>
                          <a:rPr lang="ar-AE">
                            <a:latin typeface="Cambria Math" panose="02040503050406030204" pitchFamily="18" charset="0"/>
                          </a:rPr>
                          <m:t>𝑘</m:t>
                        </m:r>
                        <m:r>
                          <a:rPr lang="ar-AE">
                            <a:latin typeface="Cambria Math" panose="02040503050406030204" pitchFamily="18" charset="0"/>
                          </a:rPr>
                          <m:t>!</m:t>
                        </m:r>
                      </m:den>
                    </m:f>
                    <m:r>
                      <a:rPr lang="ar-AE">
                        <a:latin typeface="Cambria Math" panose="02040503050406030204" pitchFamily="18" charset="0"/>
                      </a:rPr>
                      <m:t>;</m:t>
                    </m:r>
                    <m:r>
                      <a:rPr lang="ar-AE">
                        <a:latin typeface="Cambria Math" panose="02040503050406030204" pitchFamily="18" charset="0"/>
                      </a:rPr>
                      <m:t>𝑘</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,⋯; </m:t>
                    </m:r>
                    <m:r>
                      <a:rPr lang="ar-AE">
                        <a:latin typeface="Cambria Math" panose="02040503050406030204" pitchFamily="18" charset="0"/>
                      </a:rPr>
                      <m:t>0</m:t>
                    </m:r>
                    <m:r>
                      <a:rPr lang="ar-AE">
                        <a:latin typeface="Cambria Math" panose="02040503050406030204" pitchFamily="18" charset="0"/>
                      </a:rPr>
                      <m:t>&lt;</m:t>
                    </m:r>
                    <m:r>
                      <a:rPr lang="ar-AE">
                        <a:latin typeface="Cambria Math" panose="02040503050406030204" pitchFamily="18" charset="0"/>
                      </a:rPr>
                      <m:t>𝜆</m:t>
                    </m:r>
                    <m:r>
                      <a:rPr lang="ar-AE">
                        <a:latin typeface="Cambria Math" panose="02040503050406030204" pitchFamily="18" charset="0"/>
                      </a:rPr>
                      <m:t>&lt;</m:t>
                    </m:r>
                    <m:r>
                      <a:rPr lang="ar-AE">
                        <a:latin typeface="Cambria Math" panose="02040503050406030204" pitchFamily="18" charset="0"/>
                      </a:rPr>
                      <m:t>∞</m:t>
                    </m:r>
                    <m:r>
                      <a:rPr lang="ar-AE">
                        <a:latin typeface="Cambria Math" panose="02040503050406030204" pitchFamily="18" charset="0"/>
                      </a:rPr>
                      <m:t>,</m:t>
                    </m:r>
                  </m:oMath>
                </a14:m>
                <a:endParaRPr lang="ar-AE" dirty="0"/>
              </a:p>
              <a:p>
                <a:pPr lvl="0">
                  <a:lnSpc>
                    <a:spcPct val="150000"/>
                  </a:lnSpc>
                </a:pPr>
                <a:r>
                  <a:rPr lang="en-IN" dirty="0"/>
                  <a:t>where </a:t>
                </a:r>
                <a14:m>
                  <m:oMath xmlns:m="http://schemas.openxmlformats.org/officeDocument/2006/math">
                    <m:r>
                      <a:rPr lang="en-IN">
                        <a:latin typeface="Cambria Math" panose="02040503050406030204" pitchFamily="18" charset="0"/>
                      </a:rPr>
                      <m:t>𝑘</m:t>
                    </m:r>
                  </m:oMath>
                </a14:m>
                <a:r>
                  <a:rPr lang="en-IN" dirty="0"/>
                  <a:t> is the number of events (sightings in our example) we are interested in </a:t>
                </a:r>
                <a:r>
                  <a:rPr lang="en-US" dirty="0"/>
                  <a:t>To compute the probability of observing exactly  bird sightings year:</a:t>
                </a:r>
                <a:endParaRPr lang="en-US" sz="1800" dirty="0"/>
              </a:p>
            </p:txBody>
          </p:sp>
        </mc:Choice>
        <mc:Fallback xmlns="">
          <p:sp>
            <p:nvSpPr>
              <p:cNvPr id="13" name="TextBox 12">
                <a:extLst>
                  <a:ext uri="{FF2B5EF4-FFF2-40B4-BE49-F238E27FC236}">
                    <a16:creationId xmlns:a16="http://schemas.microsoft.com/office/drawing/2014/main" id="{8E2F5EBC-FEBD-774A-4EA9-D1E593B66864}"/>
                  </a:ext>
                </a:extLst>
              </p:cNvPr>
              <p:cNvSpPr txBox="1">
                <a:spLocks noRot="1" noChangeAspect="1" noMove="1" noResize="1" noEditPoints="1" noAdjustHandles="1" noChangeArrowheads="1" noChangeShapeType="1" noTextEdit="1"/>
              </p:cNvSpPr>
              <p:nvPr/>
            </p:nvSpPr>
            <p:spPr>
              <a:xfrm>
                <a:off x="236562" y="652872"/>
                <a:ext cx="10968250" cy="1968680"/>
              </a:xfrm>
              <a:prstGeom prst="rect">
                <a:avLst/>
              </a:prstGeom>
              <a:blipFill>
                <a:blip r:embed="rId5"/>
                <a:stretch>
                  <a:fillRect l="-500" b="-4025"/>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2A871FCD-B7E9-9823-A160-B2FAE14C5641}"/>
              </a:ext>
            </a:extLst>
          </p:cNvPr>
          <p:cNvPicPr>
            <a:picLocks noChangeAspect="1"/>
          </p:cNvPicPr>
          <p:nvPr/>
        </p:nvPicPr>
        <p:blipFill>
          <a:blip r:embed="rId6"/>
          <a:stretch>
            <a:fillRect/>
          </a:stretch>
        </p:blipFill>
        <p:spPr>
          <a:xfrm>
            <a:off x="230356" y="2882636"/>
            <a:ext cx="6069885" cy="3349950"/>
          </a:xfrm>
          <a:prstGeom prst="rect">
            <a:avLst/>
          </a:prstGeom>
        </p:spPr>
      </p:pic>
      <p:pic>
        <p:nvPicPr>
          <p:cNvPr id="10" name="Picture 9">
            <a:extLst>
              <a:ext uri="{FF2B5EF4-FFF2-40B4-BE49-F238E27FC236}">
                <a16:creationId xmlns:a16="http://schemas.microsoft.com/office/drawing/2014/main" id="{CC5F206A-B48C-4EF5-3C7B-7E2D64A42828}"/>
              </a:ext>
            </a:extLst>
          </p:cNvPr>
          <p:cNvPicPr>
            <a:picLocks noChangeAspect="1"/>
          </p:cNvPicPr>
          <p:nvPr/>
        </p:nvPicPr>
        <p:blipFill>
          <a:blip r:embed="rId7"/>
          <a:stretch>
            <a:fillRect/>
          </a:stretch>
        </p:blipFill>
        <p:spPr>
          <a:xfrm>
            <a:off x="6562028" y="2876103"/>
            <a:ext cx="4791772" cy="3356483"/>
          </a:xfrm>
          <a:prstGeom prst="rect">
            <a:avLst/>
          </a:prstGeom>
        </p:spPr>
      </p:pic>
      <p:pic>
        <p:nvPicPr>
          <p:cNvPr id="12" name="Google Shape;90;p1">
            <a:extLst>
              <a:ext uri="{FF2B5EF4-FFF2-40B4-BE49-F238E27FC236}">
                <a16:creationId xmlns:a16="http://schemas.microsoft.com/office/drawing/2014/main" id="{E6546E1E-E1A7-FAAB-AD15-B2FFA2422732}"/>
              </a:ext>
            </a:extLst>
          </p:cNvPr>
          <p:cNvPicPr preferRelativeResize="0"/>
          <p:nvPr/>
        </p:nvPicPr>
        <p:blipFill rotWithShape="1">
          <a:blip r:embed="rId8">
            <a:alphaModFix/>
          </a:blip>
          <a:srcRect/>
          <a:stretch/>
        </p:blipFill>
        <p:spPr>
          <a:xfrm>
            <a:off x="11204812" y="0"/>
            <a:ext cx="987188" cy="1201171"/>
          </a:xfrm>
          <a:prstGeom prst="rect">
            <a:avLst/>
          </a:prstGeom>
          <a:noFill/>
          <a:ln>
            <a:noFill/>
          </a:ln>
        </p:spPr>
      </p:pic>
    </p:spTree>
    <p:extLst>
      <p:ext uri="{BB962C8B-B14F-4D97-AF65-F5344CB8AC3E}">
        <p14:creationId xmlns:p14="http://schemas.microsoft.com/office/powerpoint/2010/main" val="1728410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7E9E0-A4D7-80A8-9ACE-4EA80D4049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B3A0AF-129D-5815-ADB4-50AD008F4EFF}"/>
              </a:ext>
            </a:extLst>
          </p:cNvPr>
          <p:cNvSpPr>
            <a:spLocks noGrp="1"/>
          </p:cNvSpPr>
          <p:nvPr>
            <p:ph type="sldNum" sz="quarter" idx="12"/>
          </p:nvPr>
        </p:nvSpPr>
        <p:spPr/>
        <p:txBody>
          <a:bodyPr/>
          <a:lstStyle/>
          <a:p>
            <a:fld id="{8EC77227-B7F4-4800-97BE-1DE2687871B5}" type="slidenum">
              <a:rPr lang="en-IN" smtClean="0"/>
              <a:t>23</a:t>
            </a:fld>
            <a:endParaRPr lang="en-IN" dirty="0"/>
          </a:p>
        </p:txBody>
      </p:sp>
      <p:sp>
        <p:nvSpPr>
          <p:cNvPr id="6" name="TextBox 5">
            <a:extLst>
              <a:ext uri="{FF2B5EF4-FFF2-40B4-BE49-F238E27FC236}">
                <a16:creationId xmlns:a16="http://schemas.microsoft.com/office/drawing/2014/main" id="{9BBB1CB7-FBAD-2694-269D-6C1DCBBE0536}"/>
              </a:ext>
            </a:extLst>
          </p:cNvPr>
          <p:cNvSpPr txBox="1"/>
          <p:nvPr/>
        </p:nvSpPr>
        <p:spPr>
          <a:xfrm>
            <a:off x="204716" y="68989"/>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
        <p:nvSpPr>
          <p:cNvPr id="4" name="TextBox 3">
            <a:extLst>
              <a:ext uri="{FF2B5EF4-FFF2-40B4-BE49-F238E27FC236}">
                <a16:creationId xmlns:a16="http://schemas.microsoft.com/office/drawing/2014/main" id="{B1CE9E00-4A54-829E-A08D-783B2398F81A}"/>
              </a:ext>
            </a:extLst>
          </p:cNvPr>
          <p:cNvSpPr txBox="1"/>
          <p:nvPr/>
        </p:nvSpPr>
        <p:spPr>
          <a:xfrm>
            <a:off x="204716" y="579953"/>
            <a:ext cx="2391202" cy="400110"/>
          </a:xfrm>
          <a:prstGeom prst="rect">
            <a:avLst/>
          </a:prstGeom>
          <a:noFill/>
        </p:spPr>
        <p:txBody>
          <a:bodyPr wrap="square" rtlCol="0">
            <a:spAutoFit/>
          </a:bodyPr>
          <a:lstStyle/>
          <a:p>
            <a:r>
              <a:rPr lang="en-US" sz="2000" b="1" dirty="0">
                <a:solidFill>
                  <a:srgbClr val="00B050"/>
                </a:solidFill>
              </a:rPr>
              <a:t> Poisson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4DA03D47-2886-99C2-E0A5-D0182003DE8B}"/>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p:pic>
        <p:nvPicPr>
          <p:cNvPr id="5" name="Google Shape;90;p1">
            <a:extLst>
              <a:ext uri="{FF2B5EF4-FFF2-40B4-BE49-F238E27FC236}">
                <a16:creationId xmlns:a16="http://schemas.microsoft.com/office/drawing/2014/main" id="{395E85DD-759A-35FA-B994-6111FFE886AD}"/>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pic>
        <p:nvPicPr>
          <p:cNvPr id="12" name="Picture 11">
            <a:extLst>
              <a:ext uri="{FF2B5EF4-FFF2-40B4-BE49-F238E27FC236}">
                <a16:creationId xmlns:a16="http://schemas.microsoft.com/office/drawing/2014/main" id="{70D59FD8-721F-B769-C4F9-55C6F5BB34DB}"/>
              </a:ext>
            </a:extLst>
          </p:cNvPr>
          <p:cNvPicPr>
            <a:picLocks noChangeAspect="1"/>
          </p:cNvPicPr>
          <p:nvPr/>
        </p:nvPicPr>
        <p:blipFill>
          <a:blip r:embed="rId4"/>
          <a:stretch>
            <a:fillRect/>
          </a:stretch>
        </p:blipFill>
        <p:spPr>
          <a:xfrm>
            <a:off x="257733" y="2206430"/>
            <a:ext cx="5492911" cy="3638802"/>
          </a:xfrm>
          <a:prstGeom prst="rect">
            <a:avLst/>
          </a:prstGeom>
        </p:spPr>
      </p:pic>
      <p:sp>
        <p:nvSpPr>
          <p:cNvPr id="15" name="TextBox 14">
            <a:extLst>
              <a:ext uri="{FF2B5EF4-FFF2-40B4-BE49-F238E27FC236}">
                <a16:creationId xmlns:a16="http://schemas.microsoft.com/office/drawing/2014/main" id="{0D77B1B1-86A3-DC08-6696-C3BEE85ED922}"/>
              </a:ext>
            </a:extLst>
          </p:cNvPr>
          <p:cNvSpPr txBox="1"/>
          <p:nvPr/>
        </p:nvSpPr>
        <p:spPr>
          <a:xfrm>
            <a:off x="257733" y="1065804"/>
            <a:ext cx="11341290" cy="880369"/>
          </a:xfrm>
          <a:prstGeom prst="rect">
            <a:avLst/>
          </a:prstGeom>
          <a:noFill/>
        </p:spPr>
        <p:txBody>
          <a:bodyPr wrap="square">
            <a:spAutoFit/>
          </a:bodyPr>
          <a:lstStyle/>
          <a:p>
            <a:pPr algn="just">
              <a:lnSpc>
                <a:spcPct val="150000"/>
              </a:lnSpc>
            </a:pPr>
            <a:r>
              <a:rPr lang="en-IN" dirty="0"/>
              <a:t>The probability mass functions for various values of </a:t>
            </a:r>
            <a:r>
              <a:rPr lang="en-US" dirty="0"/>
              <a:t>λ, highlighting the distribution’s tendency to become more symmetric as λ increases</a:t>
            </a:r>
            <a:r>
              <a:rPr lang="en-IN" dirty="0"/>
              <a:t>.</a:t>
            </a:r>
          </a:p>
        </p:txBody>
      </p:sp>
      <p:pic>
        <p:nvPicPr>
          <p:cNvPr id="17" name="Picture 16">
            <a:extLst>
              <a:ext uri="{FF2B5EF4-FFF2-40B4-BE49-F238E27FC236}">
                <a16:creationId xmlns:a16="http://schemas.microsoft.com/office/drawing/2014/main" id="{8AF065EB-2DDD-F49D-F9FA-AA86F2F125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28378" y="2048926"/>
            <a:ext cx="6030672" cy="4146087"/>
          </a:xfrm>
          <a:prstGeom prst="rect">
            <a:avLst/>
          </a:prstGeom>
        </p:spPr>
      </p:pic>
    </p:spTree>
    <p:extLst>
      <p:ext uri="{BB962C8B-B14F-4D97-AF65-F5344CB8AC3E}">
        <p14:creationId xmlns:p14="http://schemas.microsoft.com/office/powerpoint/2010/main" val="1298000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7E218-86C2-20E5-C660-CC9E435A6C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33AD7-60FF-0651-BC06-4F81DA22628E}"/>
              </a:ext>
            </a:extLst>
          </p:cNvPr>
          <p:cNvSpPr>
            <a:spLocks noGrp="1"/>
          </p:cNvSpPr>
          <p:nvPr>
            <p:ph type="sldNum" sz="quarter" idx="12"/>
          </p:nvPr>
        </p:nvSpPr>
        <p:spPr/>
        <p:txBody>
          <a:bodyPr/>
          <a:lstStyle/>
          <a:p>
            <a:fld id="{8EC77227-B7F4-4800-97BE-1DE2687871B5}" type="slidenum">
              <a:rPr lang="en-IN" smtClean="0"/>
              <a:t>24</a:t>
            </a:fld>
            <a:endParaRPr lang="en-IN" dirty="0"/>
          </a:p>
        </p:txBody>
      </p:sp>
      <p:sp>
        <p:nvSpPr>
          <p:cNvPr id="6" name="TextBox 5">
            <a:extLst>
              <a:ext uri="{FF2B5EF4-FFF2-40B4-BE49-F238E27FC236}">
                <a16:creationId xmlns:a16="http://schemas.microsoft.com/office/drawing/2014/main" id="{5E5960EC-0FFB-E1AA-6B99-FD0A539684F9}"/>
              </a:ext>
            </a:extLst>
          </p:cNvPr>
          <p:cNvSpPr txBox="1"/>
          <p:nvPr/>
        </p:nvSpPr>
        <p:spPr>
          <a:xfrm>
            <a:off x="204716" y="77366"/>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
        <p:nvSpPr>
          <p:cNvPr id="4" name="TextBox 3">
            <a:extLst>
              <a:ext uri="{FF2B5EF4-FFF2-40B4-BE49-F238E27FC236}">
                <a16:creationId xmlns:a16="http://schemas.microsoft.com/office/drawing/2014/main" id="{51DAD09A-9A54-E78E-EA75-B8D58DCC17B2}"/>
              </a:ext>
            </a:extLst>
          </p:cNvPr>
          <p:cNvSpPr txBox="1"/>
          <p:nvPr/>
        </p:nvSpPr>
        <p:spPr>
          <a:xfrm>
            <a:off x="204716" y="630368"/>
            <a:ext cx="2452808" cy="400110"/>
          </a:xfrm>
          <a:prstGeom prst="rect">
            <a:avLst/>
          </a:prstGeom>
          <a:noFill/>
        </p:spPr>
        <p:txBody>
          <a:bodyPr wrap="square" rtlCol="0">
            <a:spAutoFit/>
          </a:bodyPr>
          <a:lstStyle/>
          <a:p>
            <a:r>
              <a:rPr lang="en-US" sz="2000" b="1" dirty="0">
                <a:solidFill>
                  <a:srgbClr val="00B050"/>
                </a:solidFill>
              </a:rPr>
              <a:t>  Normal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EDCE5362-D57F-B88F-D61C-8CB18CB3B346}"/>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p:pic>
        <p:nvPicPr>
          <p:cNvPr id="5" name="Google Shape;90;p1">
            <a:extLst>
              <a:ext uri="{FF2B5EF4-FFF2-40B4-BE49-F238E27FC236}">
                <a16:creationId xmlns:a16="http://schemas.microsoft.com/office/drawing/2014/main" id="{C0474944-1A52-515A-B03C-DD85D957C22A}"/>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D5B815E-377F-67AD-5C12-A0E8ED6CCB93}"/>
                  </a:ext>
                </a:extLst>
              </p:cNvPr>
              <p:cNvSpPr txBox="1"/>
              <p:nvPr/>
            </p:nvSpPr>
            <p:spPr>
              <a:xfrm>
                <a:off x="250863" y="951131"/>
                <a:ext cx="11245187" cy="2652649"/>
              </a:xfrm>
              <a:prstGeom prst="rect">
                <a:avLst/>
              </a:prstGeom>
              <a:noFill/>
            </p:spPr>
            <p:txBody>
              <a:bodyPr wrap="square">
                <a:spAutoFit/>
              </a:bodyPr>
              <a:lstStyle/>
              <a:p>
                <a:pPr marL="0" lvl="0" indent="0" algn="just">
                  <a:lnSpc>
                    <a:spcPct val="150000"/>
                  </a:lnSpc>
                  <a:buNone/>
                </a:pPr>
                <a:r>
                  <a:rPr lang="en-IN" sz="1800" dirty="0"/>
                  <a:t>The normal distribution, also known as the Gaussian distribution, It models continuous data that tend to cluster around a central mean, with a symmetrical bell-shaped curve. If the random variable </a:t>
                </a:r>
                <a14:m>
                  <m:oMath xmlns:m="http://schemas.openxmlformats.org/officeDocument/2006/math">
                    <m:r>
                      <a:rPr lang="en-IN" sz="1800">
                        <a:latin typeface="Cambria Math" panose="02040503050406030204" pitchFamily="18" charset="0"/>
                      </a:rPr>
                      <m:t>𝑋</m:t>
                    </m:r>
                  </m:oMath>
                </a14:m>
                <a:r>
                  <a:rPr lang="en-IN" sz="1800" dirty="0"/>
                  <a:t> is following the normal distribution with mean </a:t>
                </a:r>
                <a14:m>
                  <m:oMath xmlns:m="http://schemas.openxmlformats.org/officeDocument/2006/math">
                    <m:r>
                      <a:rPr lang="en-IN" sz="1800">
                        <a:latin typeface="Cambria Math" panose="02040503050406030204" pitchFamily="18" charset="0"/>
                      </a:rPr>
                      <m:t>𝜇</m:t>
                    </m:r>
                  </m:oMath>
                </a14:m>
                <a:r>
                  <a:rPr lang="en-IN" sz="1800" dirty="0"/>
                  <a:t> and variance </a:t>
                </a:r>
                <a14:m>
                  <m:oMath xmlns:m="http://schemas.openxmlformats.org/officeDocument/2006/math">
                    <m:sSup>
                      <m:sSupPr>
                        <m:ctrlPr>
                          <a:rPr lang="ar-AE" sz="1800" i="1">
                            <a:latin typeface="Cambria Math" panose="02040503050406030204" pitchFamily="18" charset="0"/>
                          </a:rPr>
                        </m:ctrlPr>
                      </m:sSupPr>
                      <m:e>
                        <m:r>
                          <a:rPr lang="ar-AE" sz="1800">
                            <a:latin typeface="Cambria Math" panose="02040503050406030204" pitchFamily="18" charset="0"/>
                          </a:rPr>
                          <m:t>𝜎</m:t>
                        </m:r>
                      </m:e>
                      <m:sup>
                        <m:r>
                          <a:rPr lang="ar-AE" sz="1800">
                            <a:latin typeface="Cambria Math" panose="02040503050406030204" pitchFamily="18" charset="0"/>
                          </a:rPr>
                          <m:t>2</m:t>
                        </m:r>
                      </m:sup>
                    </m:sSup>
                  </m:oMath>
                </a14:m>
                <a:r>
                  <a:rPr lang="ar-AE" sz="1800" dirty="0"/>
                  <a:t> </a:t>
                </a:r>
                <a:r>
                  <a:rPr lang="en-IN" sz="1800" dirty="0"/>
                  <a:t>then it can be mathematically written as </a:t>
                </a:r>
                <a14:m>
                  <m:oMath xmlns:m="http://schemas.openxmlformats.org/officeDocument/2006/math">
                    <m:r>
                      <a:rPr lang="en-IN" sz="1800">
                        <a:latin typeface="Cambria Math" panose="02040503050406030204" pitchFamily="18" charset="0"/>
                      </a:rPr>
                      <m:t>𝑋</m:t>
                    </m:r>
                    <m:r>
                      <a:rPr lang="en-IN" sz="1800">
                        <a:latin typeface="Cambria Math" panose="02040503050406030204" pitchFamily="18" charset="0"/>
                      </a:rPr>
                      <m:t>∼</m:t>
                    </m:r>
                    <m:r>
                      <a:rPr lang="en-IN" sz="1800">
                        <a:latin typeface="Cambria Math" panose="02040503050406030204" pitchFamily="18" charset="0"/>
                      </a:rPr>
                      <m:t>𝒩</m:t>
                    </m:r>
                    <m:d>
                      <m:dPr>
                        <m:ctrlPr>
                          <a:rPr lang="ar-AE" sz="1800" i="1">
                            <a:latin typeface="Cambria Math" panose="02040503050406030204" pitchFamily="18" charset="0"/>
                          </a:rPr>
                        </m:ctrlPr>
                      </m:dPr>
                      <m:e>
                        <m:r>
                          <a:rPr lang="ar-AE" sz="1800">
                            <a:latin typeface="Cambria Math" panose="02040503050406030204" pitchFamily="18" charset="0"/>
                          </a:rPr>
                          <m:t>𝜇</m:t>
                        </m:r>
                        <m:r>
                          <a:rPr lang="ar-AE" sz="1800">
                            <a:latin typeface="Cambria Math" panose="02040503050406030204" pitchFamily="18" charset="0"/>
                          </a:rPr>
                          <m:t>,</m:t>
                        </m:r>
                        <m:sSup>
                          <m:sSupPr>
                            <m:ctrlPr>
                              <a:rPr lang="ar-AE" sz="1800" i="1">
                                <a:latin typeface="Cambria Math" panose="02040503050406030204" pitchFamily="18" charset="0"/>
                              </a:rPr>
                            </m:ctrlPr>
                          </m:sSupPr>
                          <m:e>
                            <m:r>
                              <a:rPr lang="ar-AE" sz="1800">
                                <a:latin typeface="Cambria Math" panose="02040503050406030204" pitchFamily="18" charset="0"/>
                              </a:rPr>
                              <m:t>𝜎</m:t>
                            </m:r>
                          </m:e>
                          <m:sup>
                            <m:r>
                              <a:rPr lang="ar-AE" sz="1800">
                                <a:latin typeface="Cambria Math" panose="02040503050406030204" pitchFamily="18" charset="0"/>
                              </a:rPr>
                              <m:t>2</m:t>
                            </m:r>
                          </m:sup>
                        </m:sSup>
                      </m:e>
                    </m:d>
                  </m:oMath>
                </a14:m>
                <a:r>
                  <a:rPr lang="ar-AE" sz="1800" dirty="0"/>
                  <a:t>. </a:t>
                </a:r>
                <a:r>
                  <a:rPr lang="en-IN" sz="1800" dirty="0"/>
                  <a:t>The PDF is:</a:t>
                </a:r>
              </a:p>
              <a:p>
                <a:pPr marL="0" lvl="0" indent="0" algn="just">
                  <a:lnSpc>
                    <a:spcPct val="150000"/>
                  </a:lnSpc>
                  <a:buNone/>
                </a:pPr>
                <a14:m>
                  <m:oMathPara xmlns:m="http://schemas.openxmlformats.org/officeDocument/2006/math">
                    <m:oMathParaPr>
                      <m:jc m:val="center"/>
                    </m:oMathParaPr>
                    <m:oMath xmlns:m="http://schemas.openxmlformats.org/officeDocument/2006/math">
                      <m:r>
                        <a:rPr lang="en-IN" sz="1800">
                          <a:latin typeface="Cambria Math" panose="02040503050406030204" pitchFamily="18" charset="0"/>
                        </a:rPr>
                        <m:t>𝑓</m:t>
                      </m:r>
                      <m:d>
                        <m:dPr>
                          <m:ctrlPr>
                            <a:rPr lang="ar-AE" sz="1800" i="1">
                              <a:latin typeface="Cambria Math" panose="02040503050406030204" pitchFamily="18" charset="0"/>
                            </a:rPr>
                          </m:ctrlPr>
                        </m:dPr>
                        <m:e>
                          <m:r>
                            <a:rPr lang="ar-AE" sz="1800">
                              <a:latin typeface="Cambria Math" panose="02040503050406030204" pitchFamily="18" charset="0"/>
                            </a:rPr>
                            <m:t>𝑥</m:t>
                          </m:r>
                          <m:r>
                            <a:rPr lang="ar-AE" sz="1800">
                              <a:latin typeface="Cambria Math" panose="02040503050406030204" pitchFamily="18" charset="0"/>
                            </a:rPr>
                            <m:t>∣</m:t>
                          </m:r>
                          <m:r>
                            <a:rPr lang="ar-AE" sz="1800">
                              <a:latin typeface="Cambria Math" panose="02040503050406030204" pitchFamily="18" charset="0"/>
                            </a:rPr>
                            <m:t>𝜇</m:t>
                          </m:r>
                          <m:r>
                            <a:rPr lang="ar-AE" sz="1800">
                              <a:latin typeface="Cambria Math" panose="02040503050406030204" pitchFamily="18" charset="0"/>
                            </a:rPr>
                            <m:t>,</m:t>
                          </m:r>
                          <m:sSup>
                            <m:sSupPr>
                              <m:ctrlPr>
                                <a:rPr lang="ar-AE" sz="1800" i="1">
                                  <a:latin typeface="Cambria Math" panose="02040503050406030204" pitchFamily="18" charset="0"/>
                                </a:rPr>
                              </m:ctrlPr>
                            </m:sSupPr>
                            <m:e>
                              <m:r>
                                <a:rPr lang="ar-AE" sz="1800">
                                  <a:latin typeface="Cambria Math" panose="02040503050406030204" pitchFamily="18" charset="0"/>
                                </a:rPr>
                                <m:t>𝜎</m:t>
                              </m:r>
                            </m:e>
                            <m:sup>
                              <m:r>
                                <a:rPr lang="ar-AE" sz="1800">
                                  <a:latin typeface="Cambria Math" panose="02040503050406030204" pitchFamily="18" charset="0"/>
                                </a:rPr>
                                <m:t>2</m:t>
                              </m:r>
                            </m:sup>
                          </m:sSup>
                        </m:e>
                      </m:d>
                      <m:r>
                        <a:rPr lang="ar-AE" sz="1800">
                          <a:latin typeface="Cambria Math" panose="02040503050406030204" pitchFamily="18" charset="0"/>
                        </a:rPr>
                        <m:t>=</m:t>
                      </m:r>
                      <m:f>
                        <m:fPr>
                          <m:ctrlPr>
                            <a:rPr lang="ar-AE" sz="1800" i="1">
                              <a:latin typeface="Cambria Math" panose="02040503050406030204" pitchFamily="18" charset="0"/>
                            </a:rPr>
                          </m:ctrlPr>
                        </m:fPr>
                        <m:num>
                          <m:r>
                            <a:rPr lang="ar-AE" sz="1800">
                              <a:latin typeface="Cambria Math" panose="02040503050406030204" pitchFamily="18" charset="0"/>
                            </a:rPr>
                            <m:t>1</m:t>
                          </m:r>
                        </m:num>
                        <m:den>
                          <m:r>
                            <a:rPr lang="ar-AE" sz="1800">
                              <a:latin typeface="Cambria Math" panose="02040503050406030204" pitchFamily="18" charset="0"/>
                            </a:rPr>
                            <m:t>𝜎</m:t>
                          </m:r>
                          <m:rad>
                            <m:radPr>
                              <m:degHide m:val="on"/>
                              <m:ctrlPr>
                                <a:rPr lang="ar-AE" sz="1800" i="1">
                                  <a:latin typeface="Cambria Math" panose="02040503050406030204" pitchFamily="18" charset="0"/>
                                </a:rPr>
                              </m:ctrlPr>
                            </m:radPr>
                            <m:deg/>
                            <m:e>
                              <m:r>
                                <a:rPr lang="ar-AE" sz="1800">
                                  <a:latin typeface="Cambria Math" panose="02040503050406030204" pitchFamily="18" charset="0"/>
                                </a:rPr>
                                <m:t>2</m:t>
                              </m:r>
                              <m:r>
                                <a:rPr lang="ar-AE" sz="1800">
                                  <a:latin typeface="Cambria Math" panose="02040503050406030204" pitchFamily="18" charset="0"/>
                                </a:rPr>
                                <m:t>𝜋</m:t>
                              </m:r>
                            </m:e>
                          </m:rad>
                        </m:den>
                      </m:f>
                      <m:r>
                        <m:rPr>
                          <m:sty m:val="p"/>
                        </m:rPr>
                        <a:rPr lang="en-IN" sz="1800">
                          <a:latin typeface="Cambria Math" panose="02040503050406030204" pitchFamily="18" charset="0"/>
                        </a:rPr>
                        <m:t>exp</m:t>
                      </m:r>
                      <m:d>
                        <m:dPr>
                          <m:ctrlPr>
                            <a:rPr lang="ar-AE" sz="1800" i="1">
                              <a:latin typeface="Cambria Math" panose="02040503050406030204" pitchFamily="18" charset="0"/>
                            </a:rPr>
                          </m:ctrlPr>
                        </m:dPr>
                        <m:e>
                          <m:r>
                            <a:rPr lang="ar-AE" sz="1800">
                              <a:latin typeface="Cambria Math" panose="02040503050406030204" pitchFamily="18" charset="0"/>
                            </a:rPr>
                            <m:t>−</m:t>
                          </m:r>
                          <m:f>
                            <m:fPr>
                              <m:ctrlPr>
                                <a:rPr lang="ar-AE" sz="1800" i="1">
                                  <a:latin typeface="Cambria Math" panose="02040503050406030204" pitchFamily="18" charset="0"/>
                                </a:rPr>
                              </m:ctrlPr>
                            </m:fPr>
                            <m:num>
                              <m:sSup>
                                <m:sSupPr>
                                  <m:ctrlPr>
                                    <a:rPr lang="ar-AE" sz="1800" i="1">
                                      <a:latin typeface="Cambria Math" panose="02040503050406030204" pitchFamily="18" charset="0"/>
                                    </a:rPr>
                                  </m:ctrlPr>
                                </m:sSupPr>
                                <m:e>
                                  <m:d>
                                    <m:dPr>
                                      <m:ctrlPr>
                                        <a:rPr lang="ar-AE" sz="1800" i="1">
                                          <a:latin typeface="Cambria Math" panose="02040503050406030204" pitchFamily="18" charset="0"/>
                                        </a:rPr>
                                      </m:ctrlPr>
                                    </m:dPr>
                                    <m:e>
                                      <m:r>
                                        <a:rPr lang="ar-AE" sz="1800">
                                          <a:latin typeface="Cambria Math" panose="02040503050406030204" pitchFamily="18" charset="0"/>
                                        </a:rPr>
                                        <m:t>𝑥</m:t>
                                      </m:r>
                                      <m:r>
                                        <a:rPr lang="ar-AE" sz="1800">
                                          <a:latin typeface="Cambria Math" panose="02040503050406030204" pitchFamily="18" charset="0"/>
                                        </a:rPr>
                                        <m:t>−</m:t>
                                      </m:r>
                                      <m:r>
                                        <a:rPr lang="ar-AE" sz="1800">
                                          <a:latin typeface="Cambria Math" panose="02040503050406030204" pitchFamily="18" charset="0"/>
                                        </a:rPr>
                                        <m:t>𝜇</m:t>
                                      </m:r>
                                    </m:e>
                                  </m:d>
                                </m:e>
                                <m:sup>
                                  <m:r>
                                    <a:rPr lang="ar-AE" sz="1800">
                                      <a:latin typeface="Cambria Math" panose="02040503050406030204" pitchFamily="18" charset="0"/>
                                    </a:rPr>
                                    <m:t>2</m:t>
                                  </m:r>
                                </m:sup>
                              </m:sSup>
                            </m:num>
                            <m:den>
                              <m:r>
                                <a:rPr lang="ar-AE" sz="1800">
                                  <a:latin typeface="Cambria Math" panose="02040503050406030204" pitchFamily="18" charset="0"/>
                                </a:rPr>
                                <m:t>2</m:t>
                              </m:r>
                              <m:sSup>
                                <m:sSupPr>
                                  <m:ctrlPr>
                                    <a:rPr lang="ar-AE" sz="1800" i="1">
                                      <a:latin typeface="Cambria Math" panose="02040503050406030204" pitchFamily="18" charset="0"/>
                                    </a:rPr>
                                  </m:ctrlPr>
                                </m:sSupPr>
                                <m:e>
                                  <m:r>
                                    <a:rPr lang="ar-AE" sz="1800">
                                      <a:latin typeface="Cambria Math" panose="02040503050406030204" pitchFamily="18" charset="0"/>
                                    </a:rPr>
                                    <m:t>𝜎</m:t>
                                  </m:r>
                                </m:e>
                                <m:sup>
                                  <m:r>
                                    <a:rPr lang="ar-AE" sz="1800">
                                      <a:latin typeface="Cambria Math" panose="02040503050406030204" pitchFamily="18" charset="0"/>
                                    </a:rPr>
                                    <m:t>2</m:t>
                                  </m:r>
                                </m:sup>
                              </m:sSup>
                            </m:den>
                          </m:f>
                        </m:e>
                      </m:d>
                      <m:r>
                        <a:rPr lang="ar-AE" sz="1800">
                          <a:latin typeface="Cambria Math" panose="02040503050406030204" pitchFamily="18" charset="0"/>
                        </a:rPr>
                        <m:t>, −</m:t>
                      </m:r>
                      <m:r>
                        <a:rPr lang="ar-AE" sz="1800">
                          <a:latin typeface="Cambria Math" panose="02040503050406030204" pitchFamily="18" charset="0"/>
                        </a:rPr>
                        <m:t>∞</m:t>
                      </m:r>
                      <m:r>
                        <a:rPr lang="ar-AE" sz="1800">
                          <a:latin typeface="Cambria Math" panose="02040503050406030204" pitchFamily="18" charset="0"/>
                        </a:rPr>
                        <m:t>&lt;</m:t>
                      </m:r>
                      <m:r>
                        <a:rPr lang="ar-AE" sz="1800">
                          <a:latin typeface="Cambria Math" panose="02040503050406030204" pitchFamily="18" charset="0"/>
                        </a:rPr>
                        <m:t>𝑥</m:t>
                      </m:r>
                      <m:r>
                        <a:rPr lang="ar-AE" sz="1800">
                          <a:latin typeface="Cambria Math" panose="02040503050406030204" pitchFamily="18" charset="0"/>
                        </a:rPr>
                        <m:t>&lt;</m:t>
                      </m:r>
                      <m:r>
                        <a:rPr lang="ar-AE" sz="1800">
                          <a:latin typeface="Cambria Math" panose="02040503050406030204" pitchFamily="18" charset="0"/>
                        </a:rPr>
                        <m:t>∞</m:t>
                      </m:r>
                      <m:r>
                        <a:rPr lang="ar-AE" sz="1800">
                          <a:latin typeface="Cambria Math" panose="02040503050406030204" pitchFamily="18" charset="0"/>
                        </a:rPr>
                        <m:t>, </m:t>
                      </m:r>
                      <m:r>
                        <a:rPr lang="ar-AE" sz="1800">
                          <a:latin typeface="Cambria Math" panose="02040503050406030204" pitchFamily="18" charset="0"/>
                        </a:rPr>
                        <m:t>𝜇</m:t>
                      </m:r>
                      <m:r>
                        <a:rPr lang="ar-AE" sz="1800">
                          <a:latin typeface="Cambria Math" panose="02040503050406030204" pitchFamily="18" charset="0"/>
                        </a:rPr>
                        <m:t>∈</m:t>
                      </m:r>
                      <m:r>
                        <a:rPr lang="ar-AE" sz="1800">
                          <a:latin typeface="Cambria Math" panose="02040503050406030204" pitchFamily="18" charset="0"/>
                        </a:rPr>
                        <m:t>ℝ</m:t>
                      </m:r>
                      <m:r>
                        <a:rPr lang="ar-AE" sz="1800">
                          <a:latin typeface="Cambria Math" panose="02040503050406030204" pitchFamily="18" charset="0"/>
                        </a:rPr>
                        <m:t>, </m:t>
                      </m:r>
                      <m:r>
                        <a:rPr lang="ar-AE" sz="1800">
                          <a:latin typeface="Cambria Math" panose="02040503050406030204" pitchFamily="18" charset="0"/>
                        </a:rPr>
                        <m:t>𝜎</m:t>
                      </m:r>
                      <m:r>
                        <a:rPr lang="ar-AE" sz="1800">
                          <a:latin typeface="Cambria Math" panose="02040503050406030204" pitchFamily="18" charset="0"/>
                        </a:rPr>
                        <m:t>&gt;</m:t>
                      </m:r>
                      <m:r>
                        <a:rPr lang="ar-AE" sz="1800">
                          <a:latin typeface="Cambria Math" panose="02040503050406030204" pitchFamily="18" charset="0"/>
                        </a:rPr>
                        <m:t>0</m:t>
                      </m:r>
                      <m:r>
                        <a:rPr lang="ar-AE" sz="1800">
                          <a:latin typeface="Cambria Math" panose="02040503050406030204" pitchFamily="18" charset="0"/>
                        </a:rPr>
                        <m:t>,</m:t>
                      </m:r>
                    </m:oMath>
                  </m:oMathPara>
                </a14:m>
                <a:endParaRPr lang="ar-AE" sz="1800" dirty="0"/>
              </a:p>
              <a:p>
                <a:pPr marL="0" lvl="0" indent="0" algn="just">
                  <a:lnSpc>
                    <a:spcPct val="150000"/>
                  </a:lnSpc>
                  <a:buNone/>
                </a:pPr>
                <a:r>
                  <a:rPr lang="en-IN" sz="1800" dirty="0"/>
                  <a:t>where </a:t>
                </a:r>
                <a14:m>
                  <m:oMath xmlns:m="http://schemas.openxmlformats.org/officeDocument/2006/math">
                    <m:r>
                      <a:rPr lang="en-IN" sz="1800">
                        <a:latin typeface="Cambria Math" panose="02040503050406030204" pitchFamily="18" charset="0"/>
                      </a:rPr>
                      <m:t>𝜇</m:t>
                    </m:r>
                  </m:oMath>
                </a14:m>
                <a:r>
                  <a:rPr lang="en-IN" sz="1800" dirty="0"/>
                  <a:t> is mean and </a:t>
                </a:r>
                <a14:m>
                  <m:oMath xmlns:m="http://schemas.openxmlformats.org/officeDocument/2006/math">
                    <m:r>
                      <a:rPr lang="en-IN" sz="1800">
                        <a:latin typeface="Cambria Math" panose="02040503050406030204" pitchFamily="18" charset="0"/>
                      </a:rPr>
                      <m:t>𝜎</m:t>
                    </m:r>
                  </m:oMath>
                </a14:m>
                <a:r>
                  <a:rPr lang="en-IN" sz="1800" dirty="0"/>
                  <a:t> is the standard deviation (spread).</a:t>
                </a:r>
              </a:p>
            </p:txBody>
          </p:sp>
        </mc:Choice>
        <mc:Fallback xmlns="">
          <p:sp>
            <p:nvSpPr>
              <p:cNvPr id="7" name="TextBox 6">
                <a:extLst>
                  <a:ext uri="{FF2B5EF4-FFF2-40B4-BE49-F238E27FC236}">
                    <a16:creationId xmlns:a16="http://schemas.microsoft.com/office/drawing/2014/main" id="{DD5B815E-377F-67AD-5C12-A0E8ED6CCB93}"/>
                  </a:ext>
                </a:extLst>
              </p:cNvPr>
              <p:cNvSpPr txBox="1">
                <a:spLocks noRot="1" noChangeAspect="1" noMove="1" noResize="1" noEditPoints="1" noAdjustHandles="1" noChangeArrowheads="1" noChangeShapeType="1" noTextEdit="1"/>
              </p:cNvSpPr>
              <p:nvPr/>
            </p:nvSpPr>
            <p:spPr>
              <a:xfrm>
                <a:off x="250863" y="951131"/>
                <a:ext cx="11245187" cy="2652649"/>
              </a:xfrm>
              <a:prstGeom prst="rect">
                <a:avLst/>
              </a:prstGeom>
              <a:blipFill>
                <a:blip r:embed="rId4"/>
                <a:stretch>
                  <a:fillRect l="-434" r="-488" b="-2759"/>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7917E323-5BBA-2C0C-2D34-0B99CD8900B0}"/>
              </a:ext>
            </a:extLst>
          </p:cNvPr>
          <p:cNvPicPr>
            <a:picLocks noChangeAspect="1"/>
          </p:cNvPicPr>
          <p:nvPr/>
        </p:nvPicPr>
        <p:blipFill>
          <a:blip r:embed="rId5"/>
          <a:stretch>
            <a:fillRect/>
          </a:stretch>
        </p:blipFill>
        <p:spPr>
          <a:xfrm>
            <a:off x="341193" y="3652909"/>
            <a:ext cx="5873627" cy="2683015"/>
          </a:xfrm>
          <a:prstGeom prst="rect">
            <a:avLst/>
          </a:prstGeom>
        </p:spPr>
      </p:pic>
      <p:pic>
        <p:nvPicPr>
          <p:cNvPr id="12" name="Picture 11">
            <a:extLst>
              <a:ext uri="{FF2B5EF4-FFF2-40B4-BE49-F238E27FC236}">
                <a16:creationId xmlns:a16="http://schemas.microsoft.com/office/drawing/2014/main" id="{8D7F454A-056F-3143-E45F-52BEC5B3FF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32927" y="3652909"/>
            <a:ext cx="4366532" cy="2911021"/>
          </a:xfrm>
          <a:prstGeom prst="rect">
            <a:avLst/>
          </a:prstGeom>
        </p:spPr>
      </p:pic>
    </p:spTree>
    <p:extLst>
      <p:ext uri="{BB962C8B-B14F-4D97-AF65-F5344CB8AC3E}">
        <p14:creationId xmlns:p14="http://schemas.microsoft.com/office/powerpoint/2010/main" val="2886605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F1B00-12F1-C087-0A35-04BA15686C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E0FE89-5B4F-BE7C-F4F8-8A410C15505A}"/>
              </a:ext>
            </a:extLst>
          </p:cNvPr>
          <p:cNvSpPr txBox="1"/>
          <p:nvPr/>
        </p:nvSpPr>
        <p:spPr>
          <a:xfrm>
            <a:off x="204716" y="600585"/>
            <a:ext cx="2452808" cy="400110"/>
          </a:xfrm>
          <a:prstGeom prst="rect">
            <a:avLst/>
          </a:prstGeom>
          <a:noFill/>
        </p:spPr>
        <p:txBody>
          <a:bodyPr wrap="square" rtlCol="0">
            <a:spAutoFit/>
          </a:bodyPr>
          <a:lstStyle/>
          <a:p>
            <a:r>
              <a:rPr lang="en-US" sz="2000" b="1" dirty="0">
                <a:solidFill>
                  <a:srgbClr val="00B050"/>
                </a:solidFill>
              </a:rPr>
              <a:t>  Normal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0DAB060A-CD3A-E92E-7C18-3AC128FBDA66}"/>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p:pic>
        <p:nvPicPr>
          <p:cNvPr id="5" name="Google Shape;90;p1">
            <a:extLst>
              <a:ext uri="{FF2B5EF4-FFF2-40B4-BE49-F238E27FC236}">
                <a16:creationId xmlns:a16="http://schemas.microsoft.com/office/drawing/2014/main" id="{969EE001-AC53-2C90-A123-B1405F3B67AA}"/>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7" name="TextBox 6">
            <a:extLst>
              <a:ext uri="{FF2B5EF4-FFF2-40B4-BE49-F238E27FC236}">
                <a16:creationId xmlns:a16="http://schemas.microsoft.com/office/drawing/2014/main" id="{31322BBD-C79A-6B46-E8EB-6D1FF3C5C7CA}"/>
              </a:ext>
            </a:extLst>
          </p:cNvPr>
          <p:cNvSpPr txBox="1"/>
          <p:nvPr/>
        </p:nvSpPr>
        <p:spPr>
          <a:xfrm>
            <a:off x="341194" y="1201171"/>
            <a:ext cx="4184312" cy="369332"/>
          </a:xfrm>
          <a:prstGeom prst="rect">
            <a:avLst/>
          </a:prstGeom>
          <a:noFill/>
        </p:spPr>
        <p:txBody>
          <a:bodyPr wrap="square">
            <a:spAutoFit/>
          </a:bodyPr>
          <a:lstStyle/>
          <a:p>
            <a:pPr marL="0" lvl="0" indent="0" algn="just">
              <a:buNone/>
            </a:pPr>
            <a:r>
              <a:rPr lang="en-US" sz="1800" dirty="0"/>
              <a:t> Also, we can use in-built function </a:t>
            </a:r>
            <a:endParaRPr lang="en-IN" sz="1800" dirty="0"/>
          </a:p>
        </p:txBody>
      </p:sp>
      <p:pic>
        <p:nvPicPr>
          <p:cNvPr id="12" name="Picture 11">
            <a:extLst>
              <a:ext uri="{FF2B5EF4-FFF2-40B4-BE49-F238E27FC236}">
                <a16:creationId xmlns:a16="http://schemas.microsoft.com/office/drawing/2014/main" id="{DD5652A3-8305-5325-9214-B67DF16FCD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7295" y="2661330"/>
            <a:ext cx="4886705" cy="3058808"/>
          </a:xfrm>
          <a:prstGeom prst="rect">
            <a:avLst/>
          </a:prstGeom>
        </p:spPr>
      </p:pic>
      <p:pic>
        <p:nvPicPr>
          <p:cNvPr id="13" name="Picture 12">
            <a:extLst>
              <a:ext uri="{FF2B5EF4-FFF2-40B4-BE49-F238E27FC236}">
                <a16:creationId xmlns:a16="http://schemas.microsoft.com/office/drawing/2014/main" id="{AB03A2B8-741E-5752-EFEE-94FD7C344EDC}"/>
              </a:ext>
            </a:extLst>
          </p:cNvPr>
          <p:cNvPicPr>
            <a:picLocks noChangeAspect="1"/>
          </p:cNvPicPr>
          <p:nvPr/>
        </p:nvPicPr>
        <p:blipFill>
          <a:blip r:embed="rId5"/>
          <a:stretch>
            <a:fillRect/>
          </a:stretch>
        </p:blipFill>
        <p:spPr>
          <a:xfrm>
            <a:off x="204716" y="3199714"/>
            <a:ext cx="6087596" cy="1457528"/>
          </a:xfrm>
          <a:prstGeom prst="rect">
            <a:avLst/>
          </a:prstGeom>
        </p:spPr>
      </p:pic>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29DB740-0180-BCD5-1292-44CDDE82544B}"/>
                  </a:ext>
                </a:extLst>
              </p:cNvPr>
              <p:cNvSpPr txBox="1"/>
              <p:nvPr/>
            </p:nvSpPr>
            <p:spPr>
              <a:xfrm>
                <a:off x="1038387" y="1664006"/>
                <a:ext cx="7976133" cy="997324"/>
              </a:xfrm>
              <a:prstGeom prst="rect">
                <a:avLst/>
              </a:prstGeom>
              <a:noFill/>
            </p:spPr>
            <p:txBody>
              <a:bodyPr wrap="square">
                <a:spAutoFit/>
              </a:bodyPr>
              <a:lstStyle/>
              <a:p>
                <a:pPr marL="0" lvl="0" indent="0" algn="just">
                  <a:buNone/>
                </a:pPr>
                <a14:m>
                  <m:oMathPara xmlns:m="http://schemas.openxmlformats.org/officeDocument/2006/math">
                    <m:oMathParaPr>
                      <m:jc m:val="center"/>
                    </m:oMathParaPr>
                    <m:oMath xmlns:m="http://schemas.openxmlformats.org/officeDocument/2006/math">
                      <m:r>
                        <a:rPr lang="en-IN" sz="1800" smtClean="0">
                          <a:latin typeface="Cambria Math" panose="02040503050406030204" pitchFamily="18" charset="0"/>
                        </a:rPr>
                        <m:t>𝑓</m:t>
                      </m:r>
                      <m:d>
                        <m:dPr>
                          <m:ctrlPr>
                            <a:rPr lang="ar-AE" sz="1800" i="1">
                              <a:latin typeface="Cambria Math" panose="02040503050406030204" pitchFamily="18" charset="0"/>
                            </a:rPr>
                          </m:ctrlPr>
                        </m:dPr>
                        <m:e>
                          <m:r>
                            <a:rPr lang="ar-AE" sz="1800">
                              <a:latin typeface="Cambria Math" panose="02040503050406030204" pitchFamily="18" charset="0"/>
                            </a:rPr>
                            <m:t>𝑥</m:t>
                          </m:r>
                          <m:r>
                            <a:rPr lang="ar-AE" sz="1800">
                              <a:latin typeface="Cambria Math" panose="02040503050406030204" pitchFamily="18" charset="0"/>
                            </a:rPr>
                            <m:t>∣</m:t>
                          </m:r>
                          <m:r>
                            <a:rPr lang="ar-AE" sz="1800">
                              <a:latin typeface="Cambria Math" panose="02040503050406030204" pitchFamily="18" charset="0"/>
                            </a:rPr>
                            <m:t>𝜇</m:t>
                          </m:r>
                          <m:r>
                            <a:rPr lang="ar-AE" sz="1800">
                              <a:latin typeface="Cambria Math" panose="02040503050406030204" pitchFamily="18" charset="0"/>
                            </a:rPr>
                            <m:t>,</m:t>
                          </m:r>
                          <m:sSup>
                            <m:sSupPr>
                              <m:ctrlPr>
                                <a:rPr lang="ar-AE" sz="1800" i="1">
                                  <a:latin typeface="Cambria Math" panose="02040503050406030204" pitchFamily="18" charset="0"/>
                                </a:rPr>
                              </m:ctrlPr>
                            </m:sSupPr>
                            <m:e>
                              <m:r>
                                <a:rPr lang="ar-AE" sz="1800">
                                  <a:latin typeface="Cambria Math" panose="02040503050406030204" pitchFamily="18" charset="0"/>
                                </a:rPr>
                                <m:t>𝜎</m:t>
                              </m:r>
                            </m:e>
                            <m:sup>
                              <m:r>
                                <a:rPr lang="ar-AE" sz="1800">
                                  <a:latin typeface="Cambria Math" panose="02040503050406030204" pitchFamily="18" charset="0"/>
                                </a:rPr>
                                <m:t>2</m:t>
                              </m:r>
                            </m:sup>
                          </m:sSup>
                        </m:e>
                      </m:d>
                      <m:r>
                        <a:rPr lang="ar-AE" sz="1800">
                          <a:latin typeface="Cambria Math" panose="02040503050406030204" pitchFamily="18" charset="0"/>
                        </a:rPr>
                        <m:t>=</m:t>
                      </m:r>
                      <m:f>
                        <m:fPr>
                          <m:ctrlPr>
                            <a:rPr lang="ar-AE" sz="1800" i="1">
                              <a:latin typeface="Cambria Math" panose="02040503050406030204" pitchFamily="18" charset="0"/>
                            </a:rPr>
                          </m:ctrlPr>
                        </m:fPr>
                        <m:num>
                          <m:r>
                            <a:rPr lang="ar-AE" sz="1800">
                              <a:latin typeface="Cambria Math" panose="02040503050406030204" pitchFamily="18" charset="0"/>
                            </a:rPr>
                            <m:t>1</m:t>
                          </m:r>
                        </m:num>
                        <m:den>
                          <m:r>
                            <a:rPr lang="ar-AE" sz="1800">
                              <a:latin typeface="Cambria Math" panose="02040503050406030204" pitchFamily="18" charset="0"/>
                            </a:rPr>
                            <m:t>𝜎</m:t>
                          </m:r>
                          <m:rad>
                            <m:radPr>
                              <m:degHide m:val="on"/>
                              <m:ctrlPr>
                                <a:rPr lang="ar-AE" sz="1800" i="1">
                                  <a:latin typeface="Cambria Math" panose="02040503050406030204" pitchFamily="18" charset="0"/>
                                </a:rPr>
                              </m:ctrlPr>
                            </m:radPr>
                            <m:deg/>
                            <m:e>
                              <m:r>
                                <a:rPr lang="ar-AE" sz="1800">
                                  <a:latin typeface="Cambria Math" panose="02040503050406030204" pitchFamily="18" charset="0"/>
                                </a:rPr>
                                <m:t>2</m:t>
                              </m:r>
                              <m:r>
                                <a:rPr lang="ar-AE" sz="1800">
                                  <a:latin typeface="Cambria Math" panose="02040503050406030204" pitchFamily="18" charset="0"/>
                                </a:rPr>
                                <m:t>𝜋</m:t>
                              </m:r>
                            </m:e>
                          </m:rad>
                        </m:den>
                      </m:f>
                      <m:r>
                        <m:rPr>
                          <m:sty m:val="p"/>
                        </m:rPr>
                        <a:rPr lang="en-IN" sz="1800">
                          <a:latin typeface="Cambria Math" panose="02040503050406030204" pitchFamily="18" charset="0"/>
                        </a:rPr>
                        <m:t>exp</m:t>
                      </m:r>
                      <m:d>
                        <m:dPr>
                          <m:ctrlPr>
                            <a:rPr lang="ar-AE" sz="1800" i="1">
                              <a:latin typeface="Cambria Math" panose="02040503050406030204" pitchFamily="18" charset="0"/>
                            </a:rPr>
                          </m:ctrlPr>
                        </m:dPr>
                        <m:e>
                          <m:r>
                            <a:rPr lang="ar-AE" sz="1800">
                              <a:latin typeface="Cambria Math" panose="02040503050406030204" pitchFamily="18" charset="0"/>
                            </a:rPr>
                            <m:t>−</m:t>
                          </m:r>
                          <m:f>
                            <m:fPr>
                              <m:ctrlPr>
                                <a:rPr lang="ar-AE" sz="1800" i="1">
                                  <a:latin typeface="Cambria Math" panose="02040503050406030204" pitchFamily="18" charset="0"/>
                                </a:rPr>
                              </m:ctrlPr>
                            </m:fPr>
                            <m:num>
                              <m:sSup>
                                <m:sSupPr>
                                  <m:ctrlPr>
                                    <a:rPr lang="ar-AE" sz="1800" i="1">
                                      <a:latin typeface="Cambria Math" panose="02040503050406030204" pitchFamily="18" charset="0"/>
                                    </a:rPr>
                                  </m:ctrlPr>
                                </m:sSupPr>
                                <m:e>
                                  <m:d>
                                    <m:dPr>
                                      <m:ctrlPr>
                                        <a:rPr lang="ar-AE" sz="1800" i="1">
                                          <a:latin typeface="Cambria Math" panose="02040503050406030204" pitchFamily="18" charset="0"/>
                                        </a:rPr>
                                      </m:ctrlPr>
                                    </m:dPr>
                                    <m:e>
                                      <m:r>
                                        <a:rPr lang="ar-AE" sz="1800">
                                          <a:latin typeface="Cambria Math" panose="02040503050406030204" pitchFamily="18" charset="0"/>
                                        </a:rPr>
                                        <m:t>𝑥</m:t>
                                      </m:r>
                                      <m:r>
                                        <a:rPr lang="ar-AE" sz="1800">
                                          <a:latin typeface="Cambria Math" panose="02040503050406030204" pitchFamily="18" charset="0"/>
                                        </a:rPr>
                                        <m:t>−</m:t>
                                      </m:r>
                                      <m:r>
                                        <a:rPr lang="ar-AE" sz="1800">
                                          <a:latin typeface="Cambria Math" panose="02040503050406030204" pitchFamily="18" charset="0"/>
                                        </a:rPr>
                                        <m:t>𝜇</m:t>
                                      </m:r>
                                    </m:e>
                                  </m:d>
                                </m:e>
                                <m:sup>
                                  <m:r>
                                    <a:rPr lang="ar-AE" sz="1800">
                                      <a:latin typeface="Cambria Math" panose="02040503050406030204" pitchFamily="18" charset="0"/>
                                    </a:rPr>
                                    <m:t>2</m:t>
                                  </m:r>
                                </m:sup>
                              </m:sSup>
                            </m:num>
                            <m:den>
                              <m:r>
                                <a:rPr lang="ar-AE" sz="1800">
                                  <a:latin typeface="Cambria Math" panose="02040503050406030204" pitchFamily="18" charset="0"/>
                                </a:rPr>
                                <m:t>2</m:t>
                              </m:r>
                              <m:sSup>
                                <m:sSupPr>
                                  <m:ctrlPr>
                                    <a:rPr lang="ar-AE" sz="1800" i="1">
                                      <a:latin typeface="Cambria Math" panose="02040503050406030204" pitchFamily="18" charset="0"/>
                                    </a:rPr>
                                  </m:ctrlPr>
                                </m:sSupPr>
                                <m:e>
                                  <m:r>
                                    <a:rPr lang="ar-AE" sz="1800">
                                      <a:latin typeface="Cambria Math" panose="02040503050406030204" pitchFamily="18" charset="0"/>
                                    </a:rPr>
                                    <m:t>𝜎</m:t>
                                  </m:r>
                                </m:e>
                                <m:sup>
                                  <m:r>
                                    <a:rPr lang="ar-AE" sz="1800">
                                      <a:latin typeface="Cambria Math" panose="02040503050406030204" pitchFamily="18" charset="0"/>
                                    </a:rPr>
                                    <m:t>2</m:t>
                                  </m:r>
                                </m:sup>
                              </m:sSup>
                            </m:den>
                          </m:f>
                        </m:e>
                      </m:d>
                      <m:r>
                        <a:rPr lang="ar-AE" sz="1800">
                          <a:latin typeface="Cambria Math" panose="02040503050406030204" pitchFamily="18" charset="0"/>
                        </a:rPr>
                        <m:t>, −</m:t>
                      </m:r>
                      <m:r>
                        <a:rPr lang="ar-AE" sz="1800">
                          <a:latin typeface="Cambria Math" panose="02040503050406030204" pitchFamily="18" charset="0"/>
                        </a:rPr>
                        <m:t>∞</m:t>
                      </m:r>
                      <m:r>
                        <a:rPr lang="ar-AE" sz="1800">
                          <a:latin typeface="Cambria Math" panose="02040503050406030204" pitchFamily="18" charset="0"/>
                        </a:rPr>
                        <m:t>&lt;</m:t>
                      </m:r>
                      <m:r>
                        <a:rPr lang="ar-AE" sz="1800">
                          <a:latin typeface="Cambria Math" panose="02040503050406030204" pitchFamily="18" charset="0"/>
                        </a:rPr>
                        <m:t>𝑥</m:t>
                      </m:r>
                      <m:r>
                        <a:rPr lang="ar-AE" sz="1800">
                          <a:latin typeface="Cambria Math" panose="02040503050406030204" pitchFamily="18" charset="0"/>
                        </a:rPr>
                        <m:t>&lt;</m:t>
                      </m:r>
                      <m:r>
                        <a:rPr lang="ar-AE" sz="1800">
                          <a:latin typeface="Cambria Math" panose="02040503050406030204" pitchFamily="18" charset="0"/>
                        </a:rPr>
                        <m:t>∞</m:t>
                      </m:r>
                      <m:r>
                        <a:rPr lang="ar-AE" sz="1800">
                          <a:latin typeface="Cambria Math" panose="02040503050406030204" pitchFamily="18" charset="0"/>
                        </a:rPr>
                        <m:t>, </m:t>
                      </m:r>
                      <m:r>
                        <a:rPr lang="ar-AE" sz="1800">
                          <a:latin typeface="Cambria Math" panose="02040503050406030204" pitchFamily="18" charset="0"/>
                        </a:rPr>
                        <m:t>𝜇</m:t>
                      </m:r>
                      <m:r>
                        <a:rPr lang="ar-AE" sz="1800">
                          <a:latin typeface="Cambria Math" panose="02040503050406030204" pitchFamily="18" charset="0"/>
                        </a:rPr>
                        <m:t>∈</m:t>
                      </m:r>
                      <m:r>
                        <a:rPr lang="ar-AE" sz="1800">
                          <a:latin typeface="Cambria Math" panose="02040503050406030204" pitchFamily="18" charset="0"/>
                        </a:rPr>
                        <m:t>ℝ</m:t>
                      </m:r>
                      <m:r>
                        <a:rPr lang="ar-AE" sz="1800">
                          <a:latin typeface="Cambria Math" panose="02040503050406030204" pitchFamily="18" charset="0"/>
                        </a:rPr>
                        <m:t>, </m:t>
                      </m:r>
                      <m:r>
                        <a:rPr lang="ar-AE" sz="1800">
                          <a:latin typeface="Cambria Math" panose="02040503050406030204" pitchFamily="18" charset="0"/>
                        </a:rPr>
                        <m:t>𝜎</m:t>
                      </m:r>
                      <m:r>
                        <a:rPr lang="ar-AE" sz="1800">
                          <a:latin typeface="Cambria Math" panose="02040503050406030204" pitchFamily="18" charset="0"/>
                        </a:rPr>
                        <m:t>&gt;</m:t>
                      </m:r>
                      <m:r>
                        <a:rPr lang="ar-AE" sz="1800">
                          <a:latin typeface="Cambria Math" panose="02040503050406030204" pitchFamily="18" charset="0"/>
                        </a:rPr>
                        <m:t>0</m:t>
                      </m:r>
                      <m:r>
                        <a:rPr lang="ar-AE" sz="1800">
                          <a:latin typeface="Cambria Math" panose="02040503050406030204" pitchFamily="18" charset="0"/>
                        </a:rPr>
                        <m:t>,</m:t>
                      </m:r>
                    </m:oMath>
                  </m:oMathPara>
                </a14:m>
                <a:endParaRPr lang="ar-AE" sz="1800" dirty="0"/>
              </a:p>
              <a:p>
                <a:pPr marL="0" lvl="0" indent="0" algn="just">
                  <a:buNone/>
                </a:pPr>
                <a:endParaRPr lang="en-IN" sz="1800" dirty="0"/>
              </a:p>
            </p:txBody>
          </p:sp>
        </mc:Choice>
        <mc:Fallback xmlns="">
          <p:sp>
            <p:nvSpPr>
              <p:cNvPr id="19" name="TextBox 18">
                <a:extLst>
                  <a:ext uri="{FF2B5EF4-FFF2-40B4-BE49-F238E27FC236}">
                    <a16:creationId xmlns:a16="http://schemas.microsoft.com/office/drawing/2014/main" id="{A29DB740-0180-BCD5-1292-44CDDE82544B}"/>
                  </a:ext>
                </a:extLst>
              </p:cNvPr>
              <p:cNvSpPr txBox="1">
                <a:spLocks noRot="1" noChangeAspect="1" noMove="1" noResize="1" noEditPoints="1" noAdjustHandles="1" noChangeArrowheads="1" noChangeShapeType="1" noTextEdit="1"/>
              </p:cNvSpPr>
              <p:nvPr/>
            </p:nvSpPr>
            <p:spPr>
              <a:xfrm>
                <a:off x="1038387" y="1664006"/>
                <a:ext cx="7976133" cy="997324"/>
              </a:xfrm>
              <a:prstGeom prst="rect">
                <a:avLst/>
              </a:prstGeom>
              <a:blipFill>
                <a:blip r:embed="rId6"/>
                <a:stretch>
                  <a:fillRect/>
                </a:stretch>
              </a:blipFill>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0EF57FAD-0BCB-6D7A-05D3-CE3DF8BA451C}"/>
              </a:ext>
            </a:extLst>
          </p:cNvPr>
          <p:cNvSpPr>
            <a:spLocks noGrp="1"/>
          </p:cNvSpPr>
          <p:nvPr>
            <p:ph type="sldNum" sz="quarter" idx="12"/>
          </p:nvPr>
        </p:nvSpPr>
        <p:spPr/>
        <p:txBody>
          <a:bodyPr/>
          <a:lstStyle/>
          <a:p>
            <a:fld id="{8EC77227-B7F4-4800-97BE-1DE2687871B5}" type="slidenum">
              <a:rPr lang="en-IN" smtClean="0"/>
              <a:t>25</a:t>
            </a:fld>
            <a:endParaRPr lang="en-IN" dirty="0"/>
          </a:p>
        </p:txBody>
      </p:sp>
      <p:sp>
        <p:nvSpPr>
          <p:cNvPr id="8" name="TextBox 7">
            <a:extLst>
              <a:ext uri="{FF2B5EF4-FFF2-40B4-BE49-F238E27FC236}">
                <a16:creationId xmlns:a16="http://schemas.microsoft.com/office/drawing/2014/main" id="{E54908C9-BCAE-BD34-D98D-895ED5EB3DD1}"/>
              </a:ext>
            </a:extLst>
          </p:cNvPr>
          <p:cNvSpPr txBox="1"/>
          <p:nvPr/>
        </p:nvSpPr>
        <p:spPr>
          <a:xfrm>
            <a:off x="204716" y="77366"/>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Tree>
    <p:extLst>
      <p:ext uri="{BB962C8B-B14F-4D97-AF65-F5344CB8AC3E}">
        <p14:creationId xmlns:p14="http://schemas.microsoft.com/office/powerpoint/2010/main" val="34424147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851D4-D212-8C75-1C93-EDBD1F97E5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0232659-A246-719F-0AB9-717EEF7AF237}"/>
              </a:ext>
            </a:extLst>
          </p:cNvPr>
          <p:cNvSpPr txBox="1"/>
          <p:nvPr/>
        </p:nvSpPr>
        <p:spPr>
          <a:xfrm>
            <a:off x="204716" y="600585"/>
            <a:ext cx="2452808" cy="400110"/>
          </a:xfrm>
          <a:prstGeom prst="rect">
            <a:avLst/>
          </a:prstGeom>
          <a:noFill/>
        </p:spPr>
        <p:txBody>
          <a:bodyPr wrap="square" rtlCol="0">
            <a:spAutoFit/>
          </a:bodyPr>
          <a:lstStyle/>
          <a:p>
            <a:r>
              <a:rPr lang="en-US" sz="2000" b="1" dirty="0">
                <a:solidFill>
                  <a:srgbClr val="00B050"/>
                </a:solidFill>
              </a:rPr>
              <a:t>  Normal Distribution</a:t>
            </a:r>
            <a:endParaRPr lang="en-IN" sz="2000" b="1" dirty="0">
              <a:solidFill>
                <a:srgbClr val="00B050"/>
              </a:solidFill>
            </a:endParaRPr>
          </a:p>
        </p:txBody>
      </p:sp>
      <p:pic>
        <p:nvPicPr>
          <p:cNvPr id="5" name="Google Shape;90;p1">
            <a:extLst>
              <a:ext uri="{FF2B5EF4-FFF2-40B4-BE49-F238E27FC236}">
                <a16:creationId xmlns:a16="http://schemas.microsoft.com/office/drawing/2014/main" id="{DC8190A7-46F6-DE4D-99A1-BFAB8650C9DA}"/>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15" name="TextBox 14">
            <a:extLst>
              <a:ext uri="{FF2B5EF4-FFF2-40B4-BE49-F238E27FC236}">
                <a16:creationId xmlns:a16="http://schemas.microsoft.com/office/drawing/2014/main" id="{CB22F472-C3A8-0942-6B5B-69634BB515DC}"/>
              </a:ext>
            </a:extLst>
          </p:cNvPr>
          <p:cNvSpPr txBox="1"/>
          <p:nvPr/>
        </p:nvSpPr>
        <p:spPr>
          <a:xfrm>
            <a:off x="341193" y="1155579"/>
            <a:ext cx="11638998" cy="1711366"/>
          </a:xfrm>
          <a:prstGeom prst="rect">
            <a:avLst/>
          </a:prstGeom>
          <a:noFill/>
        </p:spPr>
        <p:txBody>
          <a:bodyPr wrap="square">
            <a:spAutoFit/>
          </a:bodyPr>
          <a:lstStyle/>
          <a:p>
            <a:pPr algn="just">
              <a:lnSpc>
                <a:spcPct val="150000"/>
              </a:lnSpc>
            </a:pPr>
            <a:r>
              <a:rPr lang="en-IN" dirty="0"/>
              <a:t>Example: Suppose the diameters of bolts manufactured by a machine follow a normal distribution with a mean of 5 mm and a standard deviation of 0.2 mm. A quality control analyst wants to calculate the probability that a randomly selected bolt has a diameter between 4.8 mm and 5.2 mm. Since the variation in diameters is due to random factors and most values are expected to be close to the mean, the normal distribution is appropriate for modelling this scenario.</a:t>
            </a:r>
          </a:p>
        </p:txBody>
      </p:sp>
      <p:pic>
        <p:nvPicPr>
          <p:cNvPr id="3" name="Picture 2">
            <a:extLst>
              <a:ext uri="{FF2B5EF4-FFF2-40B4-BE49-F238E27FC236}">
                <a16:creationId xmlns:a16="http://schemas.microsoft.com/office/drawing/2014/main" id="{85CDC0AF-0743-4BFB-DBE0-7AC433E0BD25}"/>
              </a:ext>
            </a:extLst>
          </p:cNvPr>
          <p:cNvPicPr>
            <a:picLocks noChangeAspect="1"/>
          </p:cNvPicPr>
          <p:nvPr/>
        </p:nvPicPr>
        <p:blipFill>
          <a:blip r:embed="rId4"/>
          <a:stretch>
            <a:fillRect/>
          </a:stretch>
        </p:blipFill>
        <p:spPr>
          <a:xfrm>
            <a:off x="525409" y="3004178"/>
            <a:ext cx="5014266" cy="3344773"/>
          </a:xfrm>
          <a:prstGeom prst="rect">
            <a:avLst/>
          </a:prstGeom>
        </p:spPr>
      </p:pic>
      <p:pic>
        <p:nvPicPr>
          <p:cNvPr id="10" name="Picture 9">
            <a:extLst>
              <a:ext uri="{FF2B5EF4-FFF2-40B4-BE49-F238E27FC236}">
                <a16:creationId xmlns:a16="http://schemas.microsoft.com/office/drawing/2014/main" id="{99E25659-F70A-8B43-F1E2-6A89B307A341}"/>
              </a:ext>
            </a:extLst>
          </p:cNvPr>
          <p:cNvPicPr>
            <a:picLocks noChangeAspect="1"/>
          </p:cNvPicPr>
          <p:nvPr/>
        </p:nvPicPr>
        <p:blipFill>
          <a:blip r:embed="rId5"/>
          <a:stretch>
            <a:fillRect/>
          </a:stretch>
        </p:blipFill>
        <p:spPr>
          <a:xfrm>
            <a:off x="6160692" y="2866945"/>
            <a:ext cx="4572091" cy="3619239"/>
          </a:xfrm>
          <a:prstGeom prst="rect">
            <a:avLst/>
          </a:prstGeom>
        </p:spPr>
      </p:pic>
      <p:sp>
        <p:nvSpPr>
          <p:cNvPr id="2" name="Slide Number Placeholder 1">
            <a:extLst>
              <a:ext uri="{FF2B5EF4-FFF2-40B4-BE49-F238E27FC236}">
                <a16:creationId xmlns:a16="http://schemas.microsoft.com/office/drawing/2014/main" id="{29F98FBF-B692-FE5B-D1AD-945963484E11}"/>
              </a:ext>
            </a:extLst>
          </p:cNvPr>
          <p:cNvSpPr>
            <a:spLocks noGrp="1"/>
          </p:cNvSpPr>
          <p:nvPr>
            <p:ph type="sldNum" sz="quarter" idx="12"/>
          </p:nvPr>
        </p:nvSpPr>
        <p:spPr/>
        <p:txBody>
          <a:bodyPr/>
          <a:lstStyle/>
          <a:p>
            <a:fld id="{8EC77227-B7F4-4800-97BE-1DE2687871B5}" type="slidenum">
              <a:rPr lang="en-IN" smtClean="0"/>
              <a:t>26</a:t>
            </a:fld>
            <a:endParaRPr lang="en-IN" dirty="0"/>
          </a:p>
        </p:txBody>
      </p:sp>
      <p:sp>
        <p:nvSpPr>
          <p:cNvPr id="7" name="TextBox 6">
            <a:extLst>
              <a:ext uri="{FF2B5EF4-FFF2-40B4-BE49-F238E27FC236}">
                <a16:creationId xmlns:a16="http://schemas.microsoft.com/office/drawing/2014/main" id="{B1473F46-5FCA-17B9-539D-4C4EF4F6AF7D}"/>
              </a:ext>
            </a:extLst>
          </p:cNvPr>
          <p:cNvSpPr txBox="1"/>
          <p:nvPr/>
        </p:nvSpPr>
        <p:spPr>
          <a:xfrm>
            <a:off x="204716" y="77366"/>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Tree>
    <p:extLst>
      <p:ext uri="{BB962C8B-B14F-4D97-AF65-F5344CB8AC3E}">
        <p14:creationId xmlns:p14="http://schemas.microsoft.com/office/powerpoint/2010/main" val="1264712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A5378-B30A-C3DB-76D7-2511807B60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076A200-B19F-89DF-E8D0-8FAA38311943}"/>
              </a:ext>
            </a:extLst>
          </p:cNvPr>
          <p:cNvSpPr txBox="1"/>
          <p:nvPr/>
        </p:nvSpPr>
        <p:spPr>
          <a:xfrm>
            <a:off x="204716" y="500452"/>
            <a:ext cx="2879448" cy="400110"/>
          </a:xfrm>
          <a:prstGeom prst="rect">
            <a:avLst/>
          </a:prstGeom>
          <a:noFill/>
        </p:spPr>
        <p:txBody>
          <a:bodyPr wrap="square" rtlCol="0">
            <a:spAutoFit/>
          </a:bodyPr>
          <a:lstStyle/>
          <a:p>
            <a:r>
              <a:rPr lang="en-US" sz="2000" b="1" dirty="0">
                <a:solidFill>
                  <a:srgbClr val="00B050"/>
                </a:solidFill>
              </a:rPr>
              <a:t> Exponential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C6D1492A-24CD-F748-59DB-916940D071F0}"/>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p:pic>
        <p:nvPicPr>
          <p:cNvPr id="5" name="Google Shape;90;p1">
            <a:extLst>
              <a:ext uri="{FF2B5EF4-FFF2-40B4-BE49-F238E27FC236}">
                <a16:creationId xmlns:a16="http://schemas.microsoft.com/office/drawing/2014/main" id="{2551CD62-1CD3-F4ED-C70B-364AFCB61202}"/>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19DEED3-18D7-EEB9-F1A7-D840D52177C7}"/>
                  </a:ext>
                </a:extLst>
              </p:cNvPr>
              <p:cNvSpPr txBox="1"/>
              <p:nvPr/>
            </p:nvSpPr>
            <p:spPr>
              <a:xfrm>
                <a:off x="204716" y="875843"/>
                <a:ext cx="11000096" cy="2637453"/>
              </a:xfrm>
              <a:prstGeom prst="rect">
                <a:avLst/>
              </a:prstGeom>
              <a:noFill/>
            </p:spPr>
            <p:txBody>
              <a:bodyPr wrap="square">
                <a:spAutoFit/>
              </a:bodyPr>
              <a:lstStyle/>
              <a:p>
                <a:pPr marL="0" lvl="0" indent="0" algn="just">
                  <a:lnSpc>
                    <a:spcPct val="150000"/>
                  </a:lnSpc>
                  <a:buNone/>
                </a:pPr>
                <a:r>
                  <a:rPr lang="en-IN" dirty="0"/>
                  <a:t>The exponential distribution describes the time between events that happen randomly but at a steady average rate. It’s often used in situations like waiting times. For example, the time you wait for the next bus, phone call, or customer to arrive. The PDF is:</a:t>
                </a:r>
              </a:p>
              <a:p>
                <a:pPr marL="0" lvl="0" indent="0" algn="just">
                  <a:lnSpc>
                    <a:spcPct val="150000"/>
                  </a:lnSpc>
                  <a:buNone/>
                </a:pPr>
                <a14:m>
                  <m:oMathPara xmlns:m="http://schemas.openxmlformats.org/officeDocument/2006/math">
                    <m:oMathParaPr>
                      <m:jc m:val="center"/>
                    </m:oMathParaPr>
                    <m:oMath xmlns:m="http://schemas.openxmlformats.org/officeDocument/2006/math">
                      <m:r>
                        <a:rPr lang="en-IN">
                          <a:latin typeface="Cambria Math" panose="02040503050406030204" pitchFamily="18" charset="0"/>
                        </a:rPr>
                        <m:t>𝑓</m:t>
                      </m:r>
                      <m:d>
                        <m:dPr>
                          <m:ctrlPr>
                            <a:rPr lang="ar-AE" i="1">
                              <a:latin typeface="Cambria Math" panose="02040503050406030204" pitchFamily="18" charset="0"/>
                            </a:rPr>
                          </m:ctrlPr>
                        </m:dPr>
                        <m:e>
                          <m:r>
                            <a:rPr lang="ar-AE">
                              <a:latin typeface="Cambria Math" panose="02040503050406030204" pitchFamily="18" charset="0"/>
                            </a:rPr>
                            <m:t>𝑥</m:t>
                          </m:r>
                          <m:r>
                            <a:rPr lang="ar-AE">
                              <a:latin typeface="Cambria Math" panose="02040503050406030204" pitchFamily="18" charset="0"/>
                            </a:rPr>
                            <m:t>∣</m:t>
                          </m:r>
                          <m:r>
                            <a:rPr lang="ar-AE">
                              <a:latin typeface="Cambria Math" panose="02040503050406030204" pitchFamily="18" charset="0"/>
                            </a:rPr>
                            <m:t>𝜆</m:t>
                          </m:r>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𝜆</m:t>
                                </m:r>
                                <m:sSup>
                                  <m:sSupPr>
                                    <m:ctrlPr>
                                      <a:rPr lang="ar-AE" i="1">
                                        <a:latin typeface="Cambria Math" panose="02040503050406030204" pitchFamily="18" charset="0"/>
                                      </a:rPr>
                                    </m:ctrlPr>
                                  </m:sSupPr>
                                  <m:e>
                                    <m:r>
                                      <a:rPr lang="ar-AE">
                                        <a:latin typeface="Cambria Math" panose="02040503050406030204" pitchFamily="18" charset="0"/>
                                      </a:rPr>
                                      <m:t>𝑒</m:t>
                                    </m:r>
                                  </m:e>
                                  <m:sup>
                                    <m:r>
                                      <a:rPr lang="ar-AE">
                                        <a:latin typeface="Cambria Math" panose="02040503050406030204" pitchFamily="18" charset="0"/>
                                      </a:rPr>
                                      <m:t>−</m:t>
                                    </m:r>
                                    <m:r>
                                      <a:rPr lang="ar-AE">
                                        <a:latin typeface="Cambria Math" panose="02040503050406030204" pitchFamily="18" charset="0"/>
                                      </a:rPr>
                                      <m:t>𝜆</m:t>
                                    </m:r>
                                    <m:r>
                                      <a:rPr lang="ar-AE">
                                        <a:latin typeface="Cambria Math" panose="02040503050406030204" pitchFamily="18" charset="0"/>
                                      </a:rPr>
                                      <m:t>𝑥</m:t>
                                    </m:r>
                                  </m:sup>
                                </m:sSup>
                                <m:r>
                                  <a:rPr lang="ar-AE">
                                    <a:latin typeface="Cambria Math" panose="02040503050406030204" pitchFamily="18" charset="0"/>
                                  </a:rPr>
                                  <m:t>,</m:t>
                                </m:r>
                              </m:e>
                              <m:e>
                                <m:r>
                                  <a:rPr lang="ar-AE">
                                    <a:latin typeface="Cambria Math" panose="02040503050406030204" pitchFamily="18" charset="0"/>
                                  </a:rPr>
                                  <m:t>𝑥</m:t>
                                </m:r>
                                <m:r>
                                  <a:rPr lang="ar-AE">
                                    <a:latin typeface="Cambria Math" panose="02040503050406030204" pitchFamily="18" charset="0"/>
                                  </a:rPr>
                                  <m:t>≥</m:t>
                                </m:r>
                                <m:r>
                                  <a:rPr lang="ar-AE">
                                    <a:latin typeface="Cambria Math" panose="02040503050406030204" pitchFamily="18" charset="0"/>
                                  </a:rPr>
                                  <m:t>0</m:t>
                                </m:r>
                              </m:e>
                            </m:mr>
                            <m:mr>
                              <m:e>
                                <m:r>
                                  <a:rPr lang="ar-AE">
                                    <a:latin typeface="Cambria Math" panose="02040503050406030204" pitchFamily="18" charset="0"/>
                                  </a:rPr>
                                  <m:t>0</m:t>
                                </m:r>
                                <m:r>
                                  <a:rPr lang="ar-AE">
                                    <a:latin typeface="Cambria Math" panose="02040503050406030204" pitchFamily="18" charset="0"/>
                                  </a:rPr>
                                  <m:t>,</m:t>
                                </m:r>
                              </m:e>
                              <m:e>
                                <m:r>
                                  <a:rPr lang="ar-AE">
                                    <a:latin typeface="Cambria Math" panose="02040503050406030204" pitchFamily="18" charset="0"/>
                                  </a:rPr>
                                  <m:t>𝑥</m:t>
                                </m:r>
                                <m:r>
                                  <a:rPr lang="ar-AE">
                                    <a:latin typeface="Cambria Math" panose="02040503050406030204" pitchFamily="18" charset="0"/>
                                  </a:rPr>
                                  <m:t>&lt;</m:t>
                                </m:r>
                                <m:r>
                                  <a:rPr lang="ar-AE">
                                    <a:latin typeface="Cambria Math" panose="02040503050406030204" pitchFamily="18" charset="0"/>
                                  </a:rPr>
                                  <m:t>0</m:t>
                                </m:r>
                              </m:e>
                            </m:mr>
                          </m:m>
                        </m:e>
                      </m:d>
                      <m:r>
                        <a:rPr lang="ar-AE">
                          <a:latin typeface="Cambria Math" panose="02040503050406030204" pitchFamily="18" charset="0"/>
                        </a:rPr>
                        <m:t>;</m:t>
                      </m:r>
                      <m:r>
                        <a:rPr lang="ar-AE">
                          <a:latin typeface="Cambria Math" panose="02040503050406030204" pitchFamily="18" charset="0"/>
                        </a:rPr>
                        <m:t>𝜆</m:t>
                      </m:r>
                      <m:r>
                        <a:rPr lang="ar-AE">
                          <a:latin typeface="Cambria Math" panose="02040503050406030204" pitchFamily="18" charset="0"/>
                        </a:rPr>
                        <m:t>&gt;</m:t>
                      </m:r>
                      <m:r>
                        <a:rPr lang="ar-AE">
                          <a:latin typeface="Cambria Math" panose="02040503050406030204" pitchFamily="18" charset="0"/>
                        </a:rPr>
                        <m:t>0</m:t>
                      </m:r>
                    </m:oMath>
                  </m:oMathPara>
                </a14:m>
                <a:endParaRPr lang="ar-AE" dirty="0"/>
              </a:p>
              <a:p>
                <a:pPr marL="0" lvl="0" indent="0" algn="just">
                  <a:lnSpc>
                    <a:spcPct val="150000"/>
                  </a:lnSpc>
                  <a:buNone/>
                </a:pPr>
                <a:r>
                  <a:rPr lang="en-IN" dirty="0"/>
                  <a:t>where </a:t>
                </a:r>
                <a14:m>
                  <m:oMath xmlns:m="http://schemas.openxmlformats.org/officeDocument/2006/math">
                    <m:r>
                      <a:rPr lang="en-IN">
                        <a:latin typeface="Cambria Math" panose="02040503050406030204" pitchFamily="18" charset="0"/>
                      </a:rPr>
                      <m:t>𝜆</m:t>
                    </m:r>
                    <m:r>
                      <a:rPr lang="en-IN">
                        <a:latin typeface="Cambria Math" panose="02040503050406030204" pitchFamily="18" charset="0"/>
                      </a:rPr>
                      <m:t>&gt;</m:t>
                    </m:r>
                    <m:r>
                      <a:rPr lang="en-IN">
                        <a:latin typeface="Cambria Math" panose="02040503050406030204" pitchFamily="18" charset="0"/>
                      </a:rPr>
                      <m:t>0</m:t>
                    </m:r>
                  </m:oMath>
                </a14:m>
                <a:r>
                  <a:rPr lang="en-IN" dirty="0"/>
                  <a:t> is the rate parameter (the reciprocal of the mean), and </a:t>
                </a:r>
                <a14:m>
                  <m:oMath xmlns:m="http://schemas.openxmlformats.org/officeDocument/2006/math">
                    <m:r>
                      <a:rPr lang="en-IN">
                        <a:latin typeface="Cambria Math" panose="02040503050406030204" pitchFamily="18" charset="0"/>
                      </a:rPr>
                      <m:t>𝑥</m:t>
                    </m:r>
                  </m:oMath>
                </a14:m>
                <a:r>
                  <a:rPr lang="en-IN" dirty="0"/>
                  <a:t> represents the time until the next event.</a:t>
                </a:r>
              </a:p>
            </p:txBody>
          </p:sp>
        </mc:Choice>
        <mc:Fallback xmlns="">
          <p:sp>
            <p:nvSpPr>
              <p:cNvPr id="3" name="TextBox 2">
                <a:extLst>
                  <a:ext uri="{FF2B5EF4-FFF2-40B4-BE49-F238E27FC236}">
                    <a16:creationId xmlns:a16="http://schemas.microsoft.com/office/drawing/2014/main" id="{A19DEED3-18D7-EEB9-F1A7-D840D52177C7}"/>
                  </a:ext>
                </a:extLst>
              </p:cNvPr>
              <p:cNvSpPr txBox="1">
                <a:spLocks noRot="1" noChangeAspect="1" noMove="1" noResize="1" noEditPoints="1" noAdjustHandles="1" noChangeArrowheads="1" noChangeShapeType="1" noTextEdit="1"/>
              </p:cNvSpPr>
              <p:nvPr/>
            </p:nvSpPr>
            <p:spPr>
              <a:xfrm>
                <a:off x="204716" y="875843"/>
                <a:ext cx="11000096" cy="2637453"/>
              </a:xfrm>
              <a:prstGeom prst="rect">
                <a:avLst/>
              </a:prstGeom>
              <a:blipFill>
                <a:blip r:embed="rId4"/>
                <a:stretch>
                  <a:fillRect l="-499" r="-443" b="-3009"/>
                </a:stretch>
              </a:blipFill>
            </p:spPr>
            <p:txBody>
              <a:bodyPr/>
              <a:lstStyle/>
              <a:p>
                <a:r>
                  <a:rPr lang="en-IN">
                    <a:noFill/>
                  </a:rPr>
                  <a:t> </a:t>
                </a:r>
              </a:p>
            </p:txBody>
          </p:sp>
        </mc:Fallback>
      </mc:AlternateContent>
      <p:pic>
        <p:nvPicPr>
          <p:cNvPr id="17" name="Picture 16">
            <a:extLst>
              <a:ext uri="{FF2B5EF4-FFF2-40B4-BE49-F238E27FC236}">
                <a16:creationId xmlns:a16="http://schemas.microsoft.com/office/drawing/2014/main" id="{9AA0055D-7412-FBAB-6250-2B0A9777822C}"/>
              </a:ext>
            </a:extLst>
          </p:cNvPr>
          <p:cNvPicPr>
            <a:picLocks noChangeAspect="1"/>
          </p:cNvPicPr>
          <p:nvPr/>
        </p:nvPicPr>
        <p:blipFill>
          <a:blip r:embed="rId5"/>
          <a:stretch>
            <a:fillRect/>
          </a:stretch>
        </p:blipFill>
        <p:spPr>
          <a:xfrm>
            <a:off x="125451" y="3698249"/>
            <a:ext cx="7546210" cy="1012581"/>
          </a:xfrm>
          <a:prstGeom prst="rect">
            <a:avLst/>
          </a:prstGeom>
        </p:spPr>
      </p:pic>
      <p:cxnSp>
        <p:nvCxnSpPr>
          <p:cNvPr id="20" name="Straight Arrow Connector 19">
            <a:extLst>
              <a:ext uri="{FF2B5EF4-FFF2-40B4-BE49-F238E27FC236}">
                <a16:creationId xmlns:a16="http://schemas.microsoft.com/office/drawing/2014/main" id="{0E43309A-EADB-124F-CE3D-ABBFBAD32492}"/>
              </a:ext>
            </a:extLst>
          </p:cNvPr>
          <p:cNvCxnSpPr>
            <a:cxnSpLocks/>
          </p:cNvCxnSpPr>
          <p:nvPr/>
        </p:nvCxnSpPr>
        <p:spPr>
          <a:xfrm flipV="1">
            <a:off x="2048960" y="4541332"/>
            <a:ext cx="0" cy="557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67C6DBC-28C7-741A-437E-1211EAA52DD6}"/>
              </a:ext>
            </a:extLst>
          </p:cNvPr>
          <p:cNvSpPr txBox="1"/>
          <p:nvPr/>
        </p:nvSpPr>
        <p:spPr>
          <a:xfrm>
            <a:off x="972811" y="5162607"/>
            <a:ext cx="1712561" cy="369332"/>
          </a:xfrm>
          <a:prstGeom prst="rect">
            <a:avLst/>
          </a:prstGeom>
          <a:noFill/>
        </p:spPr>
        <p:txBody>
          <a:bodyPr wrap="square" rtlCol="0">
            <a:spAutoFit/>
          </a:bodyPr>
          <a:lstStyle/>
          <a:p>
            <a:pPr algn="ctr"/>
            <a:r>
              <a:rPr lang="en-US" b="1" dirty="0">
                <a:solidFill>
                  <a:srgbClr val="FF0000"/>
                </a:solidFill>
              </a:rPr>
              <a:t>Rate parameter</a:t>
            </a:r>
            <a:endParaRPr lang="en-IN" b="1" dirty="0">
              <a:solidFill>
                <a:srgbClr val="FF0000"/>
              </a:solidFill>
            </a:endParaRPr>
          </a:p>
        </p:txBody>
      </p:sp>
      <p:cxnSp>
        <p:nvCxnSpPr>
          <p:cNvPr id="25" name="Straight Arrow Connector 24">
            <a:extLst>
              <a:ext uri="{FF2B5EF4-FFF2-40B4-BE49-F238E27FC236}">
                <a16:creationId xmlns:a16="http://schemas.microsoft.com/office/drawing/2014/main" id="{41636C23-4CAC-9609-2B6E-4D873E967A2B}"/>
              </a:ext>
            </a:extLst>
          </p:cNvPr>
          <p:cNvCxnSpPr>
            <a:cxnSpLocks/>
            <a:stCxn id="29" idx="1"/>
          </p:cNvCxnSpPr>
          <p:nvPr/>
        </p:nvCxnSpPr>
        <p:spPr>
          <a:xfrm flipH="1" flipV="1">
            <a:off x="2372486" y="4549247"/>
            <a:ext cx="941522" cy="8197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9970EA5-3F24-3445-FCBA-142BBA87E5E6}"/>
              </a:ext>
            </a:extLst>
          </p:cNvPr>
          <p:cNvSpPr txBox="1"/>
          <p:nvPr/>
        </p:nvSpPr>
        <p:spPr>
          <a:xfrm>
            <a:off x="3314008" y="5184348"/>
            <a:ext cx="4207631" cy="369332"/>
          </a:xfrm>
          <a:prstGeom prst="rect">
            <a:avLst/>
          </a:prstGeom>
          <a:noFill/>
        </p:spPr>
        <p:txBody>
          <a:bodyPr wrap="square">
            <a:spAutoFit/>
          </a:bodyPr>
          <a:lstStyle/>
          <a:p>
            <a:r>
              <a:rPr lang="en-IN" b="1" dirty="0">
                <a:solidFill>
                  <a:srgbClr val="FF0000"/>
                </a:solidFill>
              </a:rPr>
              <a:t>Represents the time until the next event.</a:t>
            </a:r>
          </a:p>
        </p:txBody>
      </p:sp>
      <p:pic>
        <p:nvPicPr>
          <p:cNvPr id="31" name="Picture 30">
            <a:extLst>
              <a:ext uri="{FF2B5EF4-FFF2-40B4-BE49-F238E27FC236}">
                <a16:creationId xmlns:a16="http://schemas.microsoft.com/office/drawing/2014/main" id="{C94C7638-C660-57CD-F718-FF8A648C33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74149" y="3620220"/>
            <a:ext cx="4207634" cy="2805089"/>
          </a:xfrm>
          <a:prstGeom prst="rect">
            <a:avLst/>
          </a:prstGeom>
        </p:spPr>
      </p:pic>
      <p:sp>
        <p:nvSpPr>
          <p:cNvPr id="2" name="Slide Number Placeholder 1">
            <a:extLst>
              <a:ext uri="{FF2B5EF4-FFF2-40B4-BE49-F238E27FC236}">
                <a16:creationId xmlns:a16="http://schemas.microsoft.com/office/drawing/2014/main" id="{713E2FDE-46A0-7E52-E3BE-D4AD4024BCFD}"/>
              </a:ext>
            </a:extLst>
          </p:cNvPr>
          <p:cNvSpPr>
            <a:spLocks noGrp="1"/>
          </p:cNvSpPr>
          <p:nvPr>
            <p:ph type="sldNum" sz="quarter" idx="12"/>
          </p:nvPr>
        </p:nvSpPr>
        <p:spPr/>
        <p:txBody>
          <a:bodyPr/>
          <a:lstStyle/>
          <a:p>
            <a:fld id="{8EC77227-B7F4-4800-97BE-1DE2687871B5}" type="slidenum">
              <a:rPr lang="en-IN" smtClean="0"/>
              <a:t>27</a:t>
            </a:fld>
            <a:endParaRPr lang="en-IN" dirty="0"/>
          </a:p>
        </p:txBody>
      </p:sp>
      <p:sp>
        <p:nvSpPr>
          <p:cNvPr id="7" name="TextBox 6">
            <a:extLst>
              <a:ext uri="{FF2B5EF4-FFF2-40B4-BE49-F238E27FC236}">
                <a16:creationId xmlns:a16="http://schemas.microsoft.com/office/drawing/2014/main" id="{80D6C68E-E979-D20E-9B93-E8CC52F89DDC}"/>
              </a:ext>
            </a:extLst>
          </p:cNvPr>
          <p:cNvSpPr txBox="1"/>
          <p:nvPr/>
        </p:nvSpPr>
        <p:spPr>
          <a:xfrm>
            <a:off x="204716" y="77366"/>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Tree>
    <p:extLst>
      <p:ext uri="{BB962C8B-B14F-4D97-AF65-F5344CB8AC3E}">
        <p14:creationId xmlns:p14="http://schemas.microsoft.com/office/powerpoint/2010/main" val="3516726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DF15E-A7A0-30CC-246A-5784C44CA1A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69B9798-3A44-29C5-BC56-178512ECA1E2}"/>
              </a:ext>
            </a:extLst>
          </p:cNvPr>
          <p:cNvSpPr txBox="1"/>
          <p:nvPr/>
        </p:nvSpPr>
        <p:spPr>
          <a:xfrm>
            <a:off x="201567" y="600585"/>
            <a:ext cx="2879448" cy="400110"/>
          </a:xfrm>
          <a:prstGeom prst="rect">
            <a:avLst/>
          </a:prstGeom>
          <a:noFill/>
        </p:spPr>
        <p:txBody>
          <a:bodyPr wrap="square" rtlCol="0">
            <a:spAutoFit/>
          </a:bodyPr>
          <a:lstStyle/>
          <a:p>
            <a:r>
              <a:rPr lang="en-US" sz="2000" b="1" dirty="0">
                <a:solidFill>
                  <a:srgbClr val="00B050"/>
                </a:solidFill>
              </a:rPr>
              <a:t> Exponential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EA1172FF-57A6-3A88-AC45-35C6DA064B63}"/>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p:pic>
        <p:nvPicPr>
          <p:cNvPr id="5" name="Google Shape;90;p1">
            <a:extLst>
              <a:ext uri="{FF2B5EF4-FFF2-40B4-BE49-F238E27FC236}">
                <a16:creationId xmlns:a16="http://schemas.microsoft.com/office/drawing/2014/main" id="{3A4CEE35-EFE2-1BA4-69CC-1DD82AF9F4B6}"/>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7" name="TextBox 6">
            <a:extLst>
              <a:ext uri="{FF2B5EF4-FFF2-40B4-BE49-F238E27FC236}">
                <a16:creationId xmlns:a16="http://schemas.microsoft.com/office/drawing/2014/main" id="{A5F4CF89-D675-E7DC-CCC8-790818054AD5}"/>
              </a:ext>
            </a:extLst>
          </p:cNvPr>
          <p:cNvSpPr txBox="1"/>
          <p:nvPr/>
        </p:nvSpPr>
        <p:spPr>
          <a:xfrm>
            <a:off x="320790" y="1139584"/>
            <a:ext cx="11000096" cy="880369"/>
          </a:xfrm>
          <a:prstGeom prst="rect">
            <a:avLst/>
          </a:prstGeom>
          <a:noFill/>
        </p:spPr>
        <p:txBody>
          <a:bodyPr wrap="square">
            <a:spAutoFit/>
          </a:bodyPr>
          <a:lstStyle/>
          <a:p>
            <a:pPr algn="just">
              <a:lnSpc>
                <a:spcPct val="150000"/>
              </a:lnSpc>
            </a:pPr>
            <a:r>
              <a:rPr lang="en-IN" dirty="0"/>
              <a:t>Suppose that in a certain desert region, it rains once every 10 days on average. We want to analyse how long it will take until the next rain.</a:t>
            </a:r>
          </a:p>
        </p:txBody>
      </p:sp>
      <p:pic>
        <p:nvPicPr>
          <p:cNvPr id="10" name="Picture 9">
            <a:extLst>
              <a:ext uri="{FF2B5EF4-FFF2-40B4-BE49-F238E27FC236}">
                <a16:creationId xmlns:a16="http://schemas.microsoft.com/office/drawing/2014/main" id="{96AB44CB-E706-DD31-0E8F-795451A5F5BD}"/>
              </a:ext>
            </a:extLst>
          </p:cNvPr>
          <p:cNvPicPr>
            <a:picLocks noChangeAspect="1"/>
          </p:cNvPicPr>
          <p:nvPr/>
        </p:nvPicPr>
        <p:blipFill>
          <a:blip r:embed="rId4"/>
          <a:stretch>
            <a:fillRect/>
          </a:stretch>
        </p:blipFill>
        <p:spPr>
          <a:xfrm>
            <a:off x="341193" y="2255934"/>
            <a:ext cx="5479645" cy="3509435"/>
          </a:xfrm>
          <a:prstGeom prst="rect">
            <a:avLst/>
          </a:prstGeom>
        </p:spPr>
      </p:pic>
      <p:pic>
        <p:nvPicPr>
          <p:cNvPr id="12" name="Picture 11">
            <a:extLst>
              <a:ext uri="{FF2B5EF4-FFF2-40B4-BE49-F238E27FC236}">
                <a16:creationId xmlns:a16="http://schemas.microsoft.com/office/drawing/2014/main" id="{EA7B6170-1047-FBE9-6B9F-24C3DD13DF43}"/>
              </a:ext>
            </a:extLst>
          </p:cNvPr>
          <p:cNvPicPr>
            <a:picLocks noChangeAspect="1"/>
          </p:cNvPicPr>
          <p:nvPr/>
        </p:nvPicPr>
        <p:blipFill>
          <a:blip r:embed="rId5"/>
          <a:stretch>
            <a:fillRect/>
          </a:stretch>
        </p:blipFill>
        <p:spPr>
          <a:xfrm>
            <a:off x="6096000" y="2255934"/>
            <a:ext cx="5736385" cy="2823313"/>
          </a:xfrm>
          <a:prstGeom prst="rect">
            <a:avLst/>
          </a:prstGeom>
        </p:spPr>
      </p:pic>
      <p:sp>
        <p:nvSpPr>
          <p:cNvPr id="2" name="Slide Number Placeholder 1">
            <a:extLst>
              <a:ext uri="{FF2B5EF4-FFF2-40B4-BE49-F238E27FC236}">
                <a16:creationId xmlns:a16="http://schemas.microsoft.com/office/drawing/2014/main" id="{0851B913-D06B-4A84-8B50-B8D603C58F40}"/>
              </a:ext>
            </a:extLst>
          </p:cNvPr>
          <p:cNvSpPr>
            <a:spLocks noGrp="1"/>
          </p:cNvSpPr>
          <p:nvPr>
            <p:ph type="sldNum" sz="quarter" idx="12"/>
          </p:nvPr>
        </p:nvSpPr>
        <p:spPr/>
        <p:txBody>
          <a:bodyPr/>
          <a:lstStyle/>
          <a:p>
            <a:fld id="{8EC77227-B7F4-4800-97BE-1DE2687871B5}" type="slidenum">
              <a:rPr lang="en-IN" smtClean="0"/>
              <a:t>28</a:t>
            </a:fld>
            <a:endParaRPr lang="en-IN" dirty="0"/>
          </a:p>
        </p:txBody>
      </p:sp>
      <p:sp>
        <p:nvSpPr>
          <p:cNvPr id="8" name="TextBox 7">
            <a:extLst>
              <a:ext uri="{FF2B5EF4-FFF2-40B4-BE49-F238E27FC236}">
                <a16:creationId xmlns:a16="http://schemas.microsoft.com/office/drawing/2014/main" id="{43AC7B9A-ADD8-A117-B7C4-BE85F5FA39E0}"/>
              </a:ext>
            </a:extLst>
          </p:cNvPr>
          <p:cNvSpPr txBox="1"/>
          <p:nvPr/>
        </p:nvSpPr>
        <p:spPr>
          <a:xfrm>
            <a:off x="204716" y="77366"/>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Tree>
    <p:extLst>
      <p:ext uri="{BB962C8B-B14F-4D97-AF65-F5344CB8AC3E}">
        <p14:creationId xmlns:p14="http://schemas.microsoft.com/office/powerpoint/2010/main" val="32322120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7D138-B1B6-5CEE-7DAB-722BC712C79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88F037A-6BA9-0CF0-338D-EB094E0676F1}"/>
              </a:ext>
            </a:extLst>
          </p:cNvPr>
          <p:cNvSpPr txBox="1"/>
          <p:nvPr/>
        </p:nvSpPr>
        <p:spPr>
          <a:xfrm>
            <a:off x="341193" y="738616"/>
            <a:ext cx="2879448" cy="400110"/>
          </a:xfrm>
          <a:prstGeom prst="rect">
            <a:avLst/>
          </a:prstGeom>
          <a:noFill/>
        </p:spPr>
        <p:txBody>
          <a:bodyPr wrap="square" rtlCol="0">
            <a:spAutoFit/>
          </a:bodyPr>
          <a:lstStyle/>
          <a:p>
            <a:r>
              <a:rPr lang="en-US" sz="2000" b="1" dirty="0">
                <a:solidFill>
                  <a:srgbClr val="00B050"/>
                </a:solidFill>
              </a:rPr>
              <a:t> Gamma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7B773010-61C9-6097-6B31-AB3F1549F1C6}"/>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p:pic>
        <p:nvPicPr>
          <p:cNvPr id="5" name="Google Shape;90;p1">
            <a:extLst>
              <a:ext uri="{FF2B5EF4-FFF2-40B4-BE49-F238E27FC236}">
                <a16:creationId xmlns:a16="http://schemas.microsoft.com/office/drawing/2014/main" id="{AB02D1B8-84D7-15A5-BB82-C911C6EED25D}"/>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3" name="TextBox 2">
            <a:extLst>
              <a:ext uri="{FF2B5EF4-FFF2-40B4-BE49-F238E27FC236}">
                <a16:creationId xmlns:a16="http://schemas.microsoft.com/office/drawing/2014/main" id="{D0EEB92F-7B1F-8C47-4EE7-5A3F2F8387CE}"/>
              </a:ext>
            </a:extLst>
          </p:cNvPr>
          <p:cNvSpPr txBox="1"/>
          <p:nvPr/>
        </p:nvSpPr>
        <p:spPr>
          <a:xfrm>
            <a:off x="204716" y="1201171"/>
            <a:ext cx="11000096" cy="369332"/>
          </a:xfrm>
          <a:prstGeom prst="rect">
            <a:avLst/>
          </a:prstGeom>
          <a:noFill/>
        </p:spPr>
        <p:txBody>
          <a:bodyPr wrap="square">
            <a:spAutoFit/>
          </a:bodyPr>
          <a:lstStyle/>
          <a:p>
            <a:pPr marL="0" lvl="0" indent="0" algn="just">
              <a:buNone/>
            </a:pPr>
            <a:r>
              <a:rPr lang="en-US" dirty="0"/>
              <a:t> </a:t>
            </a:r>
            <a:endParaRPr lang="en-IN" dirty="0"/>
          </a:p>
        </p:txBody>
      </p:sp>
      <p:sp>
        <p:nvSpPr>
          <p:cNvPr id="2" name="Slide Number Placeholder 1">
            <a:extLst>
              <a:ext uri="{FF2B5EF4-FFF2-40B4-BE49-F238E27FC236}">
                <a16:creationId xmlns:a16="http://schemas.microsoft.com/office/drawing/2014/main" id="{73B5110A-532A-524B-AE9D-94FC87F829B5}"/>
              </a:ext>
            </a:extLst>
          </p:cNvPr>
          <p:cNvSpPr>
            <a:spLocks noGrp="1"/>
          </p:cNvSpPr>
          <p:nvPr>
            <p:ph type="sldNum" sz="quarter" idx="12"/>
          </p:nvPr>
        </p:nvSpPr>
        <p:spPr/>
        <p:txBody>
          <a:bodyPr/>
          <a:lstStyle/>
          <a:p>
            <a:fld id="{8EC77227-B7F4-4800-97BE-1DE2687871B5}" type="slidenum">
              <a:rPr lang="en-IN" smtClean="0"/>
              <a:t>29</a:t>
            </a:fld>
            <a:endParaRPr lang="en-IN"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FAB4540-5B4C-8D13-50A8-978B2BD48DCB}"/>
                  </a:ext>
                </a:extLst>
              </p:cNvPr>
              <p:cNvSpPr txBox="1"/>
              <p:nvPr/>
            </p:nvSpPr>
            <p:spPr>
              <a:xfrm>
                <a:off x="341193" y="1201171"/>
                <a:ext cx="11341291" cy="4910062"/>
              </a:xfrm>
              <a:prstGeom prst="rect">
                <a:avLst/>
              </a:prstGeom>
              <a:noFill/>
            </p:spPr>
            <p:txBody>
              <a:bodyPr wrap="square">
                <a:spAutoFit/>
              </a:bodyPr>
              <a:lstStyle/>
              <a:p>
                <a:pPr marL="0" lvl="0" indent="0" algn="just">
                  <a:lnSpc>
                    <a:spcPct val="150000"/>
                  </a:lnSpc>
                  <a:buNone/>
                </a:pPr>
                <a:r>
                  <a:rPr lang="en-IN" sz="1800" dirty="0"/>
                  <a:t>The Gamma distribution is often used to model the amount of time or quantity needed for several events to occur, especially when these events happen at a steady average rate (in a Poisson process). It is useful when we want to understand how long it takes for something to accumulate like rainfall, sunlight, or nutrient intake, and is especially helpful in environmental and ecological studies where such quantities are naturally skewed (not symmetric). The PDF is:</a:t>
                </a:r>
              </a:p>
              <a:p>
                <a:pPr marL="0" lvl="0" indent="0" algn="just">
                  <a:lnSpc>
                    <a:spcPct val="150000"/>
                  </a:lnSpc>
                  <a:buNone/>
                </a:pPr>
                <a14:m>
                  <m:oMathPara xmlns:m="http://schemas.openxmlformats.org/officeDocument/2006/math">
                    <m:oMathParaPr>
                      <m:jc m:val="center"/>
                    </m:oMathParaPr>
                    <m:oMath xmlns:m="http://schemas.openxmlformats.org/officeDocument/2006/math">
                      <m:r>
                        <a:rPr lang="en-IN" sz="1800">
                          <a:latin typeface="Cambria Math" panose="02040503050406030204" pitchFamily="18" charset="0"/>
                        </a:rPr>
                        <m:t>𝑓</m:t>
                      </m:r>
                      <m:d>
                        <m:dPr>
                          <m:ctrlPr>
                            <a:rPr lang="ar-AE" sz="1800" i="1">
                              <a:latin typeface="Cambria Math" panose="02040503050406030204" pitchFamily="18" charset="0"/>
                            </a:rPr>
                          </m:ctrlPr>
                        </m:dPr>
                        <m:e>
                          <m:r>
                            <a:rPr lang="ar-AE" sz="1800">
                              <a:latin typeface="Cambria Math" panose="02040503050406030204" pitchFamily="18" charset="0"/>
                            </a:rPr>
                            <m:t>𝑥</m:t>
                          </m:r>
                          <m:r>
                            <a:rPr lang="ar-AE" sz="1800">
                              <a:latin typeface="Cambria Math" panose="02040503050406030204" pitchFamily="18" charset="0"/>
                            </a:rPr>
                            <m:t>∣</m:t>
                          </m:r>
                          <m:r>
                            <a:rPr lang="ar-AE" sz="1800">
                              <a:latin typeface="Cambria Math" panose="02040503050406030204" pitchFamily="18" charset="0"/>
                            </a:rPr>
                            <m:t>𝛼</m:t>
                          </m:r>
                          <m:r>
                            <a:rPr lang="ar-AE" sz="1800">
                              <a:latin typeface="Cambria Math" panose="02040503050406030204" pitchFamily="18" charset="0"/>
                            </a:rPr>
                            <m:t>,</m:t>
                          </m:r>
                          <m:r>
                            <a:rPr lang="ar-AE" sz="1800">
                              <a:latin typeface="Cambria Math" panose="02040503050406030204" pitchFamily="18" charset="0"/>
                            </a:rPr>
                            <m:t>𝛽</m:t>
                          </m:r>
                        </m:e>
                      </m:d>
                      <m:r>
                        <a:rPr lang="ar-AE" sz="1800">
                          <a:latin typeface="Cambria Math" panose="02040503050406030204" pitchFamily="18" charset="0"/>
                        </a:rPr>
                        <m:t>=</m:t>
                      </m:r>
                      <m:d>
                        <m:dPr>
                          <m:begChr m:val="{"/>
                          <m:endChr m:val=""/>
                          <m:ctrlPr>
                            <a:rPr lang="ar-AE" sz="1800" i="1">
                              <a:latin typeface="Cambria Math" panose="02040503050406030204" pitchFamily="18" charset="0"/>
                            </a:rPr>
                          </m:ctrlPr>
                        </m:dPr>
                        <m:e>
                          <m:m>
                            <m:mPr>
                              <m:plcHide m:val="on"/>
                              <m:mcs>
                                <m:mc>
                                  <m:mcPr>
                                    <m:count m:val="2"/>
                                    <m:mcJc m:val="center"/>
                                  </m:mcPr>
                                </m:mc>
                              </m:mcs>
                              <m:ctrlPr>
                                <a:rPr lang="ar-AE" sz="1800" i="1">
                                  <a:latin typeface="Cambria Math" panose="02040503050406030204" pitchFamily="18" charset="0"/>
                                </a:rPr>
                              </m:ctrlPr>
                            </m:mPr>
                            <m:mr>
                              <m:e>
                                <m:f>
                                  <m:fPr>
                                    <m:ctrlPr>
                                      <a:rPr lang="ar-AE" sz="1800" i="1">
                                        <a:latin typeface="Cambria Math" panose="02040503050406030204" pitchFamily="18" charset="0"/>
                                      </a:rPr>
                                    </m:ctrlPr>
                                  </m:fPr>
                                  <m:num>
                                    <m:sSup>
                                      <m:sSupPr>
                                        <m:ctrlPr>
                                          <a:rPr lang="ar-AE" sz="1800" i="1">
                                            <a:latin typeface="Cambria Math" panose="02040503050406030204" pitchFamily="18" charset="0"/>
                                          </a:rPr>
                                        </m:ctrlPr>
                                      </m:sSupPr>
                                      <m:e>
                                        <m:r>
                                          <a:rPr lang="ar-AE" sz="1800">
                                            <a:latin typeface="Cambria Math" panose="02040503050406030204" pitchFamily="18" charset="0"/>
                                          </a:rPr>
                                          <m:t>𝛽</m:t>
                                        </m:r>
                                      </m:e>
                                      <m:sup>
                                        <m:r>
                                          <a:rPr lang="ar-AE" sz="1800">
                                            <a:latin typeface="Cambria Math" panose="02040503050406030204" pitchFamily="18" charset="0"/>
                                          </a:rPr>
                                          <m:t>𝛼</m:t>
                                        </m:r>
                                      </m:sup>
                                    </m:sSup>
                                    <m:sSup>
                                      <m:sSupPr>
                                        <m:ctrlPr>
                                          <a:rPr lang="ar-AE" sz="1800" i="1">
                                            <a:latin typeface="Cambria Math" panose="02040503050406030204" pitchFamily="18" charset="0"/>
                                          </a:rPr>
                                        </m:ctrlPr>
                                      </m:sSupPr>
                                      <m:e>
                                        <m:r>
                                          <a:rPr lang="ar-AE" sz="1800">
                                            <a:latin typeface="Cambria Math" panose="02040503050406030204" pitchFamily="18" charset="0"/>
                                          </a:rPr>
                                          <m:t>𝑥</m:t>
                                        </m:r>
                                      </m:e>
                                      <m:sup>
                                        <m:r>
                                          <a:rPr lang="ar-AE" sz="1800">
                                            <a:latin typeface="Cambria Math" panose="02040503050406030204" pitchFamily="18" charset="0"/>
                                          </a:rPr>
                                          <m:t>𝛼</m:t>
                                        </m:r>
                                        <m:r>
                                          <a:rPr lang="ar-AE" sz="1800">
                                            <a:latin typeface="Cambria Math" panose="02040503050406030204" pitchFamily="18" charset="0"/>
                                          </a:rPr>
                                          <m:t>−</m:t>
                                        </m:r>
                                        <m:r>
                                          <a:rPr lang="ar-AE" sz="1800">
                                            <a:latin typeface="Cambria Math" panose="02040503050406030204" pitchFamily="18" charset="0"/>
                                          </a:rPr>
                                          <m:t>1</m:t>
                                        </m:r>
                                      </m:sup>
                                    </m:sSup>
                                    <m:sSup>
                                      <m:sSupPr>
                                        <m:ctrlPr>
                                          <a:rPr lang="ar-AE" sz="1800" i="1">
                                            <a:latin typeface="Cambria Math" panose="02040503050406030204" pitchFamily="18" charset="0"/>
                                          </a:rPr>
                                        </m:ctrlPr>
                                      </m:sSupPr>
                                      <m:e>
                                        <m:r>
                                          <a:rPr lang="ar-AE" sz="1800">
                                            <a:latin typeface="Cambria Math" panose="02040503050406030204" pitchFamily="18" charset="0"/>
                                          </a:rPr>
                                          <m:t>𝑒</m:t>
                                        </m:r>
                                      </m:e>
                                      <m:sup>
                                        <m:r>
                                          <a:rPr lang="ar-AE" sz="1800">
                                            <a:latin typeface="Cambria Math" panose="02040503050406030204" pitchFamily="18" charset="0"/>
                                          </a:rPr>
                                          <m:t>−</m:t>
                                        </m:r>
                                        <m:r>
                                          <a:rPr lang="ar-AE" sz="1800">
                                            <a:latin typeface="Cambria Math" panose="02040503050406030204" pitchFamily="18" charset="0"/>
                                          </a:rPr>
                                          <m:t>𝛽</m:t>
                                        </m:r>
                                        <m:r>
                                          <a:rPr lang="ar-AE" sz="1800">
                                            <a:latin typeface="Cambria Math" panose="02040503050406030204" pitchFamily="18" charset="0"/>
                                          </a:rPr>
                                          <m:t>𝑥</m:t>
                                        </m:r>
                                      </m:sup>
                                    </m:sSup>
                                  </m:num>
                                  <m:den>
                                    <m:r>
                                      <a:rPr lang="ar-AE" sz="1800">
                                        <a:latin typeface="Cambria Math" panose="02040503050406030204" pitchFamily="18" charset="0"/>
                                      </a:rPr>
                                      <m:t>𝛤</m:t>
                                    </m:r>
                                    <m:d>
                                      <m:dPr>
                                        <m:ctrlPr>
                                          <a:rPr lang="ar-AE" sz="1800" i="1">
                                            <a:latin typeface="Cambria Math" panose="02040503050406030204" pitchFamily="18" charset="0"/>
                                          </a:rPr>
                                        </m:ctrlPr>
                                      </m:dPr>
                                      <m:e>
                                        <m:r>
                                          <a:rPr lang="ar-AE" sz="1800">
                                            <a:latin typeface="Cambria Math" panose="02040503050406030204" pitchFamily="18" charset="0"/>
                                          </a:rPr>
                                          <m:t>𝛼</m:t>
                                        </m:r>
                                      </m:e>
                                    </m:d>
                                  </m:den>
                                </m:f>
                                <m:r>
                                  <a:rPr lang="ar-AE" sz="1800">
                                    <a:latin typeface="Cambria Math" panose="02040503050406030204" pitchFamily="18" charset="0"/>
                                  </a:rPr>
                                  <m:t>,</m:t>
                                </m:r>
                              </m:e>
                              <m:e>
                                <m:r>
                                  <a:rPr lang="ar-AE" sz="1800">
                                    <a:latin typeface="Cambria Math" panose="02040503050406030204" pitchFamily="18" charset="0"/>
                                  </a:rPr>
                                  <m:t>𝑥</m:t>
                                </m:r>
                                <m:r>
                                  <a:rPr lang="ar-AE" sz="1800">
                                    <a:latin typeface="Cambria Math" panose="02040503050406030204" pitchFamily="18" charset="0"/>
                                  </a:rPr>
                                  <m:t>≥</m:t>
                                </m:r>
                                <m:r>
                                  <a:rPr lang="ar-AE" sz="1800">
                                    <a:latin typeface="Cambria Math" panose="02040503050406030204" pitchFamily="18" charset="0"/>
                                  </a:rPr>
                                  <m:t>0</m:t>
                                </m:r>
                                <m:r>
                                  <a:rPr lang="ar-AE" sz="1800">
                                    <a:latin typeface="Cambria Math" panose="02040503050406030204" pitchFamily="18" charset="0"/>
                                  </a:rPr>
                                  <m:t>, </m:t>
                                </m:r>
                                <m:r>
                                  <a:rPr lang="ar-AE" sz="1800">
                                    <a:latin typeface="Cambria Math" panose="02040503050406030204" pitchFamily="18" charset="0"/>
                                  </a:rPr>
                                  <m:t>𝛼</m:t>
                                </m:r>
                                <m:r>
                                  <a:rPr lang="ar-AE" sz="1800">
                                    <a:latin typeface="Cambria Math" panose="02040503050406030204" pitchFamily="18" charset="0"/>
                                  </a:rPr>
                                  <m:t>&gt;</m:t>
                                </m:r>
                                <m:r>
                                  <a:rPr lang="ar-AE" sz="1800">
                                    <a:latin typeface="Cambria Math" panose="02040503050406030204" pitchFamily="18" charset="0"/>
                                  </a:rPr>
                                  <m:t>0</m:t>
                                </m:r>
                                <m:r>
                                  <a:rPr lang="ar-AE" sz="1800">
                                    <a:latin typeface="Cambria Math" panose="02040503050406030204" pitchFamily="18" charset="0"/>
                                  </a:rPr>
                                  <m:t>, </m:t>
                                </m:r>
                                <m:r>
                                  <a:rPr lang="ar-AE" sz="1800">
                                    <a:latin typeface="Cambria Math" panose="02040503050406030204" pitchFamily="18" charset="0"/>
                                  </a:rPr>
                                  <m:t>𝛽</m:t>
                                </m:r>
                                <m:r>
                                  <a:rPr lang="ar-AE" sz="1800">
                                    <a:latin typeface="Cambria Math" panose="02040503050406030204" pitchFamily="18" charset="0"/>
                                  </a:rPr>
                                  <m:t>&gt;</m:t>
                                </m:r>
                                <m:r>
                                  <a:rPr lang="ar-AE" sz="1800">
                                    <a:latin typeface="Cambria Math" panose="02040503050406030204" pitchFamily="18" charset="0"/>
                                  </a:rPr>
                                  <m:t>0</m:t>
                                </m:r>
                              </m:e>
                            </m:mr>
                            <m:mr>
                              <m:e>
                                <m:r>
                                  <a:rPr lang="ar-AE" sz="1800">
                                    <a:latin typeface="Cambria Math" panose="02040503050406030204" pitchFamily="18" charset="0"/>
                                  </a:rPr>
                                  <m:t>0</m:t>
                                </m:r>
                                <m:r>
                                  <a:rPr lang="ar-AE" sz="1800">
                                    <a:latin typeface="Cambria Math" panose="02040503050406030204" pitchFamily="18" charset="0"/>
                                  </a:rPr>
                                  <m:t>,</m:t>
                                </m:r>
                              </m:e>
                              <m:e>
                                <m:r>
                                  <m:rPr>
                                    <m:nor/>
                                  </m:rPr>
                                  <a:rPr lang="en-IN" sz="1800"/>
                                  <m:t>otherwise</m:t>
                                </m:r>
                              </m:e>
                            </m:mr>
                          </m:m>
                        </m:e>
                      </m:d>
                    </m:oMath>
                  </m:oMathPara>
                </a14:m>
                <a:endParaRPr lang="ar-AE" sz="1800" dirty="0"/>
              </a:p>
              <a:p>
                <a:pPr marL="0" lvl="0" indent="0" algn="just">
                  <a:lnSpc>
                    <a:spcPct val="150000"/>
                  </a:lnSpc>
                  <a:buNone/>
                </a:pPr>
                <a:r>
                  <a:rPr lang="en-IN" sz="1800" dirty="0"/>
                  <a:t>where</a:t>
                </a:r>
              </a:p>
              <a:p>
                <a:pPr marL="285750" lvl="0" indent="-285750" algn="just">
                  <a:lnSpc>
                    <a:spcPct val="150000"/>
                  </a:lnSpc>
                  <a:buFont typeface="Arial" panose="020B0604020202020204" pitchFamily="34" charset="0"/>
                  <a:buChar char="•"/>
                </a:pPr>
                <a14:m>
                  <m:oMath xmlns:m="http://schemas.openxmlformats.org/officeDocument/2006/math">
                    <m:r>
                      <a:rPr lang="en-IN" sz="1800">
                        <a:latin typeface="Cambria Math" panose="02040503050406030204" pitchFamily="18" charset="0"/>
                      </a:rPr>
                      <m:t>𝛼</m:t>
                    </m:r>
                    <m:r>
                      <a:rPr lang="en-IN" sz="1800">
                        <a:latin typeface="Cambria Math" panose="02040503050406030204" pitchFamily="18" charset="0"/>
                      </a:rPr>
                      <m:t>&gt;</m:t>
                    </m:r>
                    <m:r>
                      <a:rPr lang="en-IN" sz="1800">
                        <a:latin typeface="Cambria Math" panose="02040503050406030204" pitchFamily="18" charset="0"/>
                      </a:rPr>
                      <m:t>0</m:t>
                    </m:r>
                  </m:oMath>
                </a14:m>
                <a:r>
                  <a:rPr lang="en-IN" sz="1800" dirty="0"/>
                  <a:t> is the </a:t>
                </a:r>
                <a:r>
                  <a:rPr lang="en-IN" sz="1800" b="1" dirty="0"/>
                  <a:t>shape parameter</a:t>
                </a:r>
                <a:r>
                  <a:rPr lang="en-IN" sz="1800" dirty="0"/>
                  <a:t>,</a:t>
                </a:r>
              </a:p>
              <a:p>
                <a:pPr marL="285750" lvl="0" indent="-285750" algn="just">
                  <a:lnSpc>
                    <a:spcPct val="150000"/>
                  </a:lnSpc>
                  <a:buFont typeface="Arial" panose="020B0604020202020204" pitchFamily="34" charset="0"/>
                  <a:buChar char="•"/>
                </a:pPr>
                <a14:m>
                  <m:oMath xmlns:m="http://schemas.openxmlformats.org/officeDocument/2006/math">
                    <m:r>
                      <a:rPr lang="en-IN" sz="1800">
                        <a:latin typeface="Cambria Math" panose="02040503050406030204" pitchFamily="18" charset="0"/>
                      </a:rPr>
                      <m:t>𝛽</m:t>
                    </m:r>
                    <m:r>
                      <a:rPr lang="en-IN" sz="1800">
                        <a:latin typeface="Cambria Math" panose="02040503050406030204" pitchFamily="18" charset="0"/>
                      </a:rPr>
                      <m:t>&gt;</m:t>
                    </m:r>
                    <m:r>
                      <a:rPr lang="en-IN" sz="1800">
                        <a:latin typeface="Cambria Math" panose="02040503050406030204" pitchFamily="18" charset="0"/>
                      </a:rPr>
                      <m:t>0</m:t>
                    </m:r>
                  </m:oMath>
                </a14:m>
                <a:r>
                  <a:rPr lang="en-IN" sz="1800" dirty="0"/>
                  <a:t> is the </a:t>
                </a:r>
                <a:r>
                  <a:rPr lang="en-IN" sz="1800" b="1" dirty="0"/>
                  <a:t>rate parameter</a:t>
                </a:r>
                <a:r>
                  <a:rPr lang="en-IN" sz="1800" dirty="0"/>
                  <a:t>,</a:t>
                </a:r>
              </a:p>
              <a:p>
                <a:pPr marL="285750" lvl="0" indent="-285750" algn="just">
                  <a:lnSpc>
                    <a:spcPct val="150000"/>
                  </a:lnSpc>
                  <a:buFont typeface="Arial" panose="020B0604020202020204" pitchFamily="34" charset="0"/>
                  <a:buChar char="•"/>
                </a:pPr>
                <a14:m>
                  <m:oMath xmlns:m="http://schemas.openxmlformats.org/officeDocument/2006/math">
                    <m:r>
                      <a:rPr lang="en-IN" sz="1800">
                        <a:latin typeface="Cambria Math" panose="02040503050406030204" pitchFamily="18" charset="0"/>
                      </a:rPr>
                      <m:t>𝛤</m:t>
                    </m:r>
                    <m:d>
                      <m:dPr>
                        <m:ctrlPr>
                          <a:rPr lang="ar-AE" sz="1800" i="1">
                            <a:latin typeface="Cambria Math" panose="02040503050406030204" pitchFamily="18" charset="0"/>
                          </a:rPr>
                        </m:ctrlPr>
                      </m:dPr>
                      <m:e>
                        <m:r>
                          <a:rPr lang="ar-AE" sz="1800">
                            <a:latin typeface="Cambria Math" panose="02040503050406030204" pitchFamily="18" charset="0"/>
                          </a:rPr>
                          <m:t>𝛼</m:t>
                        </m:r>
                      </m:e>
                    </m:d>
                  </m:oMath>
                </a14:m>
                <a:r>
                  <a:rPr lang="ar-AE" sz="1800" dirty="0"/>
                  <a:t> </a:t>
                </a:r>
                <a:r>
                  <a:rPr lang="en-IN" sz="1800" dirty="0"/>
                  <a:t>is the </a:t>
                </a:r>
                <a:r>
                  <a:rPr lang="en-IN" sz="1800" b="1" dirty="0"/>
                  <a:t>Gamma function</a:t>
                </a:r>
                <a:r>
                  <a:rPr lang="en-IN" dirty="0"/>
                  <a:t>.</a:t>
                </a:r>
                <a:endParaRPr lang="en-IN" sz="1800" dirty="0"/>
              </a:p>
            </p:txBody>
          </p:sp>
        </mc:Choice>
        <mc:Fallback xmlns="">
          <p:sp>
            <p:nvSpPr>
              <p:cNvPr id="11" name="TextBox 10">
                <a:extLst>
                  <a:ext uri="{FF2B5EF4-FFF2-40B4-BE49-F238E27FC236}">
                    <a16:creationId xmlns:a16="http://schemas.microsoft.com/office/drawing/2014/main" id="{DFAB4540-5B4C-8D13-50A8-978B2BD48DCB}"/>
                  </a:ext>
                </a:extLst>
              </p:cNvPr>
              <p:cNvSpPr txBox="1">
                <a:spLocks noRot="1" noChangeAspect="1" noMove="1" noResize="1" noEditPoints="1" noAdjustHandles="1" noChangeArrowheads="1" noChangeShapeType="1" noTextEdit="1"/>
              </p:cNvSpPr>
              <p:nvPr/>
            </p:nvSpPr>
            <p:spPr>
              <a:xfrm>
                <a:off x="341193" y="1201171"/>
                <a:ext cx="11341291" cy="4910062"/>
              </a:xfrm>
              <a:prstGeom prst="rect">
                <a:avLst/>
              </a:prstGeom>
              <a:blipFill>
                <a:blip r:embed="rId4"/>
                <a:stretch>
                  <a:fillRect l="-484" r="-430" b="-1118"/>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D77C27C9-D73A-CA47-4D0C-2E99C7CFC040}"/>
              </a:ext>
            </a:extLst>
          </p:cNvPr>
          <p:cNvSpPr txBox="1"/>
          <p:nvPr/>
        </p:nvSpPr>
        <p:spPr>
          <a:xfrm>
            <a:off x="204716" y="77366"/>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Tree>
    <p:extLst>
      <p:ext uri="{BB962C8B-B14F-4D97-AF65-F5344CB8AC3E}">
        <p14:creationId xmlns:p14="http://schemas.microsoft.com/office/powerpoint/2010/main" val="1174690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F6CF7-8B85-6511-BDC4-760FE1975A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6D9087-709A-8C28-DD58-B7F5D9E341D0}"/>
              </a:ext>
            </a:extLst>
          </p:cNvPr>
          <p:cNvSpPr txBox="1"/>
          <p:nvPr/>
        </p:nvSpPr>
        <p:spPr>
          <a:xfrm>
            <a:off x="334829" y="611257"/>
            <a:ext cx="2879448" cy="400110"/>
          </a:xfrm>
          <a:prstGeom prst="rect">
            <a:avLst/>
          </a:prstGeom>
          <a:noFill/>
        </p:spPr>
        <p:txBody>
          <a:bodyPr wrap="square" rtlCol="0">
            <a:spAutoFit/>
          </a:bodyPr>
          <a:lstStyle/>
          <a:p>
            <a:r>
              <a:rPr lang="en-US" sz="2000" b="1" dirty="0">
                <a:solidFill>
                  <a:srgbClr val="00B050"/>
                </a:solidFill>
              </a:rPr>
              <a:t> Gamma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FC182CFF-1F00-B357-6A6F-EF1D69951DCA}"/>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p:pic>
        <p:nvPicPr>
          <p:cNvPr id="5" name="Google Shape;90;p1">
            <a:extLst>
              <a:ext uri="{FF2B5EF4-FFF2-40B4-BE49-F238E27FC236}">
                <a16:creationId xmlns:a16="http://schemas.microsoft.com/office/drawing/2014/main" id="{324672B9-6EB4-7C2C-969C-F900F388BE50}"/>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2" name="Slide Number Placeholder 1">
            <a:extLst>
              <a:ext uri="{FF2B5EF4-FFF2-40B4-BE49-F238E27FC236}">
                <a16:creationId xmlns:a16="http://schemas.microsoft.com/office/drawing/2014/main" id="{7D08C07F-E1E4-60B2-0ABD-22DAF8CA88AC}"/>
              </a:ext>
            </a:extLst>
          </p:cNvPr>
          <p:cNvSpPr>
            <a:spLocks noGrp="1"/>
          </p:cNvSpPr>
          <p:nvPr>
            <p:ph type="sldNum" sz="quarter" idx="12"/>
          </p:nvPr>
        </p:nvSpPr>
        <p:spPr/>
        <p:txBody>
          <a:bodyPr/>
          <a:lstStyle/>
          <a:p>
            <a:fld id="{8EC77227-B7F4-4800-97BE-1DE2687871B5}" type="slidenum">
              <a:rPr lang="en-IN" smtClean="0"/>
              <a:t>30</a:t>
            </a:fld>
            <a:endParaRPr lang="en-IN" dirty="0"/>
          </a:p>
        </p:txBody>
      </p:sp>
      <p:pic>
        <p:nvPicPr>
          <p:cNvPr id="8" name="Picture 7">
            <a:extLst>
              <a:ext uri="{FF2B5EF4-FFF2-40B4-BE49-F238E27FC236}">
                <a16:creationId xmlns:a16="http://schemas.microsoft.com/office/drawing/2014/main" id="{643CF744-7F34-2661-A155-5D6F8C50FC60}"/>
              </a:ext>
            </a:extLst>
          </p:cNvPr>
          <p:cNvPicPr>
            <a:picLocks noChangeAspect="1"/>
          </p:cNvPicPr>
          <p:nvPr/>
        </p:nvPicPr>
        <p:blipFill>
          <a:blip r:embed="rId4"/>
          <a:stretch>
            <a:fillRect/>
          </a:stretch>
        </p:blipFill>
        <p:spPr>
          <a:xfrm>
            <a:off x="341193" y="1422149"/>
            <a:ext cx="8011643" cy="1247949"/>
          </a:xfrm>
          <a:prstGeom prst="rect">
            <a:avLst/>
          </a:prstGeom>
        </p:spPr>
      </p:pic>
      <p:cxnSp>
        <p:nvCxnSpPr>
          <p:cNvPr id="11" name="Straight Arrow Connector 10">
            <a:extLst>
              <a:ext uri="{FF2B5EF4-FFF2-40B4-BE49-F238E27FC236}">
                <a16:creationId xmlns:a16="http://schemas.microsoft.com/office/drawing/2014/main" id="{F5A13BF2-E7AC-DBAC-24DC-82819A9A630A}"/>
              </a:ext>
            </a:extLst>
          </p:cNvPr>
          <p:cNvCxnSpPr>
            <a:cxnSpLocks/>
          </p:cNvCxnSpPr>
          <p:nvPr/>
        </p:nvCxnSpPr>
        <p:spPr>
          <a:xfrm flipV="1">
            <a:off x="1859795" y="2557220"/>
            <a:ext cx="0" cy="87178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14" name="TextBox 13">
            <a:extLst>
              <a:ext uri="{FF2B5EF4-FFF2-40B4-BE49-F238E27FC236}">
                <a16:creationId xmlns:a16="http://schemas.microsoft.com/office/drawing/2014/main" id="{CB49068B-F6F8-8471-9654-7C7089C3FEC6}"/>
              </a:ext>
            </a:extLst>
          </p:cNvPr>
          <p:cNvSpPr txBox="1"/>
          <p:nvPr/>
        </p:nvSpPr>
        <p:spPr>
          <a:xfrm>
            <a:off x="852404" y="3332868"/>
            <a:ext cx="1844298" cy="369332"/>
          </a:xfrm>
          <a:prstGeom prst="rect">
            <a:avLst/>
          </a:prstGeom>
          <a:noFill/>
        </p:spPr>
        <p:txBody>
          <a:bodyPr wrap="square" rtlCol="0">
            <a:spAutoFit/>
          </a:bodyPr>
          <a:lstStyle/>
          <a:p>
            <a:pPr algn="ctr"/>
            <a:r>
              <a:rPr lang="en-US" dirty="0">
                <a:solidFill>
                  <a:srgbClr val="FF0000"/>
                </a:solidFill>
              </a:rPr>
              <a:t>Shape parameter</a:t>
            </a:r>
            <a:endParaRPr lang="en-IN" dirty="0">
              <a:solidFill>
                <a:srgbClr val="FF0000"/>
              </a:solidFill>
            </a:endParaRPr>
          </a:p>
        </p:txBody>
      </p:sp>
      <p:pic>
        <p:nvPicPr>
          <p:cNvPr id="16" name="Picture 15">
            <a:extLst>
              <a:ext uri="{FF2B5EF4-FFF2-40B4-BE49-F238E27FC236}">
                <a16:creationId xmlns:a16="http://schemas.microsoft.com/office/drawing/2014/main" id="{3C56149A-4933-AA64-9DBD-F4491BD1E84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7205" y="2845670"/>
            <a:ext cx="5715000" cy="3810000"/>
          </a:xfrm>
          <a:prstGeom prst="rect">
            <a:avLst/>
          </a:prstGeom>
        </p:spPr>
      </p:pic>
      <p:cxnSp>
        <p:nvCxnSpPr>
          <p:cNvPr id="18" name="Straight Arrow Connector 17">
            <a:extLst>
              <a:ext uri="{FF2B5EF4-FFF2-40B4-BE49-F238E27FC236}">
                <a16:creationId xmlns:a16="http://schemas.microsoft.com/office/drawing/2014/main" id="{9676B073-28C2-3F4D-1429-0FE35BAC732D}"/>
              </a:ext>
            </a:extLst>
          </p:cNvPr>
          <p:cNvCxnSpPr>
            <a:cxnSpLocks/>
          </p:cNvCxnSpPr>
          <p:nvPr/>
        </p:nvCxnSpPr>
        <p:spPr>
          <a:xfrm flipH="1" flipV="1">
            <a:off x="2185256" y="2542829"/>
            <a:ext cx="511446" cy="60568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7AB1295A-4AD0-8456-A430-548105235367}"/>
              </a:ext>
            </a:extLst>
          </p:cNvPr>
          <p:cNvSpPr txBox="1"/>
          <p:nvPr/>
        </p:nvSpPr>
        <p:spPr>
          <a:xfrm>
            <a:off x="2131008" y="3059668"/>
            <a:ext cx="1844061" cy="369332"/>
          </a:xfrm>
          <a:prstGeom prst="rect">
            <a:avLst/>
          </a:prstGeom>
          <a:noFill/>
        </p:spPr>
        <p:txBody>
          <a:bodyPr wrap="square" rtlCol="0">
            <a:spAutoFit/>
          </a:bodyPr>
          <a:lstStyle/>
          <a:p>
            <a:pPr algn="ctr"/>
            <a:r>
              <a:rPr lang="en-US" dirty="0">
                <a:solidFill>
                  <a:srgbClr val="FF0000"/>
                </a:solidFill>
              </a:rPr>
              <a:t>Rate parameter</a:t>
            </a:r>
            <a:endParaRPr lang="en-IN" dirty="0">
              <a:solidFill>
                <a:srgbClr val="FF0000"/>
              </a:solidFill>
            </a:endParaRPr>
          </a:p>
        </p:txBody>
      </p:sp>
      <p:sp>
        <p:nvSpPr>
          <p:cNvPr id="7" name="TextBox 6">
            <a:extLst>
              <a:ext uri="{FF2B5EF4-FFF2-40B4-BE49-F238E27FC236}">
                <a16:creationId xmlns:a16="http://schemas.microsoft.com/office/drawing/2014/main" id="{9AA42A00-3C73-FDA2-8675-3D13B998DE2B}"/>
              </a:ext>
            </a:extLst>
          </p:cNvPr>
          <p:cNvSpPr txBox="1"/>
          <p:nvPr/>
        </p:nvSpPr>
        <p:spPr>
          <a:xfrm>
            <a:off x="204716" y="77366"/>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Tree>
    <p:extLst>
      <p:ext uri="{BB962C8B-B14F-4D97-AF65-F5344CB8AC3E}">
        <p14:creationId xmlns:p14="http://schemas.microsoft.com/office/powerpoint/2010/main" val="2218126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A2B43-FE03-67DE-D3A3-F52E71D2C11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8DFA773-74C1-F1CC-0624-8C71756B0E97}"/>
              </a:ext>
            </a:extLst>
          </p:cNvPr>
          <p:cNvSpPr txBox="1"/>
          <p:nvPr/>
        </p:nvSpPr>
        <p:spPr>
          <a:xfrm>
            <a:off x="204716" y="620021"/>
            <a:ext cx="2879448" cy="400110"/>
          </a:xfrm>
          <a:prstGeom prst="rect">
            <a:avLst/>
          </a:prstGeom>
          <a:noFill/>
        </p:spPr>
        <p:txBody>
          <a:bodyPr wrap="square" rtlCol="0">
            <a:spAutoFit/>
          </a:bodyPr>
          <a:lstStyle/>
          <a:p>
            <a:r>
              <a:rPr lang="en-US" sz="2000" b="1" dirty="0">
                <a:solidFill>
                  <a:srgbClr val="00B050"/>
                </a:solidFill>
              </a:rPr>
              <a:t> Gamma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99384E57-451D-F838-6A4D-D9B110F40789}"/>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p:pic>
        <p:nvPicPr>
          <p:cNvPr id="5" name="Google Shape;90;p1">
            <a:extLst>
              <a:ext uri="{FF2B5EF4-FFF2-40B4-BE49-F238E27FC236}">
                <a16:creationId xmlns:a16="http://schemas.microsoft.com/office/drawing/2014/main" id="{B7F7EC94-995B-805F-6AA4-B9A1759A45A9}"/>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3" name="TextBox 2">
            <a:extLst>
              <a:ext uri="{FF2B5EF4-FFF2-40B4-BE49-F238E27FC236}">
                <a16:creationId xmlns:a16="http://schemas.microsoft.com/office/drawing/2014/main" id="{A26F79A1-8A61-6C79-F07C-6302CCE84122}"/>
              </a:ext>
            </a:extLst>
          </p:cNvPr>
          <p:cNvSpPr txBox="1"/>
          <p:nvPr/>
        </p:nvSpPr>
        <p:spPr>
          <a:xfrm>
            <a:off x="204716" y="1201171"/>
            <a:ext cx="11000096" cy="369332"/>
          </a:xfrm>
          <a:prstGeom prst="rect">
            <a:avLst/>
          </a:prstGeom>
          <a:noFill/>
        </p:spPr>
        <p:txBody>
          <a:bodyPr wrap="square">
            <a:spAutoFit/>
          </a:bodyPr>
          <a:lstStyle/>
          <a:p>
            <a:pPr marL="0" lvl="0" indent="0" algn="just">
              <a:buNone/>
            </a:pPr>
            <a:r>
              <a:rPr lang="en-US" dirty="0"/>
              <a:t> </a:t>
            </a:r>
            <a:endParaRPr lang="en-IN" dirty="0"/>
          </a:p>
        </p:txBody>
      </p:sp>
      <p:sp>
        <p:nvSpPr>
          <p:cNvPr id="2" name="Slide Number Placeholder 1">
            <a:extLst>
              <a:ext uri="{FF2B5EF4-FFF2-40B4-BE49-F238E27FC236}">
                <a16:creationId xmlns:a16="http://schemas.microsoft.com/office/drawing/2014/main" id="{A2F7143B-B987-FFD3-8466-4ED1D6BFAC57}"/>
              </a:ext>
            </a:extLst>
          </p:cNvPr>
          <p:cNvSpPr>
            <a:spLocks noGrp="1"/>
          </p:cNvSpPr>
          <p:nvPr>
            <p:ph type="sldNum" sz="quarter" idx="12"/>
          </p:nvPr>
        </p:nvSpPr>
        <p:spPr/>
        <p:txBody>
          <a:bodyPr/>
          <a:lstStyle/>
          <a:p>
            <a:fld id="{8EC77227-B7F4-4800-97BE-1DE2687871B5}" type="slidenum">
              <a:rPr lang="en-IN" smtClean="0"/>
              <a:t>31</a:t>
            </a:fld>
            <a:endParaRPr lang="en-IN"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58C986A-268C-4E49-3438-64D0F93F57C8}"/>
                  </a:ext>
                </a:extLst>
              </p:cNvPr>
              <p:cNvSpPr txBox="1"/>
              <p:nvPr/>
            </p:nvSpPr>
            <p:spPr>
              <a:xfrm>
                <a:off x="341193" y="955671"/>
                <a:ext cx="11000096" cy="1479444"/>
              </a:xfrm>
              <a:prstGeom prst="rect">
                <a:avLst/>
              </a:prstGeom>
              <a:noFill/>
            </p:spPr>
            <p:txBody>
              <a:bodyPr wrap="square">
                <a:spAutoFit/>
              </a:bodyPr>
              <a:lstStyle/>
              <a:p>
                <a:pPr algn="just">
                  <a:lnSpc>
                    <a:spcPct val="150000"/>
                  </a:lnSpc>
                </a:pPr>
                <a:r>
                  <a:rPr lang="en-IN" dirty="0"/>
                  <a:t>Suppose an ecologist is studying a plant species that requires a cumulative rainfall of at least 30 mm before sprouting. Based on past data, the ecologist assumes that rainfall per storm follows a Gamma distribution with shape parameter </a:t>
                </a:r>
                <a14:m>
                  <m:oMath xmlns:m="http://schemas.openxmlformats.org/officeDocument/2006/math">
                    <m:r>
                      <a:rPr lang="en-US" b="0" i="1" smtClean="0">
                        <a:latin typeface="Cambria Math" panose="02040503050406030204" pitchFamily="18" charset="0"/>
                      </a:rPr>
                      <m:t>𝛼</m:t>
                    </m:r>
                    <m:r>
                      <a:rPr lang="en-US" b="0" i="1" smtClean="0">
                        <a:latin typeface="Cambria Math" panose="02040503050406030204" pitchFamily="18" charset="0"/>
                      </a:rPr>
                      <m:t>=6</m:t>
                    </m:r>
                  </m:oMath>
                </a14:m>
                <a:r>
                  <a:rPr lang="en-IN" dirty="0"/>
                  <a:t>   and rate parameter </a:t>
                </a:r>
                <a14:m>
                  <m:oMath xmlns:m="http://schemas.openxmlformats.org/officeDocument/2006/math">
                    <m:r>
                      <a:rPr lang="en-US" b="0" i="1" smtClean="0">
                        <a:latin typeface="Cambria Math" panose="02040503050406030204" pitchFamily="18" charset="0"/>
                      </a:rPr>
                      <m:t>𝛽</m:t>
                    </m:r>
                    <m:r>
                      <a:rPr lang="en-US" b="0" i="1" smtClean="0">
                        <a:latin typeface="Cambria Math" panose="02040503050406030204" pitchFamily="18" charset="0"/>
                      </a:rPr>
                      <m:t>=0.2 </m:t>
                    </m:r>
                  </m:oMath>
                </a14:m>
                <a:r>
                  <a:rPr lang="en-IN" dirty="0"/>
                  <a:t>(mean rainfall per storm is  </a:t>
                </a:r>
                <a14:m>
                  <m:oMath xmlns:m="http://schemas.openxmlformats.org/officeDocument/2006/math">
                    <m:f>
                      <m:fPr>
                        <m:ctrlPr>
                          <a:rPr lang="en-IN" i="1" smtClean="0">
                            <a:latin typeface="Cambria Math" panose="02040503050406030204" pitchFamily="18" charset="0"/>
                          </a:rPr>
                        </m:ctrlPr>
                      </m:fPr>
                      <m:num>
                        <m:r>
                          <a:rPr lang="en-US" b="0" i="1" smtClean="0">
                            <a:latin typeface="Cambria Math" panose="02040503050406030204" pitchFamily="18" charset="0"/>
                          </a:rPr>
                          <m:t>𝛼</m:t>
                        </m:r>
                      </m:num>
                      <m:den>
                        <m:r>
                          <a:rPr lang="en-US" b="0" i="1" smtClean="0">
                            <a:latin typeface="Cambria Math" panose="02040503050406030204" pitchFamily="18" charset="0"/>
                          </a:rPr>
                          <m:t>𝛽</m:t>
                        </m:r>
                      </m:den>
                    </m:f>
                    <m:r>
                      <a:rPr lang="en-US" b="0" i="1" smtClean="0">
                        <a:latin typeface="Cambria Math" panose="02040503050406030204" pitchFamily="18" charset="0"/>
                      </a:rPr>
                      <m:t>=30 </m:t>
                    </m:r>
                    <m:r>
                      <a:rPr lang="en-US" b="0" i="1" smtClean="0">
                        <a:latin typeface="Cambria Math" panose="02040503050406030204" pitchFamily="18" charset="0"/>
                      </a:rPr>
                      <m:t>𝑚𝑚</m:t>
                    </m:r>
                  </m:oMath>
                </a14:m>
                <a:endParaRPr lang="en-IN" dirty="0"/>
              </a:p>
            </p:txBody>
          </p:sp>
        </mc:Choice>
        <mc:Fallback xmlns="">
          <p:sp>
            <p:nvSpPr>
              <p:cNvPr id="10" name="TextBox 9">
                <a:extLst>
                  <a:ext uri="{FF2B5EF4-FFF2-40B4-BE49-F238E27FC236}">
                    <a16:creationId xmlns:a16="http://schemas.microsoft.com/office/drawing/2014/main" id="{658C986A-268C-4E49-3438-64D0F93F57C8}"/>
                  </a:ext>
                </a:extLst>
              </p:cNvPr>
              <p:cNvSpPr txBox="1">
                <a:spLocks noRot="1" noChangeAspect="1" noMove="1" noResize="1" noEditPoints="1" noAdjustHandles="1" noChangeArrowheads="1" noChangeShapeType="1" noTextEdit="1"/>
              </p:cNvSpPr>
              <p:nvPr/>
            </p:nvSpPr>
            <p:spPr>
              <a:xfrm>
                <a:off x="341193" y="955671"/>
                <a:ext cx="11000096" cy="1479444"/>
              </a:xfrm>
              <a:prstGeom prst="rect">
                <a:avLst/>
              </a:prstGeom>
              <a:blipFill>
                <a:blip r:embed="rId4"/>
                <a:stretch>
                  <a:fillRect l="-499" r="-443" b="-1653"/>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FE978179-7F53-3244-CB80-B9FF7D366722}"/>
              </a:ext>
            </a:extLst>
          </p:cNvPr>
          <p:cNvPicPr>
            <a:picLocks noChangeAspect="1"/>
          </p:cNvPicPr>
          <p:nvPr/>
        </p:nvPicPr>
        <p:blipFill>
          <a:blip r:embed="rId5"/>
          <a:stretch>
            <a:fillRect/>
          </a:stretch>
        </p:blipFill>
        <p:spPr>
          <a:xfrm>
            <a:off x="341193" y="2680615"/>
            <a:ext cx="6199120" cy="3372321"/>
          </a:xfrm>
          <a:prstGeom prst="rect">
            <a:avLst/>
          </a:prstGeom>
        </p:spPr>
      </p:pic>
      <p:pic>
        <p:nvPicPr>
          <p:cNvPr id="17" name="Picture 16">
            <a:extLst>
              <a:ext uri="{FF2B5EF4-FFF2-40B4-BE49-F238E27FC236}">
                <a16:creationId xmlns:a16="http://schemas.microsoft.com/office/drawing/2014/main" id="{24A6CB70-64E3-7197-9684-9B29B72568C9}"/>
              </a:ext>
            </a:extLst>
          </p:cNvPr>
          <p:cNvPicPr>
            <a:picLocks noChangeAspect="1"/>
          </p:cNvPicPr>
          <p:nvPr/>
        </p:nvPicPr>
        <p:blipFill>
          <a:blip r:embed="rId6"/>
          <a:stretch>
            <a:fillRect/>
          </a:stretch>
        </p:blipFill>
        <p:spPr>
          <a:xfrm>
            <a:off x="6712232" y="2680615"/>
            <a:ext cx="5352253" cy="3168391"/>
          </a:xfrm>
          <a:prstGeom prst="rect">
            <a:avLst/>
          </a:prstGeom>
        </p:spPr>
      </p:pic>
      <p:sp>
        <p:nvSpPr>
          <p:cNvPr id="7" name="TextBox 6">
            <a:extLst>
              <a:ext uri="{FF2B5EF4-FFF2-40B4-BE49-F238E27FC236}">
                <a16:creationId xmlns:a16="http://schemas.microsoft.com/office/drawing/2014/main" id="{EF451359-2C81-9F7E-FB04-BF9EB9F12329}"/>
              </a:ext>
            </a:extLst>
          </p:cNvPr>
          <p:cNvSpPr txBox="1"/>
          <p:nvPr/>
        </p:nvSpPr>
        <p:spPr>
          <a:xfrm>
            <a:off x="204716" y="77366"/>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Tree>
    <p:extLst>
      <p:ext uri="{BB962C8B-B14F-4D97-AF65-F5344CB8AC3E}">
        <p14:creationId xmlns:p14="http://schemas.microsoft.com/office/powerpoint/2010/main" val="35396459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9AC36-0196-E8D1-2DD3-1F9539A42C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99B50B-FB62-E99A-DC1F-3020B442D06F}"/>
              </a:ext>
            </a:extLst>
          </p:cNvPr>
          <p:cNvSpPr txBox="1"/>
          <p:nvPr/>
        </p:nvSpPr>
        <p:spPr>
          <a:xfrm>
            <a:off x="204716" y="801061"/>
            <a:ext cx="2879448" cy="400110"/>
          </a:xfrm>
          <a:prstGeom prst="rect">
            <a:avLst/>
          </a:prstGeom>
          <a:noFill/>
        </p:spPr>
        <p:txBody>
          <a:bodyPr wrap="square" rtlCol="0">
            <a:spAutoFit/>
          </a:bodyPr>
          <a:lstStyle/>
          <a:p>
            <a:r>
              <a:rPr lang="en-US" sz="2000" b="1" dirty="0">
                <a:solidFill>
                  <a:srgbClr val="00B050"/>
                </a:solidFill>
              </a:rPr>
              <a:t> Gamma Distribution</a:t>
            </a:r>
            <a:endParaRPr lang="en-IN" sz="2000" b="1" dirty="0">
              <a:solidFill>
                <a:srgbClr val="00B050"/>
              </a:solidFill>
            </a:endParaRPr>
          </a:p>
        </p:txBody>
      </p:sp>
      <p:sp>
        <p:nvSpPr>
          <p:cNvPr id="9" name="TextBox 8">
            <a:extLst>
              <a:ext uri="{FF2B5EF4-FFF2-40B4-BE49-F238E27FC236}">
                <a16:creationId xmlns:a16="http://schemas.microsoft.com/office/drawing/2014/main" id="{AB365F34-DB74-B7C3-E1E4-A9E504EF69E6}"/>
              </a:ext>
            </a:extLst>
          </p:cNvPr>
          <p:cNvSpPr txBox="1"/>
          <p:nvPr/>
        </p:nvSpPr>
        <p:spPr>
          <a:xfrm>
            <a:off x="341193" y="1326061"/>
            <a:ext cx="11341291" cy="369332"/>
          </a:xfrm>
          <a:prstGeom prst="rect">
            <a:avLst/>
          </a:prstGeom>
          <a:noFill/>
        </p:spPr>
        <p:txBody>
          <a:bodyPr wrap="square">
            <a:spAutoFit/>
          </a:bodyPr>
          <a:lstStyle/>
          <a:p>
            <a:pPr marL="0" lvl="0" indent="0" algn="just">
              <a:buNone/>
            </a:pPr>
            <a:r>
              <a:rPr lang="en-US" sz="1800" dirty="0"/>
              <a:t> </a:t>
            </a:r>
          </a:p>
        </p:txBody>
      </p:sp>
      <p:pic>
        <p:nvPicPr>
          <p:cNvPr id="5" name="Google Shape;90;p1">
            <a:extLst>
              <a:ext uri="{FF2B5EF4-FFF2-40B4-BE49-F238E27FC236}">
                <a16:creationId xmlns:a16="http://schemas.microsoft.com/office/drawing/2014/main" id="{A68DC54B-C545-415A-F6F8-3AD56301E547}"/>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3" name="TextBox 2">
            <a:extLst>
              <a:ext uri="{FF2B5EF4-FFF2-40B4-BE49-F238E27FC236}">
                <a16:creationId xmlns:a16="http://schemas.microsoft.com/office/drawing/2014/main" id="{A7C5434E-DBB7-EBF5-3963-882F1123354A}"/>
              </a:ext>
            </a:extLst>
          </p:cNvPr>
          <p:cNvSpPr txBox="1"/>
          <p:nvPr/>
        </p:nvSpPr>
        <p:spPr>
          <a:xfrm>
            <a:off x="204716" y="1201171"/>
            <a:ext cx="11000096" cy="369332"/>
          </a:xfrm>
          <a:prstGeom prst="rect">
            <a:avLst/>
          </a:prstGeom>
          <a:noFill/>
        </p:spPr>
        <p:txBody>
          <a:bodyPr wrap="square">
            <a:spAutoFit/>
          </a:bodyPr>
          <a:lstStyle/>
          <a:p>
            <a:pPr marL="0" lvl="0" indent="0" algn="just">
              <a:buNone/>
            </a:pPr>
            <a:r>
              <a:rPr lang="en-US" dirty="0"/>
              <a:t> </a:t>
            </a:r>
            <a:endParaRPr lang="en-IN" dirty="0"/>
          </a:p>
        </p:txBody>
      </p:sp>
      <p:sp>
        <p:nvSpPr>
          <p:cNvPr id="2" name="Slide Number Placeholder 1">
            <a:extLst>
              <a:ext uri="{FF2B5EF4-FFF2-40B4-BE49-F238E27FC236}">
                <a16:creationId xmlns:a16="http://schemas.microsoft.com/office/drawing/2014/main" id="{90DAA525-E5A7-29F5-D349-37901B666CA8}"/>
              </a:ext>
            </a:extLst>
          </p:cNvPr>
          <p:cNvSpPr>
            <a:spLocks noGrp="1"/>
          </p:cNvSpPr>
          <p:nvPr>
            <p:ph type="sldNum" sz="quarter" idx="12"/>
          </p:nvPr>
        </p:nvSpPr>
        <p:spPr/>
        <p:txBody>
          <a:bodyPr/>
          <a:lstStyle/>
          <a:p>
            <a:fld id="{8EC77227-B7F4-4800-97BE-1DE2687871B5}" type="slidenum">
              <a:rPr lang="en-IN" smtClean="0"/>
              <a:t>32</a:t>
            </a:fld>
            <a:endParaRPr lang="en-IN" dirty="0"/>
          </a:p>
        </p:txBody>
      </p:sp>
      <p:sp>
        <p:nvSpPr>
          <p:cNvPr id="10" name="TextBox 9">
            <a:extLst>
              <a:ext uri="{FF2B5EF4-FFF2-40B4-BE49-F238E27FC236}">
                <a16:creationId xmlns:a16="http://schemas.microsoft.com/office/drawing/2014/main" id="{508E4059-8219-DAD2-1AB1-C16ED695DF8F}"/>
              </a:ext>
            </a:extLst>
          </p:cNvPr>
          <p:cNvSpPr txBox="1"/>
          <p:nvPr/>
        </p:nvSpPr>
        <p:spPr>
          <a:xfrm>
            <a:off x="254758" y="1237989"/>
            <a:ext cx="11682484" cy="369332"/>
          </a:xfrm>
          <a:prstGeom prst="rect">
            <a:avLst/>
          </a:prstGeom>
          <a:noFill/>
        </p:spPr>
        <p:txBody>
          <a:bodyPr wrap="square">
            <a:spAutoFit/>
          </a:bodyPr>
          <a:lstStyle/>
          <a:p>
            <a:pPr algn="just"/>
            <a:r>
              <a:rPr lang="en-US" dirty="0"/>
              <a:t> </a:t>
            </a:r>
            <a:endParaRPr lang="en-IN" dirty="0"/>
          </a:p>
        </p:txBody>
      </p:sp>
      <p:sp>
        <p:nvSpPr>
          <p:cNvPr id="8" name="TextBox 7">
            <a:extLst>
              <a:ext uri="{FF2B5EF4-FFF2-40B4-BE49-F238E27FC236}">
                <a16:creationId xmlns:a16="http://schemas.microsoft.com/office/drawing/2014/main" id="{AF9D1CAE-6328-ECCF-FA66-7E3DF95E53A8}"/>
              </a:ext>
            </a:extLst>
          </p:cNvPr>
          <p:cNvSpPr txBox="1"/>
          <p:nvPr/>
        </p:nvSpPr>
        <p:spPr>
          <a:xfrm>
            <a:off x="264049" y="1237989"/>
            <a:ext cx="11586758" cy="1294072"/>
          </a:xfrm>
          <a:prstGeom prst="rect">
            <a:avLst/>
          </a:prstGeom>
          <a:noFill/>
        </p:spPr>
        <p:txBody>
          <a:bodyPr wrap="square">
            <a:spAutoFit/>
          </a:bodyPr>
          <a:lstStyle/>
          <a:p>
            <a:pPr algn="just">
              <a:lnSpc>
                <a:spcPct val="150000"/>
              </a:lnSpc>
            </a:pPr>
            <a:r>
              <a:rPr lang="en-IN" dirty="0"/>
              <a:t>The Gamma distribution exhibits notable changes in shape depending on the values of the shape parameter α and the rate parameter β. As 𝛼 increases, the distribution becomes more symmetric and its peak shifts to the right. In contrast, increasing 𝛽 leads to a steeper decline and greater concentration near zero, due to its inverse relationship with the scale.</a:t>
            </a:r>
          </a:p>
        </p:txBody>
      </p:sp>
      <p:pic>
        <p:nvPicPr>
          <p:cNvPr id="18" name="Picture 17">
            <a:extLst>
              <a:ext uri="{FF2B5EF4-FFF2-40B4-BE49-F238E27FC236}">
                <a16:creationId xmlns:a16="http://schemas.microsoft.com/office/drawing/2014/main" id="{85DAFBC7-3EA0-D4D2-9CCC-C402F1BBE9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1217" y="2747942"/>
            <a:ext cx="5049590" cy="3440941"/>
          </a:xfrm>
          <a:prstGeom prst="rect">
            <a:avLst/>
          </a:prstGeom>
        </p:spPr>
      </p:pic>
      <p:pic>
        <p:nvPicPr>
          <p:cNvPr id="20" name="Picture 19">
            <a:extLst>
              <a:ext uri="{FF2B5EF4-FFF2-40B4-BE49-F238E27FC236}">
                <a16:creationId xmlns:a16="http://schemas.microsoft.com/office/drawing/2014/main" id="{C5934C5E-A45D-8002-AB4E-1C952BA70862}"/>
              </a:ext>
            </a:extLst>
          </p:cNvPr>
          <p:cNvPicPr>
            <a:picLocks noChangeAspect="1"/>
          </p:cNvPicPr>
          <p:nvPr/>
        </p:nvPicPr>
        <p:blipFill>
          <a:blip r:embed="rId5"/>
          <a:stretch>
            <a:fillRect/>
          </a:stretch>
        </p:blipFill>
        <p:spPr>
          <a:xfrm>
            <a:off x="341192" y="2568880"/>
            <a:ext cx="6350953" cy="3543850"/>
          </a:xfrm>
          <a:prstGeom prst="rect">
            <a:avLst/>
          </a:prstGeom>
        </p:spPr>
      </p:pic>
      <p:sp>
        <p:nvSpPr>
          <p:cNvPr id="7" name="TextBox 6">
            <a:extLst>
              <a:ext uri="{FF2B5EF4-FFF2-40B4-BE49-F238E27FC236}">
                <a16:creationId xmlns:a16="http://schemas.microsoft.com/office/drawing/2014/main" id="{9DC9EF4B-B327-DE4A-DEFC-EC444888156D}"/>
              </a:ext>
            </a:extLst>
          </p:cNvPr>
          <p:cNvSpPr txBox="1"/>
          <p:nvPr/>
        </p:nvSpPr>
        <p:spPr>
          <a:xfrm>
            <a:off x="204716" y="77366"/>
            <a:ext cx="505535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Probability Distributions in Julia</a:t>
            </a:r>
            <a:endParaRPr lang="en-IN" sz="2400" b="1" dirty="0">
              <a:solidFill>
                <a:srgbClr val="FF0000"/>
              </a:solidFill>
            </a:endParaRPr>
          </a:p>
        </p:txBody>
      </p:sp>
    </p:spTree>
    <p:extLst>
      <p:ext uri="{BB962C8B-B14F-4D97-AF65-F5344CB8AC3E}">
        <p14:creationId xmlns:p14="http://schemas.microsoft.com/office/powerpoint/2010/main" val="2700262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D86A2-885C-CCB3-C7AC-A0E6FC5C9C4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B4E560-C0B4-4B66-36F4-9B970EF8CB6D}"/>
              </a:ext>
            </a:extLst>
          </p:cNvPr>
          <p:cNvSpPr>
            <a:spLocks noGrp="1"/>
          </p:cNvSpPr>
          <p:nvPr>
            <p:ph type="sldNum" sz="quarter" idx="12"/>
          </p:nvPr>
        </p:nvSpPr>
        <p:spPr/>
        <p:txBody>
          <a:bodyPr/>
          <a:lstStyle/>
          <a:p>
            <a:fld id="{8EC77227-B7F4-4800-97BE-1DE2687871B5}" type="slidenum">
              <a:rPr lang="en-IN" smtClean="0"/>
              <a:t>33</a:t>
            </a:fld>
            <a:endParaRPr lang="en-IN" dirty="0"/>
          </a:p>
        </p:txBody>
      </p:sp>
      <p:sp>
        <p:nvSpPr>
          <p:cNvPr id="6" name="TextBox 5">
            <a:extLst>
              <a:ext uri="{FF2B5EF4-FFF2-40B4-BE49-F238E27FC236}">
                <a16:creationId xmlns:a16="http://schemas.microsoft.com/office/drawing/2014/main" id="{D63A16D7-ACA0-93E7-DCCB-B0379889FA59}"/>
              </a:ext>
            </a:extLst>
          </p:cNvPr>
          <p:cNvSpPr txBox="1"/>
          <p:nvPr/>
        </p:nvSpPr>
        <p:spPr>
          <a:xfrm>
            <a:off x="227782" y="171228"/>
            <a:ext cx="6964755"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 Comparison of Execution Time in R and Julia</a:t>
            </a:r>
            <a:endParaRPr lang="en-IN" sz="2400" b="1" dirty="0">
              <a:solidFill>
                <a:srgbClr val="FF0000"/>
              </a:solidFill>
            </a:endParaRPr>
          </a:p>
        </p:txBody>
      </p:sp>
      <p:sp>
        <p:nvSpPr>
          <p:cNvPr id="4" name="TextBox 3">
            <a:extLst>
              <a:ext uri="{FF2B5EF4-FFF2-40B4-BE49-F238E27FC236}">
                <a16:creationId xmlns:a16="http://schemas.microsoft.com/office/drawing/2014/main" id="{912727D8-4BF0-0221-41DF-FAC05E2ECAA6}"/>
              </a:ext>
            </a:extLst>
          </p:cNvPr>
          <p:cNvSpPr txBox="1"/>
          <p:nvPr/>
        </p:nvSpPr>
        <p:spPr>
          <a:xfrm>
            <a:off x="272954" y="936172"/>
            <a:ext cx="6469039" cy="400110"/>
          </a:xfrm>
          <a:prstGeom prst="rect">
            <a:avLst/>
          </a:prstGeom>
          <a:noFill/>
        </p:spPr>
        <p:txBody>
          <a:bodyPr wrap="square" rtlCol="0">
            <a:spAutoFit/>
          </a:bodyPr>
          <a:lstStyle/>
          <a:p>
            <a:r>
              <a:rPr lang="en-US" sz="2000" b="1" dirty="0"/>
              <a:t> </a:t>
            </a:r>
            <a:endParaRPr lang="en-IN" sz="2000" b="1" dirty="0"/>
          </a:p>
        </p:txBody>
      </p:sp>
      <p:sp>
        <p:nvSpPr>
          <p:cNvPr id="13" name="TextBox 12">
            <a:extLst>
              <a:ext uri="{FF2B5EF4-FFF2-40B4-BE49-F238E27FC236}">
                <a16:creationId xmlns:a16="http://schemas.microsoft.com/office/drawing/2014/main" id="{3BAE51E7-B775-C083-D309-2FFD18B53F9D}"/>
              </a:ext>
            </a:extLst>
          </p:cNvPr>
          <p:cNvSpPr txBox="1"/>
          <p:nvPr/>
        </p:nvSpPr>
        <p:spPr>
          <a:xfrm>
            <a:off x="7815050" y="2410477"/>
            <a:ext cx="1591099" cy="400110"/>
          </a:xfrm>
          <a:prstGeom prst="rect">
            <a:avLst/>
          </a:prstGeom>
          <a:noFill/>
        </p:spPr>
        <p:txBody>
          <a:bodyPr wrap="square" rtlCol="0">
            <a:spAutoFit/>
          </a:bodyPr>
          <a:lstStyle/>
          <a:p>
            <a:pPr algn="ctr"/>
            <a:r>
              <a:rPr lang="en-US" sz="2000" b="1" dirty="0">
                <a:solidFill>
                  <a:srgbClr val="7030A0"/>
                </a:solidFill>
              </a:rPr>
              <a:t> </a:t>
            </a:r>
            <a:endParaRPr lang="en-IN" sz="2000" b="1" dirty="0">
              <a:solidFill>
                <a:srgbClr val="7030A0"/>
              </a:solidFill>
            </a:endParaRPr>
          </a:p>
        </p:txBody>
      </p:sp>
      <p:sp>
        <p:nvSpPr>
          <p:cNvPr id="16" name="AutoShape 2" descr="[20+] High Quality R Logo Png Hd">
            <a:extLst>
              <a:ext uri="{FF2B5EF4-FFF2-40B4-BE49-F238E27FC236}">
                <a16:creationId xmlns:a16="http://schemas.microsoft.com/office/drawing/2014/main" id="{6C4E394D-B743-BC7F-78D7-04436997591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5" name="Google Shape;90;p1">
            <a:extLst>
              <a:ext uri="{FF2B5EF4-FFF2-40B4-BE49-F238E27FC236}">
                <a16:creationId xmlns:a16="http://schemas.microsoft.com/office/drawing/2014/main" id="{0D5C2BFF-018F-2A02-AD78-3958515BE408}"/>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3" name="TextBox 2">
            <a:extLst>
              <a:ext uri="{FF2B5EF4-FFF2-40B4-BE49-F238E27FC236}">
                <a16:creationId xmlns:a16="http://schemas.microsoft.com/office/drawing/2014/main" id="{76D32E09-7CEA-6559-AE5B-0DEDE7A49510}"/>
              </a:ext>
            </a:extLst>
          </p:cNvPr>
          <p:cNvSpPr txBox="1"/>
          <p:nvPr/>
        </p:nvSpPr>
        <p:spPr>
          <a:xfrm>
            <a:off x="272954" y="1169188"/>
            <a:ext cx="7117626" cy="369332"/>
          </a:xfrm>
          <a:prstGeom prst="rect">
            <a:avLst/>
          </a:prstGeom>
          <a:noFill/>
        </p:spPr>
        <p:txBody>
          <a:bodyPr wrap="square" rtlCol="0">
            <a:spAutoFit/>
          </a:bodyPr>
          <a:lstStyle/>
          <a:p>
            <a:r>
              <a:rPr lang="en-US" dirty="0"/>
              <a:t>To illustrate this, we consider an example of multiple linear regression.</a:t>
            </a:r>
            <a:endParaRPr lang="en-IN" dirty="0"/>
          </a:p>
        </p:txBody>
      </p:sp>
      <p:pic>
        <p:nvPicPr>
          <p:cNvPr id="8" name="Picture 7">
            <a:extLst>
              <a:ext uri="{FF2B5EF4-FFF2-40B4-BE49-F238E27FC236}">
                <a16:creationId xmlns:a16="http://schemas.microsoft.com/office/drawing/2014/main" id="{33265256-3DEE-46A3-98AE-03DF44BF8C92}"/>
              </a:ext>
            </a:extLst>
          </p:cNvPr>
          <p:cNvPicPr>
            <a:picLocks noChangeAspect="1"/>
          </p:cNvPicPr>
          <p:nvPr/>
        </p:nvPicPr>
        <p:blipFill>
          <a:blip r:embed="rId4"/>
          <a:stretch>
            <a:fillRect/>
          </a:stretch>
        </p:blipFill>
        <p:spPr>
          <a:xfrm>
            <a:off x="227782" y="2192089"/>
            <a:ext cx="5290162" cy="1039139"/>
          </a:xfrm>
          <a:prstGeom prst="rect">
            <a:avLst/>
          </a:prstGeom>
        </p:spPr>
      </p:pic>
      <p:sp>
        <p:nvSpPr>
          <p:cNvPr id="9" name="TextBox 8">
            <a:extLst>
              <a:ext uri="{FF2B5EF4-FFF2-40B4-BE49-F238E27FC236}">
                <a16:creationId xmlns:a16="http://schemas.microsoft.com/office/drawing/2014/main" id="{9661A517-8FC7-3BDC-ED3D-D99F3F3B5C58}"/>
              </a:ext>
            </a:extLst>
          </p:cNvPr>
          <p:cNvSpPr txBox="1"/>
          <p:nvPr/>
        </p:nvSpPr>
        <p:spPr>
          <a:xfrm>
            <a:off x="272953" y="1782526"/>
            <a:ext cx="1040839" cy="400110"/>
          </a:xfrm>
          <a:prstGeom prst="rect">
            <a:avLst/>
          </a:prstGeom>
          <a:noFill/>
        </p:spPr>
        <p:txBody>
          <a:bodyPr wrap="square" rtlCol="0">
            <a:spAutoFit/>
          </a:bodyPr>
          <a:lstStyle/>
          <a:p>
            <a:pPr algn="ctr"/>
            <a:r>
              <a:rPr lang="en-US" sz="2000" b="1" dirty="0">
                <a:solidFill>
                  <a:srgbClr val="002060"/>
                </a:solidFill>
              </a:rPr>
              <a:t>R Code </a:t>
            </a:r>
            <a:endParaRPr lang="en-IN" sz="2000" b="1" dirty="0">
              <a:solidFill>
                <a:srgbClr val="002060"/>
              </a:solidFill>
            </a:endParaRPr>
          </a:p>
        </p:txBody>
      </p:sp>
      <p:sp>
        <p:nvSpPr>
          <p:cNvPr id="14" name="TextBox 13">
            <a:extLst>
              <a:ext uri="{FF2B5EF4-FFF2-40B4-BE49-F238E27FC236}">
                <a16:creationId xmlns:a16="http://schemas.microsoft.com/office/drawing/2014/main" id="{21B01F33-EBB4-80CE-2587-7814A7886D5F}"/>
              </a:ext>
            </a:extLst>
          </p:cNvPr>
          <p:cNvSpPr txBox="1"/>
          <p:nvPr/>
        </p:nvSpPr>
        <p:spPr>
          <a:xfrm>
            <a:off x="5560875" y="1813304"/>
            <a:ext cx="1328950" cy="369332"/>
          </a:xfrm>
          <a:prstGeom prst="rect">
            <a:avLst/>
          </a:prstGeom>
          <a:noFill/>
        </p:spPr>
        <p:txBody>
          <a:bodyPr wrap="square">
            <a:spAutoFit/>
          </a:bodyPr>
          <a:lstStyle/>
          <a:p>
            <a:pPr algn="ctr"/>
            <a:r>
              <a:rPr lang="en-US" b="1" dirty="0">
                <a:solidFill>
                  <a:srgbClr val="002060"/>
                </a:solidFill>
              </a:rPr>
              <a:t>Julia Code</a:t>
            </a:r>
            <a:endParaRPr lang="en-IN" sz="1800" b="1" dirty="0">
              <a:solidFill>
                <a:srgbClr val="002060"/>
              </a:solidFill>
            </a:endParaRPr>
          </a:p>
        </p:txBody>
      </p:sp>
      <p:pic>
        <p:nvPicPr>
          <p:cNvPr id="17" name="Picture 16">
            <a:extLst>
              <a:ext uri="{FF2B5EF4-FFF2-40B4-BE49-F238E27FC236}">
                <a16:creationId xmlns:a16="http://schemas.microsoft.com/office/drawing/2014/main" id="{F89C1514-A208-62B3-283A-2E744EA22571}"/>
              </a:ext>
            </a:extLst>
          </p:cNvPr>
          <p:cNvPicPr>
            <a:picLocks noChangeAspect="1"/>
          </p:cNvPicPr>
          <p:nvPr/>
        </p:nvPicPr>
        <p:blipFill>
          <a:blip r:embed="rId5"/>
          <a:stretch>
            <a:fillRect/>
          </a:stretch>
        </p:blipFill>
        <p:spPr>
          <a:xfrm>
            <a:off x="5619683" y="2182636"/>
            <a:ext cx="6344535" cy="790685"/>
          </a:xfrm>
          <a:prstGeom prst="rect">
            <a:avLst/>
          </a:prstGeom>
        </p:spPr>
      </p:pic>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30884C0B-8696-6457-3032-8004327B9444}"/>
                  </a:ext>
                </a:extLst>
              </p:cNvPr>
              <p:cNvGraphicFramePr>
                <a:graphicFrameLocks noGrp="1"/>
              </p:cNvGraphicFramePr>
              <p:nvPr>
                <p:extLst>
                  <p:ext uri="{D42A27DB-BD31-4B8C-83A1-F6EECF244321}">
                    <p14:modId xmlns:p14="http://schemas.microsoft.com/office/powerpoint/2010/main" val="3869865540"/>
                  </p:ext>
                </p:extLst>
              </p:nvPr>
            </p:nvGraphicFramePr>
            <p:xfrm>
              <a:off x="1456841" y="3977966"/>
              <a:ext cx="9562452" cy="2378382"/>
            </p:xfrm>
            <a:graphic>
              <a:graphicData uri="http://schemas.openxmlformats.org/drawingml/2006/table">
                <a:tbl>
                  <a:tblPr firstRow="1" bandRow="1">
                    <a:tableStyleId>{F5AB1C69-6EDB-4FF4-983F-18BD219EF322}</a:tableStyleId>
                  </a:tblPr>
                  <a:tblGrid>
                    <a:gridCol w="3187484">
                      <a:extLst>
                        <a:ext uri="{9D8B030D-6E8A-4147-A177-3AD203B41FA5}">
                          <a16:colId xmlns:a16="http://schemas.microsoft.com/office/drawing/2014/main" val="3237236538"/>
                        </a:ext>
                      </a:extLst>
                    </a:gridCol>
                    <a:gridCol w="3187484">
                      <a:extLst>
                        <a:ext uri="{9D8B030D-6E8A-4147-A177-3AD203B41FA5}">
                          <a16:colId xmlns:a16="http://schemas.microsoft.com/office/drawing/2014/main" val="1506651658"/>
                        </a:ext>
                      </a:extLst>
                    </a:gridCol>
                    <a:gridCol w="3187484">
                      <a:extLst>
                        <a:ext uri="{9D8B030D-6E8A-4147-A177-3AD203B41FA5}">
                          <a16:colId xmlns:a16="http://schemas.microsoft.com/office/drawing/2014/main" val="3636386435"/>
                        </a:ext>
                      </a:extLst>
                    </a:gridCol>
                  </a:tblGrid>
                  <a:tr h="792794">
                    <a:tc>
                      <a:txBody>
                        <a:bodyPr/>
                        <a:lstStyle/>
                        <a:p>
                          <a:pPr algn="ctr"/>
                          <a:r>
                            <a:rPr lang="en-IN" sz="2400" b="1" kern="1200" dirty="0">
                              <a:solidFill>
                                <a:schemeClr val="lt1"/>
                              </a:solidFill>
                              <a:effectLst/>
                            </a:rPr>
                            <a:t>Language</a:t>
                          </a:r>
                          <a:endParaRPr lang="en-IN" sz="2400" dirty="0"/>
                        </a:p>
                      </a:txBody>
                      <a:tcPr anchor="ctr"/>
                    </a:tc>
                    <a:tc>
                      <a:txBody>
                        <a:bodyPr/>
                        <a:lstStyle/>
                        <a:p>
                          <a:pPr algn="ctr"/>
                          <a:r>
                            <a:rPr lang="en-US" sz="2400" dirty="0"/>
                            <a:t>Pkg/Function</a:t>
                          </a:r>
                          <a:endParaRPr lang="en-IN" sz="2400" dirty="0"/>
                        </a:p>
                      </a:txBody>
                      <a:tcPr anchor="ctr"/>
                    </a:tc>
                    <a:tc>
                      <a:txBody>
                        <a:bodyPr/>
                        <a:lstStyle/>
                        <a:p>
                          <a:pPr algn="ctr"/>
                          <a:r>
                            <a:rPr lang="en-US" sz="2400" dirty="0"/>
                            <a:t>Mean time taken</a:t>
                          </a:r>
                          <a:endParaRPr lang="en-IN" sz="2400" dirty="0"/>
                        </a:p>
                      </a:txBody>
                      <a:tcPr anchor="ctr"/>
                    </a:tc>
                    <a:extLst>
                      <a:ext uri="{0D108BD9-81ED-4DB2-BD59-A6C34878D82A}">
                        <a16:rowId xmlns:a16="http://schemas.microsoft.com/office/drawing/2014/main" val="2755417445"/>
                      </a:ext>
                    </a:extLst>
                  </a:tr>
                  <a:tr h="792794">
                    <a:tc>
                      <a:txBody>
                        <a:bodyPr/>
                        <a:lstStyle/>
                        <a:p>
                          <a:pPr algn="ctr"/>
                          <a:r>
                            <a:rPr lang="en-US" sz="2400" dirty="0"/>
                            <a:t>R</a:t>
                          </a:r>
                          <a:endParaRPr lang="en-IN" sz="2400" dirty="0"/>
                        </a:p>
                      </a:txBody>
                      <a:tcPr anchor="ctr"/>
                    </a:tc>
                    <a:tc>
                      <a:txBody>
                        <a:bodyPr/>
                        <a:lstStyle/>
                        <a:p>
                          <a:pPr algn="ctr"/>
                          <a:r>
                            <a:rPr lang="en-US" sz="2400" dirty="0"/>
                            <a:t> Stats/lm</a:t>
                          </a:r>
                          <a:endParaRPr lang="en-IN"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478.348 </a:t>
                          </a:r>
                          <a14:m>
                            <m:oMath xmlns:m="http://schemas.openxmlformats.org/officeDocument/2006/math">
                              <m:r>
                                <a:rPr lang="en-US" sz="2400" b="0" smtClean="0">
                                  <a:latin typeface="Cambria Math" panose="02040503050406030204" pitchFamily="18" charset="0"/>
                                </a:rPr>
                                <m:t>𝜇</m:t>
                              </m:r>
                              <m:r>
                                <a:rPr lang="en-US" sz="2400" b="0" smtClean="0">
                                  <a:latin typeface="Cambria Math" panose="02040503050406030204" pitchFamily="18" charset="0"/>
                                </a:rPr>
                                <m:t>𝑠</m:t>
                              </m:r>
                            </m:oMath>
                          </a14:m>
                          <a:endParaRPr lang="en-IN" sz="2400" dirty="0"/>
                        </a:p>
                      </a:txBody>
                      <a:tcPr anchor="ctr"/>
                    </a:tc>
                    <a:extLst>
                      <a:ext uri="{0D108BD9-81ED-4DB2-BD59-A6C34878D82A}">
                        <a16:rowId xmlns:a16="http://schemas.microsoft.com/office/drawing/2014/main" val="3788761151"/>
                      </a:ext>
                    </a:extLst>
                  </a:tr>
                  <a:tr h="792794">
                    <a:tc>
                      <a:txBody>
                        <a:bodyPr/>
                        <a:lstStyle/>
                        <a:p>
                          <a:pPr algn="ctr"/>
                          <a:r>
                            <a:rPr lang="en-US" sz="2400" dirty="0"/>
                            <a:t>Julia</a:t>
                          </a:r>
                          <a:endParaRPr lang="en-IN" sz="2400" dirty="0"/>
                        </a:p>
                      </a:txBody>
                      <a:tcPr anchor="ctr"/>
                    </a:tc>
                    <a:tc>
                      <a:txBody>
                        <a:bodyPr/>
                        <a:lstStyle/>
                        <a:p>
                          <a:pPr algn="ctr"/>
                          <a:r>
                            <a:rPr lang="en-US" sz="2400" dirty="0"/>
                            <a:t>CRRao/fit</a:t>
                          </a:r>
                          <a:endParaRPr lang="en-IN" sz="24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t>119.965 </a:t>
                          </a:r>
                          <a14:m>
                            <m:oMath xmlns:m="http://schemas.openxmlformats.org/officeDocument/2006/math">
                              <m:r>
                                <a:rPr lang="en-US" sz="2400" b="0" smtClean="0">
                                  <a:latin typeface="Cambria Math" panose="02040503050406030204" pitchFamily="18" charset="0"/>
                                </a:rPr>
                                <m:t>𝜇</m:t>
                              </m:r>
                              <m:r>
                                <a:rPr lang="en-US" sz="2400" b="0" smtClean="0">
                                  <a:latin typeface="Cambria Math" panose="02040503050406030204" pitchFamily="18" charset="0"/>
                                </a:rPr>
                                <m:t>𝑠</m:t>
                              </m:r>
                            </m:oMath>
                          </a14:m>
                          <a:endParaRPr lang="en-IN" sz="2400" dirty="0"/>
                        </a:p>
                      </a:txBody>
                      <a:tcPr anchor="ctr"/>
                    </a:tc>
                    <a:extLst>
                      <a:ext uri="{0D108BD9-81ED-4DB2-BD59-A6C34878D82A}">
                        <a16:rowId xmlns:a16="http://schemas.microsoft.com/office/drawing/2014/main" val="296527556"/>
                      </a:ext>
                    </a:extLst>
                  </a:tr>
                </a:tbl>
              </a:graphicData>
            </a:graphic>
          </p:graphicFrame>
        </mc:Choice>
        <mc:Fallback xmlns="">
          <p:graphicFrame>
            <p:nvGraphicFramePr>
              <p:cNvPr id="18" name="Table 17">
                <a:extLst>
                  <a:ext uri="{FF2B5EF4-FFF2-40B4-BE49-F238E27FC236}">
                    <a16:creationId xmlns:a16="http://schemas.microsoft.com/office/drawing/2014/main" id="{30884C0B-8696-6457-3032-8004327B9444}"/>
                  </a:ext>
                </a:extLst>
              </p:cNvPr>
              <p:cNvGraphicFramePr>
                <a:graphicFrameLocks noGrp="1"/>
              </p:cNvGraphicFramePr>
              <p:nvPr>
                <p:extLst>
                  <p:ext uri="{D42A27DB-BD31-4B8C-83A1-F6EECF244321}">
                    <p14:modId xmlns:p14="http://schemas.microsoft.com/office/powerpoint/2010/main" val="3869865540"/>
                  </p:ext>
                </p:extLst>
              </p:nvPr>
            </p:nvGraphicFramePr>
            <p:xfrm>
              <a:off x="1456841" y="3977966"/>
              <a:ext cx="9562452" cy="2378382"/>
            </p:xfrm>
            <a:graphic>
              <a:graphicData uri="http://schemas.openxmlformats.org/drawingml/2006/table">
                <a:tbl>
                  <a:tblPr firstRow="1" bandRow="1">
                    <a:tableStyleId>{F5AB1C69-6EDB-4FF4-983F-18BD219EF322}</a:tableStyleId>
                  </a:tblPr>
                  <a:tblGrid>
                    <a:gridCol w="3187484">
                      <a:extLst>
                        <a:ext uri="{9D8B030D-6E8A-4147-A177-3AD203B41FA5}">
                          <a16:colId xmlns:a16="http://schemas.microsoft.com/office/drawing/2014/main" val="3237236538"/>
                        </a:ext>
                      </a:extLst>
                    </a:gridCol>
                    <a:gridCol w="3187484">
                      <a:extLst>
                        <a:ext uri="{9D8B030D-6E8A-4147-A177-3AD203B41FA5}">
                          <a16:colId xmlns:a16="http://schemas.microsoft.com/office/drawing/2014/main" val="1506651658"/>
                        </a:ext>
                      </a:extLst>
                    </a:gridCol>
                    <a:gridCol w="3187484">
                      <a:extLst>
                        <a:ext uri="{9D8B030D-6E8A-4147-A177-3AD203B41FA5}">
                          <a16:colId xmlns:a16="http://schemas.microsoft.com/office/drawing/2014/main" val="3636386435"/>
                        </a:ext>
                      </a:extLst>
                    </a:gridCol>
                  </a:tblGrid>
                  <a:tr h="792794">
                    <a:tc>
                      <a:txBody>
                        <a:bodyPr/>
                        <a:lstStyle/>
                        <a:p>
                          <a:pPr algn="ctr"/>
                          <a:r>
                            <a:rPr lang="en-IN" sz="2400" b="1" kern="1200" dirty="0">
                              <a:solidFill>
                                <a:schemeClr val="lt1"/>
                              </a:solidFill>
                              <a:effectLst/>
                            </a:rPr>
                            <a:t>Language</a:t>
                          </a:r>
                          <a:endParaRPr lang="en-IN" sz="2400" dirty="0"/>
                        </a:p>
                      </a:txBody>
                      <a:tcPr anchor="ctr"/>
                    </a:tc>
                    <a:tc>
                      <a:txBody>
                        <a:bodyPr/>
                        <a:lstStyle/>
                        <a:p>
                          <a:pPr algn="ctr"/>
                          <a:r>
                            <a:rPr lang="en-US" sz="2400" dirty="0"/>
                            <a:t>Pkg/Function</a:t>
                          </a:r>
                          <a:endParaRPr lang="en-IN" sz="2400" dirty="0"/>
                        </a:p>
                      </a:txBody>
                      <a:tcPr anchor="ctr"/>
                    </a:tc>
                    <a:tc>
                      <a:txBody>
                        <a:bodyPr/>
                        <a:lstStyle/>
                        <a:p>
                          <a:pPr algn="ctr"/>
                          <a:r>
                            <a:rPr lang="en-US" sz="2400" dirty="0"/>
                            <a:t>Mean time taken</a:t>
                          </a:r>
                          <a:endParaRPr lang="en-IN" sz="2400" dirty="0"/>
                        </a:p>
                      </a:txBody>
                      <a:tcPr anchor="ctr"/>
                    </a:tc>
                    <a:extLst>
                      <a:ext uri="{0D108BD9-81ED-4DB2-BD59-A6C34878D82A}">
                        <a16:rowId xmlns:a16="http://schemas.microsoft.com/office/drawing/2014/main" val="2755417445"/>
                      </a:ext>
                    </a:extLst>
                  </a:tr>
                  <a:tr h="792794">
                    <a:tc>
                      <a:txBody>
                        <a:bodyPr/>
                        <a:lstStyle/>
                        <a:p>
                          <a:pPr algn="ctr"/>
                          <a:r>
                            <a:rPr lang="en-US" sz="2400" dirty="0"/>
                            <a:t>R</a:t>
                          </a:r>
                          <a:endParaRPr lang="en-IN" sz="2400" dirty="0"/>
                        </a:p>
                      </a:txBody>
                      <a:tcPr anchor="ctr"/>
                    </a:tc>
                    <a:tc>
                      <a:txBody>
                        <a:bodyPr/>
                        <a:lstStyle/>
                        <a:p>
                          <a:pPr algn="ctr"/>
                          <a:r>
                            <a:rPr lang="en-US" sz="2400" dirty="0"/>
                            <a:t> Stats/lm</a:t>
                          </a:r>
                          <a:endParaRPr lang="en-IN" sz="2400" dirty="0"/>
                        </a:p>
                      </a:txBody>
                      <a:tcPr anchor="ctr"/>
                    </a:tc>
                    <a:tc>
                      <a:txBody>
                        <a:bodyPr/>
                        <a:lstStyle/>
                        <a:p>
                          <a:endParaRPr lang="en-US"/>
                        </a:p>
                      </a:txBody>
                      <a:tcPr anchor="ctr">
                        <a:blipFill>
                          <a:blip r:embed="rId6"/>
                          <a:stretch>
                            <a:fillRect l="-200382" t="-100000" r="-765" b="-100763"/>
                          </a:stretch>
                        </a:blipFill>
                      </a:tcPr>
                    </a:tc>
                    <a:extLst>
                      <a:ext uri="{0D108BD9-81ED-4DB2-BD59-A6C34878D82A}">
                        <a16:rowId xmlns:a16="http://schemas.microsoft.com/office/drawing/2014/main" val="3788761151"/>
                      </a:ext>
                    </a:extLst>
                  </a:tr>
                  <a:tr h="792794">
                    <a:tc>
                      <a:txBody>
                        <a:bodyPr/>
                        <a:lstStyle/>
                        <a:p>
                          <a:pPr algn="ctr"/>
                          <a:r>
                            <a:rPr lang="en-US" sz="2400" dirty="0"/>
                            <a:t>Julia</a:t>
                          </a:r>
                          <a:endParaRPr lang="en-IN" sz="2400" dirty="0"/>
                        </a:p>
                      </a:txBody>
                      <a:tcPr anchor="ctr"/>
                    </a:tc>
                    <a:tc>
                      <a:txBody>
                        <a:bodyPr/>
                        <a:lstStyle/>
                        <a:p>
                          <a:pPr algn="ctr"/>
                          <a:r>
                            <a:rPr lang="en-US" sz="2400" dirty="0"/>
                            <a:t>CRRao/fit</a:t>
                          </a:r>
                          <a:endParaRPr lang="en-IN" sz="2400" dirty="0"/>
                        </a:p>
                      </a:txBody>
                      <a:tcPr anchor="ctr"/>
                    </a:tc>
                    <a:tc>
                      <a:txBody>
                        <a:bodyPr/>
                        <a:lstStyle/>
                        <a:p>
                          <a:endParaRPr lang="en-US"/>
                        </a:p>
                      </a:txBody>
                      <a:tcPr anchor="ctr">
                        <a:blipFill>
                          <a:blip r:embed="rId6"/>
                          <a:stretch>
                            <a:fillRect l="-200382" t="-201538" r="-765" b="-1538"/>
                          </a:stretch>
                        </a:blipFill>
                      </a:tcPr>
                    </a:tc>
                    <a:extLst>
                      <a:ext uri="{0D108BD9-81ED-4DB2-BD59-A6C34878D82A}">
                        <a16:rowId xmlns:a16="http://schemas.microsoft.com/office/drawing/2014/main" val="296527556"/>
                      </a:ext>
                    </a:extLst>
                  </a:tr>
                </a:tbl>
              </a:graphicData>
            </a:graphic>
          </p:graphicFrame>
        </mc:Fallback>
      </mc:AlternateContent>
    </p:spTree>
    <p:extLst>
      <p:ext uri="{BB962C8B-B14F-4D97-AF65-F5344CB8AC3E}">
        <p14:creationId xmlns:p14="http://schemas.microsoft.com/office/powerpoint/2010/main" val="30765209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52471-BF54-3458-06E3-F09801929E5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E9B428-5860-5BFB-148A-893AE5B38B3A}"/>
              </a:ext>
            </a:extLst>
          </p:cNvPr>
          <p:cNvSpPr>
            <a:spLocks noGrp="1"/>
          </p:cNvSpPr>
          <p:nvPr>
            <p:ph type="sldNum" sz="quarter" idx="12"/>
          </p:nvPr>
        </p:nvSpPr>
        <p:spPr/>
        <p:txBody>
          <a:bodyPr/>
          <a:lstStyle/>
          <a:p>
            <a:fld id="{8EC77227-B7F4-4800-97BE-1DE2687871B5}" type="slidenum">
              <a:rPr lang="en-IN" smtClean="0"/>
              <a:t>34</a:t>
            </a:fld>
            <a:endParaRPr lang="en-IN" dirty="0"/>
          </a:p>
        </p:txBody>
      </p:sp>
      <p:sp>
        <p:nvSpPr>
          <p:cNvPr id="6" name="TextBox 5">
            <a:extLst>
              <a:ext uri="{FF2B5EF4-FFF2-40B4-BE49-F238E27FC236}">
                <a16:creationId xmlns:a16="http://schemas.microsoft.com/office/drawing/2014/main" id="{2DF66CFB-B583-633A-7D02-96202FE1BB9B}"/>
              </a:ext>
            </a:extLst>
          </p:cNvPr>
          <p:cNvSpPr txBox="1"/>
          <p:nvPr/>
        </p:nvSpPr>
        <p:spPr>
          <a:xfrm>
            <a:off x="257328" y="34485"/>
            <a:ext cx="6964755"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Symbolic Computation in Julia </a:t>
            </a:r>
            <a:endParaRPr lang="en-IN" sz="2400" b="1" dirty="0">
              <a:solidFill>
                <a:srgbClr val="FF0000"/>
              </a:solidFill>
            </a:endParaRPr>
          </a:p>
        </p:txBody>
      </p:sp>
      <p:sp>
        <p:nvSpPr>
          <p:cNvPr id="13" name="TextBox 12">
            <a:extLst>
              <a:ext uri="{FF2B5EF4-FFF2-40B4-BE49-F238E27FC236}">
                <a16:creationId xmlns:a16="http://schemas.microsoft.com/office/drawing/2014/main" id="{C76637D0-97C6-D33C-31CA-01D9D0833F64}"/>
              </a:ext>
            </a:extLst>
          </p:cNvPr>
          <p:cNvSpPr txBox="1"/>
          <p:nvPr/>
        </p:nvSpPr>
        <p:spPr>
          <a:xfrm>
            <a:off x="7815050" y="2410477"/>
            <a:ext cx="1591099" cy="400110"/>
          </a:xfrm>
          <a:prstGeom prst="rect">
            <a:avLst/>
          </a:prstGeom>
          <a:noFill/>
        </p:spPr>
        <p:txBody>
          <a:bodyPr wrap="square" rtlCol="0">
            <a:spAutoFit/>
          </a:bodyPr>
          <a:lstStyle/>
          <a:p>
            <a:pPr algn="ctr"/>
            <a:r>
              <a:rPr lang="en-US" sz="2000" b="1" dirty="0">
                <a:solidFill>
                  <a:srgbClr val="7030A0"/>
                </a:solidFill>
              </a:rPr>
              <a:t> </a:t>
            </a:r>
            <a:endParaRPr lang="en-IN" sz="2000" b="1" dirty="0">
              <a:solidFill>
                <a:srgbClr val="7030A0"/>
              </a:solidFill>
            </a:endParaRPr>
          </a:p>
        </p:txBody>
      </p:sp>
      <p:pic>
        <p:nvPicPr>
          <p:cNvPr id="5" name="Google Shape;90;p1">
            <a:extLst>
              <a:ext uri="{FF2B5EF4-FFF2-40B4-BE49-F238E27FC236}">
                <a16:creationId xmlns:a16="http://schemas.microsoft.com/office/drawing/2014/main" id="{34842901-782E-EB42-A1A5-D7C8CE96BAE8}"/>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B71BB03-9E01-4D12-60F2-D53637E2394A}"/>
                  </a:ext>
                </a:extLst>
              </p:cNvPr>
              <p:cNvSpPr txBox="1"/>
              <p:nvPr/>
            </p:nvSpPr>
            <p:spPr>
              <a:xfrm>
                <a:off x="257328" y="415783"/>
                <a:ext cx="11259184" cy="2937920"/>
              </a:xfrm>
              <a:prstGeom prst="rect">
                <a:avLst/>
              </a:prstGeom>
              <a:noFill/>
            </p:spPr>
            <p:txBody>
              <a:bodyPr wrap="square">
                <a:spAutoFit/>
              </a:bodyPr>
              <a:lstStyle/>
              <a:p>
                <a:pPr algn="just">
                  <a:lnSpc>
                    <a:spcPct val="150000"/>
                  </a:lnSpc>
                </a:pPr>
                <a:r>
                  <a:rPr lang="en-US" dirty="0"/>
                  <a:t>Julia provides a powerful symbolic computation environment for performing algebraic manipulations and analytical calculations. This functionality is supported through the </a:t>
                </a:r>
                <a:r>
                  <a:rPr lang="en-US" b="1" dirty="0" err="1"/>
                  <a:t>Symbolics.jl</a:t>
                </a:r>
                <a:r>
                  <a:rPr lang="en-US" dirty="0"/>
                  <a:t> package, where symbolic variables are defined using @variables and differentiation can be carried out using the derivatives function. In addition to </a:t>
                </a:r>
                <a:r>
                  <a:rPr lang="en-US" dirty="0" err="1"/>
                  <a:t>Symbolics.jl</a:t>
                </a:r>
                <a:r>
                  <a:rPr lang="en-US" dirty="0"/>
                  <a:t>, other packages such as </a:t>
                </a:r>
                <a:r>
                  <a:rPr lang="en-US" b="1" dirty="0" err="1"/>
                  <a:t>SymPy.jl</a:t>
                </a:r>
                <a:r>
                  <a:rPr lang="en-US" dirty="0"/>
                  <a:t> and </a:t>
                </a:r>
                <a:r>
                  <a:rPr lang="en-US" b="1" dirty="0" err="1"/>
                  <a:t>Reduce.jl</a:t>
                </a:r>
                <a:r>
                  <a:rPr lang="en-US" dirty="0"/>
                  <a:t> are also available in Julia for symbolic </a:t>
                </a:r>
                <a:r>
                  <a:rPr lang="en-US" dirty="0" err="1"/>
                  <a:t>matematics</a:t>
                </a:r>
                <a:r>
                  <a:rPr lang="en-US" dirty="0"/>
                  <a:t> and computer algebra operations.. With this approach, we can compute exact symbolic derivatives of functions such as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𝑥</m:t>
                        </m:r>
                      </m:num>
                      <m:den>
                        <m:r>
                          <a:rPr lang="en-US" b="0" i="1" smtClean="0">
                            <a:latin typeface="Cambria Math" panose="02040503050406030204" pitchFamily="18" charset="0"/>
                          </a:rPr>
                          <m:t>3</m:t>
                        </m:r>
                        <m:r>
                          <a:rPr lang="en-US" b="0" i="1" smtClean="0">
                            <a:latin typeface="Cambria Math" panose="02040503050406030204" pitchFamily="18" charset="0"/>
                          </a:rPr>
                          <m:t>+</m:t>
                        </m:r>
                        <m:r>
                          <a:rPr lang="en-US" b="0" i="1" smtClean="0">
                            <a:latin typeface="Cambria Math" panose="02040503050406030204" pitchFamily="18" charset="0"/>
                          </a:rPr>
                          <m:t>𝑥</m:t>
                        </m:r>
                      </m:den>
                    </m:f>
                    <m:r>
                      <a:rPr lang="en-US" b="0" i="1" smtClean="0">
                        <a:latin typeface="Cambria Math" panose="02040503050406030204" pitchFamily="18" charset="0"/>
                      </a:rPr>
                      <m:t> </m:t>
                    </m:r>
                  </m:oMath>
                </a14:m>
                <a:r>
                  <a:rPr lang="en-IN"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𝑠</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num>
                      <m:den>
                        <m:r>
                          <a:rPr lang="en-US" b="0" i="1" smtClean="0">
                            <a:latin typeface="Cambria Math" panose="02040503050406030204" pitchFamily="18" charset="0"/>
                          </a:rPr>
                          <m:t>1</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den>
                    </m:f>
                  </m:oMath>
                </a14:m>
                <a:endParaRPr lang="en-IN" dirty="0"/>
              </a:p>
            </p:txBody>
          </p:sp>
        </mc:Choice>
        <mc:Fallback xmlns="">
          <p:sp>
            <p:nvSpPr>
              <p:cNvPr id="10" name="TextBox 9">
                <a:extLst>
                  <a:ext uri="{FF2B5EF4-FFF2-40B4-BE49-F238E27FC236}">
                    <a16:creationId xmlns:a16="http://schemas.microsoft.com/office/drawing/2014/main" id="{EB71BB03-9E01-4D12-60F2-D53637E2394A}"/>
                  </a:ext>
                </a:extLst>
              </p:cNvPr>
              <p:cNvSpPr txBox="1">
                <a:spLocks noRot="1" noChangeAspect="1" noMove="1" noResize="1" noEditPoints="1" noAdjustHandles="1" noChangeArrowheads="1" noChangeShapeType="1" noTextEdit="1"/>
              </p:cNvSpPr>
              <p:nvPr/>
            </p:nvSpPr>
            <p:spPr>
              <a:xfrm>
                <a:off x="257328" y="415783"/>
                <a:ext cx="11259184" cy="2937920"/>
              </a:xfrm>
              <a:prstGeom prst="rect">
                <a:avLst/>
              </a:prstGeom>
              <a:blipFill>
                <a:blip r:embed="rId4"/>
                <a:stretch>
                  <a:fillRect l="-433" r="-487"/>
                </a:stretch>
              </a:blipFill>
            </p:spPr>
            <p:txBody>
              <a:bodyPr/>
              <a:lstStyle/>
              <a:p>
                <a:r>
                  <a:rPr lang="en-IN">
                    <a:noFill/>
                  </a:rPr>
                  <a:t> </a:t>
                </a:r>
              </a:p>
            </p:txBody>
          </p:sp>
        </mc:Fallback>
      </mc:AlternateContent>
      <p:pic>
        <p:nvPicPr>
          <p:cNvPr id="12" name="Picture 11">
            <a:extLst>
              <a:ext uri="{FF2B5EF4-FFF2-40B4-BE49-F238E27FC236}">
                <a16:creationId xmlns:a16="http://schemas.microsoft.com/office/drawing/2014/main" id="{23C8F6C2-EE42-E72C-36DC-936135CD0857}"/>
              </a:ext>
            </a:extLst>
          </p:cNvPr>
          <p:cNvPicPr>
            <a:picLocks noChangeAspect="1"/>
          </p:cNvPicPr>
          <p:nvPr/>
        </p:nvPicPr>
        <p:blipFill>
          <a:blip r:embed="rId5"/>
          <a:stretch>
            <a:fillRect/>
          </a:stretch>
        </p:blipFill>
        <p:spPr>
          <a:xfrm>
            <a:off x="675488" y="3429000"/>
            <a:ext cx="4667931" cy="2991650"/>
          </a:xfrm>
          <a:prstGeom prst="rect">
            <a:avLst/>
          </a:prstGeom>
        </p:spPr>
      </p:pic>
      <p:pic>
        <p:nvPicPr>
          <p:cNvPr id="19" name="Picture 18">
            <a:extLst>
              <a:ext uri="{FF2B5EF4-FFF2-40B4-BE49-F238E27FC236}">
                <a16:creationId xmlns:a16="http://schemas.microsoft.com/office/drawing/2014/main" id="{C95D90CE-BDCA-809A-B226-1C13A07A919B}"/>
              </a:ext>
            </a:extLst>
          </p:cNvPr>
          <p:cNvPicPr>
            <a:picLocks noChangeAspect="1"/>
          </p:cNvPicPr>
          <p:nvPr/>
        </p:nvPicPr>
        <p:blipFill>
          <a:blip r:embed="rId6"/>
          <a:stretch>
            <a:fillRect/>
          </a:stretch>
        </p:blipFill>
        <p:spPr>
          <a:xfrm>
            <a:off x="5525986" y="3482729"/>
            <a:ext cx="5525520" cy="2937921"/>
          </a:xfrm>
          <a:prstGeom prst="rect">
            <a:avLst/>
          </a:prstGeom>
        </p:spPr>
      </p:pic>
    </p:spTree>
    <p:extLst>
      <p:ext uri="{BB962C8B-B14F-4D97-AF65-F5344CB8AC3E}">
        <p14:creationId xmlns:p14="http://schemas.microsoft.com/office/powerpoint/2010/main" val="41176355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A813D-35D1-8698-ABBF-9B6F89273DD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DBEFE2-75D4-7BD9-62A7-6337D8F57E29}"/>
              </a:ext>
            </a:extLst>
          </p:cNvPr>
          <p:cNvSpPr>
            <a:spLocks noGrp="1"/>
          </p:cNvSpPr>
          <p:nvPr>
            <p:ph type="sldNum" sz="quarter" idx="12"/>
          </p:nvPr>
        </p:nvSpPr>
        <p:spPr/>
        <p:txBody>
          <a:bodyPr/>
          <a:lstStyle/>
          <a:p>
            <a:fld id="{8EC77227-B7F4-4800-97BE-1DE2687871B5}" type="slidenum">
              <a:rPr lang="en-IN" smtClean="0"/>
              <a:t>35</a:t>
            </a:fld>
            <a:endParaRPr lang="en-IN" dirty="0"/>
          </a:p>
        </p:txBody>
      </p:sp>
      <p:sp>
        <p:nvSpPr>
          <p:cNvPr id="6" name="TextBox 5">
            <a:extLst>
              <a:ext uri="{FF2B5EF4-FFF2-40B4-BE49-F238E27FC236}">
                <a16:creationId xmlns:a16="http://schemas.microsoft.com/office/drawing/2014/main" id="{A8186927-A7E9-B27C-2BE4-E2283B20D8B4}"/>
              </a:ext>
            </a:extLst>
          </p:cNvPr>
          <p:cNvSpPr txBox="1"/>
          <p:nvPr/>
        </p:nvSpPr>
        <p:spPr>
          <a:xfrm>
            <a:off x="272954" y="138920"/>
            <a:ext cx="3617121"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Simple Linear Regression</a:t>
            </a:r>
            <a:endParaRPr lang="en-IN" sz="2400" b="1" dirty="0">
              <a:solidFill>
                <a:srgbClr val="FF0000"/>
              </a:solidFill>
            </a:endParaRPr>
          </a:p>
        </p:txBody>
      </p:sp>
      <p:sp>
        <p:nvSpPr>
          <p:cNvPr id="4" name="TextBox 3">
            <a:extLst>
              <a:ext uri="{FF2B5EF4-FFF2-40B4-BE49-F238E27FC236}">
                <a16:creationId xmlns:a16="http://schemas.microsoft.com/office/drawing/2014/main" id="{60DE4663-8813-038B-2CAA-0236AA4A5C6B}"/>
              </a:ext>
            </a:extLst>
          </p:cNvPr>
          <p:cNvSpPr txBox="1"/>
          <p:nvPr/>
        </p:nvSpPr>
        <p:spPr>
          <a:xfrm>
            <a:off x="272954" y="829619"/>
            <a:ext cx="11304280" cy="2126864"/>
          </a:xfrm>
          <a:prstGeom prst="rect">
            <a:avLst/>
          </a:prstGeom>
          <a:noFill/>
        </p:spPr>
        <p:txBody>
          <a:bodyPr wrap="square" rtlCol="0">
            <a:spAutoFit/>
          </a:bodyPr>
          <a:lstStyle/>
          <a:p>
            <a:pPr algn="just">
              <a:lnSpc>
                <a:spcPct val="150000"/>
              </a:lnSpc>
            </a:pPr>
            <a:r>
              <a:rPr lang="en-US" dirty="0"/>
              <a:t>To demonstrate simple linear regression, we consider the </a:t>
            </a:r>
            <a:r>
              <a:rPr lang="en-US" b="1" dirty="0"/>
              <a:t>trees</a:t>
            </a:r>
            <a:r>
              <a:rPr lang="en-US" dirty="0"/>
              <a:t> dataset provided with </a:t>
            </a:r>
            <a:r>
              <a:rPr lang="en-US" b="1" dirty="0"/>
              <a:t>R</a:t>
            </a:r>
            <a:r>
              <a:rPr lang="en-US" dirty="0"/>
              <a:t>. In Julia, the same dataset can be imported using the </a:t>
            </a:r>
            <a:r>
              <a:rPr lang="en-US" b="1" dirty="0" err="1"/>
              <a:t>RDatasets.jl</a:t>
            </a:r>
            <a:r>
              <a:rPr lang="en-US" dirty="0"/>
              <a:t> package, enabling users to perform regression analysis in Julia using a dataset familiar from R. This dataset provides measurements of the diameter, height, and volume of timber in 31 felled black cherry trees. Note that the diameter (in inches) is erroneously labeled Girth in the data. Suppose we aim to predict the Volume of the timber using the tree diameter. Therefore, we consider the following statistical model</a:t>
            </a:r>
            <a:endParaRPr lang="en-IN" b="1" dirty="0"/>
          </a:p>
        </p:txBody>
      </p:sp>
      <p:sp>
        <p:nvSpPr>
          <p:cNvPr id="13" name="TextBox 12">
            <a:extLst>
              <a:ext uri="{FF2B5EF4-FFF2-40B4-BE49-F238E27FC236}">
                <a16:creationId xmlns:a16="http://schemas.microsoft.com/office/drawing/2014/main" id="{72CFD718-594D-6C06-FA6B-FEE4EAD945AC}"/>
              </a:ext>
            </a:extLst>
          </p:cNvPr>
          <p:cNvSpPr txBox="1"/>
          <p:nvPr/>
        </p:nvSpPr>
        <p:spPr>
          <a:xfrm>
            <a:off x="7815050" y="2410477"/>
            <a:ext cx="1591099" cy="400110"/>
          </a:xfrm>
          <a:prstGeom prst="rect">
            <a:avLst/>
          </a:prstGeom>
          <a:noFill/>
        </p:spPr>
        <p:txBody>
          <a:bodyPr wrap="square" rtlCol="0">
            <a:spAutoFit/>
          </a:bodyPr>
          <a:lstStyle/>
          <a:p>
            <a:pPr algn="ctr"/>
            <a:r>
              <a:rPr lang="en-US" sz="2000" b="1" dirty="0">
                <a:solidFill>
                  <a:srgbClr val="7030A0"/>
                </a:solidFill>
              </a:rPr>
              <a:t> </a:t>
            </a:r>
            <a:endParaRPr lang="en-IN" sz="2000" b="1" dirty="0">
              <a:solidFill>
                <a:srgbClr val="7030A0"/>
              </a:solidFill>
            </a:endParaRPr>
          </a:p>
        </p:txBody>
      </p:sp>
      <p:sp>
        <p:nvSpPr>
          <p:cNvPr id="16" name="AutoShape 2" descr="[20+] High Quality R Logo Png Hd">
            <a:extLst>
              <a:ext uri="{FF2B5EF4-FFF2-40B4-BE49-F238E27FC236}">
                <a16:creationId xmlns:a16="http://schemas.microsoft.com/office/drawing/2014/main" id="{FF7FEB00-F0E1-A624-9A40-AEB58B20537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5" name="Google Shape;90;p1">
            <a:extLst>
              <a:ext uri="{FF2B5EF4-FFF2-40B4-BE49-F238E27FC236}">
                <a16:creationId xmlns:a16="http://schemas.microsoft.com/office/drawing/2014/main" id="{FBA98E60-4B14-E2D6-B11F-F753A544EA88}"/>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801D90A-25A1-2B4C-CF36-A32705D89F71}"/>
                  </a:ext>
                </a:extLst>
              </p:cNvPr>
              <p:cNvSpPr txBox="1"/>
              <p:nvPr/>
            </p:nvSpPr>
            <p:spPr>
              <a:xfrm>
                <a:off x="4246536" y="3304401"/>
                <a:ext cx="28685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𝑉𝑜𝑙𝑢𝑚𝑒</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𝐺𝑖𝑟𝑡</m:t>
                      </m:r>
                      <m:r>
                        <a:rPr lang="en-US" b="0" i="1" smtClean="0">
                          <a:latin typeface="Cambria Math" panose="02040503050406030204" pitchFamily="18" charset="0"/>
                        </a:rPr>
                        <m:t>h</m:t>
                      </m:r>
                      <m:r>
                        <a:rPr lang="en-US" b="0" i="1" smtClean="0">
                          <a:latin typeface="Cambria Math" panose="02040503050406030204" pitchFamily="18" charset="0"/>
                        </a:rPr>
                        <m:t> +</m:t>
                      </m:r>
                      <m:r>
                        <a:rPr lang="en-US" b="0" i="1" smtClean="0">
                          <a:latin typeface="Cambria Math" panose="02040503050406030204" pitchFamily="18" charset="0"/>
                        </a:rPr>
                        <m:t>𝜖</m:t>
                      </m:r>
                    </m:oMath>
                  </m:oMathPara>
                </a14:m>
                <a:endParaRPr lang="en-IN" dirty="0"/>
              </a:p>
            </p:txBody>
          </p:sp>
        </mc:Choice>
        <mc:Fallback xmlns="">
          <p:sp>
            <p:nvSpPr>
              <p:cNvPr id="7" name="TextBox 6">
                <a:extLst>
                  <a:ext uri="{FF2B5EF4-FFF2-40B4-BE49-F238E27FC236}">
                    <a16:creationId xmlns:a16="http://schemas.microsoft.com/office/drawing/2014/main" id="{A801D90A-25A1-2B4C-CF36-A32705D89F71}"/>
                  </a:ext>
                </a:extLst>
              </p:cNvPr>
              <p:cNvSpPr txBox="1">
                <a:spLocks noRot="1" noChangeAspect="1" noMove="1" noResize="1" noEditPoints="1" noAdjustHandles="1" noChangeArrowheads="1" noChangeShapeType="1" noTextEdit="1"/>
              </p:cNvSpPr>
              <p:nvPr/>
            </p:nvSpPr>
            <p:spPr>
              <a:xfrm>
                <a:off x="4246536" y="3304401"/>
                <a:ext cx="2868541" cy="276999"/>
              </a:xfrm>
              <a:prstGeom prst="rect">
                <a:avLst/>
              </a:prstGeom>
              <a:blipFill>
                <a:blip r:embed="rId4"/>
                <a:stretch>
                  <a:fillRect l="-1702" t="-2174" r="-638" b="-3260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159CE06-DC18-B7C0-3DEF-848C386D3DA9}"/>
                  </a:ext>
                </a:extLst>
              </p:cNvPr>
              <p:cNvSpPr txBox="1"/>
              <p:nvPr/>
            </p:nvSpPr>
            <p:spPr>
              <a:xfrm>
                <a:off x="272954" y="4010085"/>
                <a:ext cx="11304280" cy="1709507"/>
              </a:xfrm>
              <a:prstGeom prst="rect">
                <a:avLst/>
              </a:prstGeom>
              <a:noFill/>
            </p:spPr>
            <p:txBody>
              <a:bodyPr wrap="square">
                <a:spAutoFit/>
              </a:bodyPr>
              <a:lstStyle/>
              <a:p>
                <a:pPr algn="just">
                  <a:lnSpc>
                    <a:spcPct val="150000"/>
                  </a:lnSpc>
                </a:pPr>
                <a:r>
                  <a:rPr lang="en-US" dirty="0"/>
                  <a:t>In the above expression, Volume is the response variable, and Girth is the predictor variable.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0</m:t>
                        </m:r>
                      </m:sub>
                    </m:sSub>
                  </m:oMath>
                </a14:m>
                <a:r>
                  <a:rPr lang="en-US" dirty="0"/>
                  <a:t> and</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𝛽</m:t>
                        </m:r>
                      </m:e>
                      <m:sub>
                        <m:r>
                          <a:rPr lang="en-US" b="0" i="1" smtClean="0">
                            <a:latin typeface="Cambria Math" panose="02040503050406030204" pitchFamily="18" charset="0"/>
                          </a:rPr>
                          <m:t>1</m:t>
                        </m:r>
                      </m:sub>
                    </m:sSub>
                  </m:oMath>
                </a14:m>
                <a:r>
                  <a:rPr lang="en-US" dirty="0"/>
                  <a:t> are the intercept and slope parameters of the population regression  line, respectively. The </a:t>
                </a:r>
                <a14:m>
                  <m:oMath xmlns:m="http://schemas.openxmlformats.org/officeDocument/2006/math">
                    <m:r>
                      <a:rPr lang="en-US" b="0" i="1" smtClean="0">
                        <a:latin typeface="Cambria Math" panose="02040503050406030204" pitchFamily="18" charset="0"/>
                      </a:rPr>
                      <m:t>𝜖</m:t>
                    </m:r>
                  </m:oMath>
                </a14:m>
                <a:r>
                  <a:rPr lang="en-US" dirty="0"/>
                  <a:t> represents the random component that cannot be explained through the linear relationship between the response and predictor. We also assume that </a:t>
                </a:r>
                <a14:m>
                  <m:oMath xmlns:m="http://schemas.openxmlformats.org/officeDocument/2006/math">
                    <m:r>
                      <a:rPr lang="en-US" b="0" i="1" smtClean="0">
                        <a:latin typeface="Cambria Math" panose="02040503050406030204" pitchFamily="18" charset="0"/>
                      </a:rPr>
                      <m:t>𝜖</m:t>
                    </m:r>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en-IN" dirty="0"/>
              </a:p>
            </p:txBody>
          </p:sp>
        </mc:Choice>
        <mc:Fallback xmlns="">
          <p:sp>
            <p:nvSpPr>
              <p:cNvPr id="11" name="TextBox 10">
                <a:extLst>
                  <a:ext uri="{FF2B5EF4-FFF2-40B4-BE49-F238E27FC236}">
                    <a16:creationId xmlns:a16="http://schemas.microsoft.com/office/drawing/2014/main" id="{E159CE06-DC18-B7C0-3DEF-848C386D3DA9}"/>
                  </a:ext>
                </a:extLst>
              </p:cNvPr>
              <p:cNvSpPr txBox="1">
                <a:spLocks noRot="1" noChangeAspect="1" noMove="1" noResize="1" noEditPoints="1" noAdjustHandles="1" noChangeArrowheads="1" noChangeShapeType="1" noTextEdit="1"/>
              </p:cNvSpPr>
              <p:nvPr/>
            </p:nvSpPr>
            <p:spPr>
              <a:xfrm>
                <a:off x="272954" y="4010085"/>
                <a:ext cx="11304280" cy="1709507"/>
              </a:xfrm>
              <a:prstGeom prst="rect">
                <a:avLst/>
              </a:prstGeom>
              <a:blipFill>
                <a:blip r:embed="rId5"/>
                <a:stretch>
                  <a:fillRect l="-485" r="-431" b="-5000"/>
                </a:stretch>
              </a:blipFill>
            </p:spPr>
            <p:txBody>
              <a:bodyPr/>
              <a:lstStyle/>
              <a:p>
                <a:r>
                  <a:rPr lang="en-IN">
                    <a:noFill/>
                  </a:rPr>
                  <a:t> </a:t>
                </a:r>
              </a:p>
            </p:txBody>
          </p:sp>
        </mc:Fallback>
      </mc:AlternateContent>
    </p:spTree>
    <p:extLst>
      <p:ext uri="{BB962C8B-B14F-4D97-AF65-F5344CB8AC3E}">
        <p14:creationId xmlns:p14="http://schemas.microsoft.com/office/powerpoint/2010/main" val="2412116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1019D-1D7E-7B90-650C-72E561DF2C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2E8022-6FBA-CD3C-9571-3740C9F38DE7}"/>
              </a:ext>
            </a:extLst>
          </p:cNvPr>
          <p:cNvSpPr>
            <a:spLocks noGrp="1"/>
          </p:cNvSpPr>
          <p:nvPr>
            <p:ph type="sldNum" sz="quarter" idx="12"/>
          </p:nvPr>
        </p:nvSpPr>
        <p:spPr/>
        <p:txBody>
          <a:bodyPr/>
          <a:lstStyle/>
          <a:p>
            <a:fld id="{8EC77227-B7F4-4800-97BE-1DE2687871B5}" type="slidenum">
              <a:rPr lang="en-IN" smtClean="0"/>
              <a:t>36</a:t>
            </a:fld>
            <a:endParaRPr lang="en-IN" dirty="0"/>
          </a:p>
        </p:txBody>
      </p:sp>
      <p:sp>
        <p:nvSpPr>
          <p:cNvPr id="6" name="TextBox 5">
            <a:extLst>
              <a:ext uri="{FF2B5EF4-FFF2-40B4-BE49-F238E27FC236}">
                <a16:creationId xmlns:a16="http://schemas.microsoft.com/office/drawing/2014/main" id="{D62563A0-E4BC-6246-F51E-94055D195729}"/>
              </a:ext>
            </a:extLst>
          </p:cNvPr>
          <p:cNvSpPr txBox="1"/>
          <p:nvPr/>
        </p:nvSpPr>
        <p:spPr>
          <a:xfrm>
            <a:off x="272954" y="138920"/>
            <a:ext cx="3617121"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Simple Linear Regression</a:t>
            </a:r>
            <a:endParaRPr lang="en-IN" sz="2400" b="1" dirty="0">
              <a:solidFill>
                <a:srgbClr val="FF0000"/>
              </a:solidFill>
            </a:endParaRPr>
          </a:p>
        </p:txBody>
      </p:sp>
      <p:sp>
        <p:nvSpPr>
          <p:cNvPr id="13" name="TextBox 12">
            <a:extLst>
              <a:ext uri="{FF2B5EF4-FFF2-40B4-BE49-F238E27FC236}">
                <a16:creationId xmlns:a16="http://schemas.microsoft.com/office/drawing/2014/main" id="{310AFB82-562E-6490-F828-8C47A6F644E1}"/>
              </a:ext>
            </a:extLst>
          </p:cNvPr>
          <p:cNvSpPr txBox="1"/>
          <p:nvPr/>
        </p:nvSpPr>
        <p:spPr>
          <a:xfrm>
            <a:off x="7815050" y="2410477"/>
            <a:ext cx="1591099" cy="400110"/>
          </a:xfrm>
          <a:prstGeom prst="rect">
            <a:avLst/>
          </a:prstGeom>
          <a:noFill/>
        </p:spPr>
        <p:txBody>
          <a:bodyPr wrap="square" rtlCol="0">
            <a:spAutoFit/>
          </a:bodyPr>
          <a:lstStyle/>
          <a:p>
            <a:pPr algn="ctr"/>
            <a:r>
              <a:rPr lang="en-US" sz="2000" b="1" dirty="0">
                <a:solidFill>
                  <a:srgbClr val="7030A0"/>
                </a:solidFill>
              </a:rPr>
              <a:t> </a:t>
            </a:r>
            <a:endParaRPr lang="en-IN" sz="2000" b="1" dirty="0">
              <a:solidFill>
                <a:srgbClr val="7030A0"/>
              </a:solidFill>
            </a:endParaRPr>
          </a:p>
        </p:txBody>
      </p:sp>
      <p:sp>
        <p:nvSpPr>
          <p:cNvPr id="16" name="AutoShape 2" descr="[20+] High Quality R Logo Png Hd">
            <a:extLst>
              <a:ext uri="{FF2B5EF4-FFF2-40B4-BE49-F238E27FC236}">
                <a16:creationId xmlns:a16="http://schemas.microsoft.com/office/drawing/2014/main" id="{33A59F69-6624-213E-CCB7-676EBCFD7A8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5" name="Google Shape;90;p1">
            <a:extLst>
              <a:ext uri="{FF2B5EF4-FFF2-40B4-BE49-F238E27FC236}">
                <a16:creationId xmlns:a16="http://schemas.microsoft.com/office/drawing/2014/main" id="{C17B5F0C-61A1-3388-96AD-1B5758C58627}"/>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pic>
        <p:nvPicPr>
          <p:cNvPr id="14" name="Picture 13">
            <a:extLst>
              <a:ext uri="{FF2B5EF4-FFF2-40B4-BE49-F238E27FC236}">
                <a16:creationId xmlns:a16="http://schemas.microsoft.com/office/drawing/2014/main" id="{A372FA60-F4D4-A707-7FEA-C213358B8B45}"/>
              </a:ext>
            </a:extLst>
          </p:cNvPr>
          <p:cNvPicPr>
            <a:picLocks noChangeAspect="1"/>
          </p:cNvPicPr>
          <p:nvPr/>
        </p:nvPicPr>
        <p:blipFill>
          <a:blip r:embed="rId4"/>
          <a:stretch>
            <a:fillRect/>
          </a:stretch>
        </p:blipFill>
        <p:spPr>
          <a:xfrm>
            <a:off x="327355" y="4496745"/>
            <a:ext cx="9450119" cy="2372056"/>
          </a:xfrm>
          <a:prstGeom prst="rect">
            <a:avLst/>
          </a:prstGeom>
        </p:spPr>
      </p:pic>
      <p:pic>
        <p:nvPicPr>
          <p:cNvPr id="17" name="Picture 16">
            <a:extLst>
              <a:ext uri="{FF2B5EF4-FFF2-40B4-BE49-F238E27FC236}">
                <a16:creationId xmlns:a16="http://schemas.microsoft.com/office/drawing/2014/main" id="{9F0E2676-94ED-A57A-EFD2-EC92B4CD02AA}"/>
              </a:ext>
            </a:extLst>
          </p:cNvPr>
          <p:cNvPicPr>
            <a:picLocks noChangeAspect="1"/>
          </p:cNvPicPr>
          <p:nvPr/>
        </p:nvPicPr>
        <p:blipFill>
          <a:blip r:embed="rId5"/>
          <a:stretch>
            <a:fillRect/>
          </a:stretch>
        </p:blipFill>
        <p:spPr>
          <a:xfrm>
            <a:off x="327355" y="724319"/>
            <a:ext cx="7487695" cy="3772426"/>
          </a:xfrm>
          <a:prstGeom prst="rect">
            <a:avLst/>
          </a:prstGeom>
        </p:spPr>
      </p:pic>
      <p:pic>
        <p:nvPicPr>
          <p:cNvPr id="19" name="Picture 18">
            <a:extLst>
              <a:ext uri="{FF2B5EF4-FFF2-40B4-BE49-F238E27FC236}">
                <a16:creationId xmlns:a16="http://schemas.microsoft.com/office/drawing/2014/main" id="{1808DE01-5A0A-72EF-CA9E-337FC1C4D8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13083" y="1564985"/>
            <a:ext cx="4338234" cy="2892156"/>
          </a:xfrm>
          <a:prstGeom prst="rect">
            <a:avLst/>
          </a:prstGeom>
        </p:spPr>
      </p:pic>
    </p:spTree>
    <p:extLst>
      <p:ext uri="{BB962C8B-B14F-4D97-AF65-F5344CB8AC3E}">
        <p14:creationId xmlns:p14="http://schemas.microsoft.com/office/powerpoint/2010/main" val="9922260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DC660-EB1C-18E6-08CB-CACB40CD4B8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D70AA42-E115-DDBD-A9FA-DE7C8E556B8E}"/>
              </a:ext>
            </a:extLst>
          </p:cNvPr>
          <p:cNvSpPr txBox="1"/>
          <p:nvPr/>
        </p:nvSpPr>
        <p:spPr>
          <a:xfrm>
            <a:off x="256783" y="138920"/>
            <a:ext cx="200529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 Conclusion</a:t>
            </a:r>
            <a:endParaRPr lang="en-IN" sz="2400" b="1" dirty="0">
              <a:solidFill>
                <a:srgbClr val="FF0000"/>
              </a:solidFill>
            </a:endParaRPr>
          </a:p>
        </p:txBody>
      </p:sp>
      <p:sp>
        <p:nvSpPr>
          <p:cNvPr id="13" name="TextBox 12">
            <a:extLst>
              <a:ext uri="{FF2B5EF4-FFF2-40B4-BE49-F238E27FC236}">
                <a16:creationId xmlns:a16="http://schemas.microsoft.com/office/drawing/2014/main" id="{6904EF16-B30D-11E9-4C8C-6E069742318D}"/>
              </a:ext>
            </a:extLst>
          </p:cNvPr>
          <p:cNvSpPr txBox="1"/>
          <p:nvPr/>
        </p:nvSpPr>
        <p:spPr>
          <a:xfrm>
            <a:off x="7815050" y="2410477"/>
            <a:ext cx="1591099" cy="400110"/>
          </a:xfrm>
          <a:prstGeom prst="rect">
            <a:avLst/>
          </a:prstGeom>
          <a:noFill/>
        </p:spPr>
        <p:txBody>
          <a:bodyPr wrap="square" rtlCol="0">
            <a:spAutoFit/>
          </a:bodyPr>
          <a:lstStyle/>
          <a:p>
            <a:pPr algn="ctr"/>
            <a:r>
              <a:rPr lang="en-US" sz="2000" b="1" dirty="0">
                <a:solidFill>
                  <a:srgbClr val="7030A0"/>
                </a:solidFill>
              </a:rPr>
              <a:t> </a:t>
            </a:r>
            <a:endParaRPr lang="en-IN" sz="2000" b="1" dirty="0">
              <a:solidFill>
                <a:srgbClr val="7030A0"/>
              </a:solidFill>
            </a:endParaRPr>
          </a:p>
        </p:txBody>
      </p:sp>
      <p:pic>
        <p:nvPicPr>
          <p:cNvPr id="5" name="Google Shape;90;p1">
            <a:extLst>
              <a:ext uri="{FF2B5EF4-FFF2-40B4-BE49-F238E27FC236}">
                <a16:creationId xmlns:a16="http://schemas.microsoft.com/office/drawing/2014/main" id="{98433440-113E-DE50-3C8F-B30D65BF9976}"/>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10" name="TextBox 9">
            <a:extLst>
              <a:ext uri="{FF2B5EF4-FFF2-40B4-BE49-F238E27FC236}">
                <a16:creationId xmlns:a16="http://schemas.microsoft.com/office/drawing/2014/main" id="{285E76E3-4D50-89AD-7B90-957B59C7A7AD}"/>
              </a:ext>
            </a:extLst>
          </p:cNvPr>
          <p:cNvSpPr txBox="1"/>
          <p:nvPr/>
        </p:nvSpPr>
        <p:spPr>
          <a:xfrm>
            <a:off x="272954" y="1001116"/>
            <a:ext cx="6238066" cy="400110"/>
          </a:xfrm>
          <a:prstGeom prst="rect">
            <a:avLst/>
          </a:prstGeom>
          <a:noFill/>
        </p:spPr>
        <p:txBody>
          <a:bodyPr wrap="square">
            <a:spAutoFit/>
          </a:bodyPr>
          <a:lstStyle/>
          <a:p>
            <a:r>
              <a:rPr lang="en-US" sz="2000" b="1" dirty="0">
                <a:solidFill>
                  <a:schemeClr val="accent6">
                    <a:lumMod val="50000"/>
                  </a:schemeClr>
                </a:solidFill>
              </a:rPr>
              <a:t> </a:t>
            </a:r>
            <a:endParaRPr lang="en-IN" sz="2000" b="1" dirty="0">
              <a:solidFill>
                <a:schemeClr val="accent6">
                  <a:lumMod val="50000"/>
                </a:schemeClr>
              </a:solidFill>
            </a:endParaRPr>
          </a:p>
        </p:txBody>
      </p:sp>
      <p:sp>
        <p:nvSpPr>
          <p:cNvPr id="7" name="Slide Number Placeholder 6">
            <a:extLst>
              <a:ext uri="{FF2B5EF4-FFF2-40B4-BE49-F238E27FC236}">
                <a16:creationId xmlns:a16="http://schemas.microsoft.com/office/drawing/2014/main" id="{AD116CD3-99B1-4E3B-688A-331D5692BF26}"/>
              </a:ext>
            </a:extLst>
          </p:cNvPr>
          <p:cNvSpPr>
            <a:spLocks noGrp="1"/>
          </p:cNvSpPr>
          <p:nvPr>
            <p:ph type="sldNum" sz="quarter" idx="12"/>
          </p:nvPr>
        </p:nvSpPr>
        <p:spPr/>
        <p:txBody>
          <a:bodyPr/>
          <a:lstStyle/>
          <a:p>
            <a:fld id="{8EC77227-B7F4-4800-97BE-1DE2687871B5}" type="slidenum">
              <a:rPr lang="en-IN" smtClean="0"/>
              <a:t>37</a:t>
            </a:fld>
            <a:endParaRPr lang="en-IN" dirty="0"/>
          </a:p>
        </p:txBody>
      </p:sp>
      <p:sp>
        <p:nvSpPr>
          <p:cNvPr id="9" name="TextBox 8">
            <a:extLst>
              <a:ext uri="{FF2B5EF4-FFF2-40B4-BE49-F238E27FC236}">
                <a16:creationId xmlns:a16="http://schemas.microsoft.com/office/drawing/2014/main" id="{49117286-A551-64FE-11C6-CC01B53BFD20}"/>
              </a:ext>
            </a:extLst>
          </p:cNvPr>
          <p:cNvSpPr txBox="1"/>
          <p:nvPr/>
        </p:nvSpPr>
        <p:spPr>
          <a:xfrm>
            <a:off x="256783" y="963846"/>
            <a:ext cx="11441623" cy="420435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effectLst/>
              </a:rPr>
              <a:t>Julia has emerged as a </a:t>
            </a:r>
            <a:r>
              <a:rPr lang="en-US" b="1" dirty="0">
                <a:solidFill>
                  <a:srgbClr val="C00000"/>
                </a:solidFill>
                <a:effectLst/>
              </a:rPr>
              <a:t>powerful scientific computing </a:t>
            </a:r>
            <a:r>
              <a:rPr lang="en-US" dirty="0">
                <a:effectLst/>
              </a:rPr>
              <a:t>language, effectively combining high-level expressiveness with performance comparable to low-level programming languages.</a:t>
            </a:r>
            <a:endParaRPr lang="en-US" dirty="0"/>
          </a:p>
          <a:p>
            <a:pPr marL="285750" indent="-285750" algn="just">
              <a:lnSpc>
                <a:spcPct val="150000"/>
              </a:lnSpc>
              <a:buFont typeface="Arial" panose="020B0604020202020204" pitchFamily="34" charset="0"/>
              <a:buChar char="•"/>
            </a:pPr>
            <a:r>
              <a:rPr lang="en-US" dirty="0">
                <a:effectLst/>
              </a:rPr>
              <a:t>Its unified programming environment allows researchers to develop, test, and deploy computational models efficiently without switching between multiple languages.</a:t>
            </a:r>
            <a:endParaRPr lang="en-US" dirty="0"/>
          </a:p>
          <a:p>
            <a:pPr marL="285750" indent="-285750" algn="just">
              <a:lnSpc>
                <a:spcPct val="150000"/>
              </a:lnSpc>
              <a:buFont typeface="Arial" panose="020B0604020202020204" pitchFamily="34" charset="0"/>
              <a:buChar char="•"/>
            </a:pPr>
            <a:r>
              <a:rPr lang="en-US" dirty="0">
                <a:effectLst/>
              </a:rPr>
              <a:t>Support for abstraction, metaprogramming, and a growing </a:t>
            </a:r>
            <a:r>
              <a:rPr lang="en-US" b="1" dirty="0">
                <a:solidFill>
                  <a:srgbClr val="C00000"/>
                </a:solidFill>
                <a:effectLst/>
              </a:rPr>
              <a:t>scientific ecosystem</a:t>
            </a:r>
            <a:r>
              <a:rPr lang="en-US" dirty="0">
                <a:effectLst/>
              </a:rPr>
              <a:t> enables applications in simulation, optimization, machine learning, and data-intensive research.</a:t>
            </a:r>
            <a:endParaRPr lang="en-US" dirty="0"/>
          </a:p>
          <a:p>
            <a:pPr marL="285750" indent="-285750" algn="just">
              <a:lnSpc>
                <a:spcPct val="150000"/>
              </a:lnSpc>
              <a:buFont typeface="Arial" panose="020B0604020202020204" pitchFamily="34" charset="0"/>
              <a:buChar char="•"/>
            </a:pPr>
            <a:r>
              <a:rPr lang="en-US" dirty="0">
                <a:effectLst/>
              </a:rPr>
              <a:t>Interoperability with Python, R, C, and Fortran ensures seamless integration with existing workflows and facilitates adoption within established scientific communities.</a:t>
            </a:r>
            <a:endParaRPr lang="en-US" dirty="0"/>
          </a:p>
          <a:p>
            <a:pPr marL="285750" indent="-285750" algn="just">
              <a:lnSpc>
                <a:spcPct val="150000"/>
              </a:lnSpc>
              <a:buFont typeface="Arial" panose="020B0604020202020204" pitchFamily="34" charset="0"/>
              <a:buChar char="•"/>
            </a:pPr>
            <a:r>
              <a:rPr lang="en-US" dirty="0">
                <a:effectLst/>
              </a:rPr>
              <a:t>While </a:t>
            </a:r>
            <a:r>
              <a:rPr lang="en-US" b="1" dirty="0">
                <a:solidFill>
                  <a:srgbClr val="C00000"/>
                </a:solidFill>
                <a:effectLst/>
              </a:rPr>
              <a:t>standardized documentation</a:t>
            </a:r>
            <a:r>
              <a:rPr lang="en-US" dirty="0">
                <a:effectLst/>
              </a:rPr>
              <a:t> remains limited, ongoing development and strong community support position Julia as a key platform for </a:t>
            </a:r>
            <a:r>
              <a:rPr lang="en-US" b="1" dirty="0">
                <a:solidFill>
                  <a:srgbClr val="C00000"/>
                </a:solidFill>
                <a:effectLst/>
              </a:rPr>
              <a:t>modern scientific computing, statistical computing &amp; data science</a:t>
            </a:r>
            <a:r>
              <a:rPr lang="en-US" dirty="0">
                <a:effectLst/>
              </a:rPr>
              <a:t>.</a:t>
            </a:r>
            <a:endParaRPr lang="en-US" dirty="0"/>
          </a:p>
        </p:txBody>
      </p:sp>
    </p:spTree>
    <p:extLst>
      <p:ext uri="{BB962C8B-B14F-4D97-AF65-F5344CB8AC3E}">
        <p14:creationId xmlns:p14="http://schemas.microsoft.com/office/powerpoint/2010/main" val="28274489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C25A0-7FE4-FD7C-472E-DE0BE283E08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42D2C91-6B8A-290A-8ACD-290A16F85746}"/>
              </a:ext>
            </a:extLst>
          </p:cNvPr>
          <p:cNvSpPr txBox="1"/>
          <p:nvPr/>
        </p:nvSpPr>
        <p:spPr>
          <a:xfrm>
            <a:off x="256783" y="138920"/>
            <a:ext cx="2687895"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Acknowledgement</a:t>
            </a:r>
            <a:endParaRPr lang="en-IN" sz="2400" b="1" dirty="0">
              <a:solidFill>
                <a:srgbClr val="FF0000"/>
              </a:solidFill>
            </a:endParaRPr>
          </a:p>
        </p:txBody>
      </p:sp>
      <p:sp>
        <p:nvSpPr>
          <p:cNvPr id="13" name="TextBox 12">
            <a:extLst>
              <a:ext uri="{FF2B5EF4-FFF2-40B4-BE49-F238E27FC236}">
                <a16:creationId xmlns:a16="http://schemas.microsoft.com/office/drawing/2014/main" id="{50A27CA7-1DB4-F0B7-B27B-304277EC613E}"/>
              </a:ext>
            </a:extLst>
          </p:cNvPr>
          <p:cNvSpPr txBox="1"/>
          <p:nvPr/>
        </p:nvSpPr>
        <p:spPr>
          <a:xfrm>
            <a:off x="7815050" y="2410477"/>
            <a:ext cx="1591099" cy="400110"/>
          </a:xfrm>
          <a:prstGeom prst="rect">
            <a:avLst/>
          </a:prstGeom>
          <a:noFill/>
        </p:spPr>
        <p:txBody>
          <a:bodyPr wrap="square" rtlCol="0">
            <a:spAutoFit/>
          </a:bodyPr>
          <a:lstStyle/>
          <a:p>
            <a:pPr algn="ctr"/>
            <a:r>
              <a:rPr lang="en-US" sz="2000" b="1" dirty="0">
                <a:solidFill>
                  <a:srgbClr val="7030A0"/>
                </a:solidFill>
              </a:rPr>
              <a:t> </a:t>
            </a:r>
            <a:endParaRPr lang="en-IN" sz="2000" b="1" dirty="0">
              <a:solidFill>
                <a:srgbClr val="7030A0"/>
              </a:solidFill>
            </a:endParaRPr>
          </a:p>
        </p:txBody>
      </p:sp>
      <p:pic>
        <p:nvPicPr>
          <p:cNvPr id="5" name="Google Shape;90;p1">
            <a:extLst>
              <a:ext uri="{FF2B5EF4-FFF2-40B4-BE49-F238E27FC236}">
                <a16:creationId xmlns:a16="http://schemas.microsoft.com/office/drawing/2014/main" id="{81E7E64C-82B7-0617-040C-A6157998C04B}"/>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7" name="Slide Number Placeholder 6">
            <a:extLst>
              <a:ext uri="{FF2B5EF4-FFF2-40B4-BE49-F238E27FC236}">
                <a16:creationId xmlns:a16="http://schemas.microsoft.com/office/drawing/2014/main" id="{C0B121EC-8001-7D92-D61E-1F20C8B04756}"/>
              </a:ext>
            </a:extLst>
          </p:cNvPr>
          <p:cNvSpPr>
            <a:spLocks noGrp="1"/>
          </p:cNvSpPr>
          <p:nvPr>
            <p:ph type="sldNum" sz="quarter" idx="12"/>
          </p:nvPr>
        </p:nvSpPr>
        <p:spPr/>
        <p:txBody>
          <a:bodyPr/>
          <a:lstStyle/>
          <a:p>
            <a:fld id="{8EC77227-B7F4-4800-97BE-1DE2687871B5}" type="slidenum">
              <a:rPr lang="en-IN" smtClean="0"/>
              <a:t>38</a:t>
            </a:fld>
            <a:endParaRPr lang="en-IN" dirty="0"/>
          </a:p>
        </p:txBody>
      </p:sp>
      <p:sp>
        <p:nvSpPr>
          <p:cNvPr id="11" name="TextBox 10">
            <a:extLst>
              <a:ext uri="{FF2B5EF4-FFF2-40B4-BE49-F238E27FC236}">
                <a16:creationId xmlns:a16="http://schemas.microsoft.com/office/drawing/2014/main" id="{4F7FCEA7-8AAA-4C6A-A634-E0327C9DE302}"/>
              </a:ext>
            </a:extLst>
          </p:cNvPr>
          <p:cNvSpPr txBox="1"/>
          <p:nvPr/>
        </p:nvSpPr>
        <p:spPr>
          <a:xfrm>
            <a:off x="256783" y="1201171"/>
            <a:ext cx="11204812" cy="2814617"/>
          </a:xfrm>
          <a:prstGeom prst="rect">
            <a:avLst/>
          </a:prstGeom>
          <a:noFill/>
        </p:spPr>
        <p:txBody>
          <a:bodyPr wrap="square">
            <a:spAutoFit/>
          </a:bodyPr>
          <a:lstStyle/>
          <a:p>
            <a:pPr algn="just">
              <a:lnSpc>
                <a:spcPct val="150000"/>
              </a:lnSpc>
            </a:pPr>
            <a:r>
              <a:rPr lang="en-US" sz="2000" dirty="0"/>
              <a:t>I express my sincere gratitude to </a:t>
            </a:r>
            <a:r>
              <a:rPr lang="en-US" sz="2000" b="1" dirty="0"/>
              <a:t>Dr. Amiya Ranjan Bhowmick (Department of Mathematics, ICT Mumbai)</a:t>
            </a:r>
            <a:r>
              <a:rPr lang="en-US" sz="2000" dirty="0"/>
              <a:t> for his invaluable mentorship and guidance. I consider myself truly fortunate to have been receiving his guidance for the past three years.</a:t>
            </a:r>
            <a:endParaRPr lang="en-IN" sz="2000" dirty="0"/>
          </a:p>
          <a:p>
            <a:pPr algn="just">
              <a:lnSpc>
                <a:spcPct val="150000"/>
              </a:lnSpc>
            </a:pPr>
            <a:r>
              <a:rPr lang="en-IN" sz="2000" dirty="0">
                <a:effectLst/>
              </a:rPr>
              <a:t>Special thanks to </a:t>
            </a:r>
            <a:r>
              <a:rPr lang="en-IN" sz="2000" b="1" dirty="0">
                <a:effectLst/>
              </a:rPr>
              <a:t>Dr. Ajit Kumar (Department of Mathematics, ICT Mumbai)</a:t>
            </a:r>
            <a:r>
              <a:rPr lang="en-IN" sz="2000" dirty="0">
                <a:effectLst/>
              </a:rPr>
              <a:t>, </a:t>
            </a:r>
            <a:r>
              <a:rPr lang="en-IN" sz="2000" b="1" dirty="0">
                <a:effectLst/>
              </a:rPr>
              <a:t>Dr. Md Aktar UL Karim (Symbiosis Statistical Institute, Pune)</a:t>
            </a:r>
            <a:r>
              <a:rPr lang="en-IN" sz="2000" dirty="0">
                <a:effectLst/>
              </a:rPr>
              <a:t>, </a:t>
            </a:r>
            <a:r>
              <a:rPr lang="en-IN" sz="2000" b="1" dirty="0">
                <a:effectLst/>
              </a:rPr>
              <a:t>Dr. Dipali Vasudev </a:t>
            </a:r>
            <a:r>
              <a:rPr lang="en-IN" sz="2000" b="1" dirty="0" err="1">
                <a:effectLst/>
              </a:rPr>
              <a:t>Mestry</a:t>
            </a:r>
            <a:r>
              <a:rPr lang="en-IN" sz="2000" b="1" dirty="0"/>
              <a:t> (Department of Mathematics, ICT Mumbai)</a:t>
            </a:r>
            <a:r>
              <a:rPr lang="en-IN" sz="2000" dirty="0"/>
              <a:t>, </a:t>
            </a:r>
            <a:r>
              <a:rPr lang="en-IN" sz="2000" dirty="0">
                <a:effectLst/>
              </a:rPr>
              <a:t>and </a:t>
            </a:r>
            <a:r>
              <a:rPr lang="en-IN" sz="2000" b="1" dirty="0">
                <a:effectLst/>
              </a:rPr>
              <a:t>Dr. Dipak D. Pukale (University of Akron, USA)</a:t>
            </a:r>
            <a:r>
              <a:rPr lang="en-IN" sz="2000" dirty="0">
                <a:effectLst/>
              </a:rPr>
              <a:t> for their encouragement and motivation.</a:t>
            </a:r>
            <a:endParaRPr lang="en-IN" sz="2000" dirty="0"/>
          </a:p>
        </p:txBody>
      </p:sp>
    </p:spTree>
    <p:extLst>
      <p:ext uri="{BB962C8B-B14F-4D97-AF65-F5344CB8AC3E}">
        <p14:creationId xmlns:p14="http://schemas.microsoft.com/office/powerpoint/2010/main" val="33623203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D0487-CA50-7A0A-615B-8A8FED16F9A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83F9D04-7D15-CEE5-2698-3697782872C5}"/>
              </a:ext>
            </a:extLst>
          </p:cNvPr>
          <p:cNvSpPr txBox="1"/>
          <p:nvPr/>
        </p:nvSpPr>
        <p:spPr>
          <a:xfrm>
            <a:off x="256783" y="138920"/>
            <a:ext cx="2005299" cy="461665"/>
          </a:xfrm>
          <a:prstGeom prst="rect">
            <a:avLst/>
          </a:prstGeom>
          <a:noFill/>
          <a:effectLst>
            <a:outerShdw blurRad="50800" dist="38100" dir="5400000" algn="t" rotWithShape="0">
              <a:prstClr val="black">
                <a:alpha val="40000"/>
              </a:prstClr>
            </a:outerShdw>
          </a:effectLst>
        </p:spPr>
        <p:txBody>
          <a:bodyPr wrap="square">
            <a:spAutoFit/>
          </a:bodyPr>
          <a:lstStyle/>
          <a:p>
            <a:r>
              <a:rPr lang="en-US" sz="2400" b="1" dirty="0">
                <a:solidFill>
                  <a:srgbClr val="FF0000"/>
                </a:solidFill>
              </a:rPr>
              <a:t>References:</a:t>
            </a:r>
            <a:endParaRPr lang="en-IN" sz="2400" b="1" dirty="0">
              <a:solidFill>
                <a:srgbClr val="FF0000"/>
              </a:solidFill>
            </a:endParaRPr>
          </a:p>
        </p:txBody>
      </p:sp>
      <p:sp>
        <p:nvSpPr>
          <p:cNvPr id="13" name="TextBox 12">
            <a:extLst>
              <a:ext uri="{FF2B5EF4-FFF2-40B4-BE49-F238E27FC236}">
                <a16:creationId xmlns:a16="http://schemas.microsoft.com/office/drawing/2014/main" id="{89F414F2-8AC2-793A-5AEF-E473DECF3F42}"/>
              </a:ext>
            </a:extLst>
          </p:cNvPr>
          <p:cNvSpPr txBox="1"/>
          <p:nvPr/>
        </p:nvSpPr>
        <p:spPr>
          <a:xfrm>
            <a:off x="7815050" y="2410477"/>
            <a:ext cx="1591099" cy="400110"/>
          </a:xfrm>
          <a:prstGeom prst="rect">
            <a:avLst/>
          </a:prstGeom>
          <a:noFill/>
        </p:spPr>
        <p:txBody>
          <a:bodyPr wrap="square" rtlCol="0">
            <a:spAutoFit/>
          </a:bodyPr>
          <a:lstStyle/>
          <a:p>
            <a:pPr algn="ctr"/>
            <a:r>
              <a:rPr lang="en-US" sz="2000" b="1" dirty="0">
                <a:solidFill>
                  <a:srgbClr val="7030A0"/>
                </a:solidFill>
              </a:rPr>
              <a:t> </a:t>
            </a:r>
            <a:endParaRPr lang="en-IN" sz="2000" b="1" dirty="0">
              <a:solidFill>
                <a:srgbClr val="7030A0"/>
              </a:solidFill>
            </a:endParaRPr>
          </a:p>
        </p:txBody>
      </p:sp>
      <p:pic>
        <p:nvPicPr>
          <p:cNvPr id="5" name="Google Shape;90;p1">
            <a:extLst>
              <a:ext uri="{FF2B5EF4-FFF2-40B4-BE49-F238E27FC236}">
                <a16:creationId xmlns:a16="http://schemas.microsoft.com/office/drawing/2014/main" id="{123DC4C1-964B-B4A0-B30E-225DE1E736A8}"/>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10" name="TextBox 9">
            <a:extLst>
              <a:ext uri="{FF2B5EF4-FFF2-40B4-BE49-F238E27FC236}">
                <a16:creationId xmlns:a16="http://schemas.microsoft.com/office/drawing/2014/main" id="{E243D029-7E32-6E3D-502B-4B7753E87392}"/>
              </a:ext>
            </a:extLst>
          </p:cNvPr>
          <p:cNvSpPr txBox="1"/>
          <p:nvPr/>
        </p:nvSpPr>
        <p:spPr>
          <a:xfrm>
            <a:off x="272954" y="1001116"/>
            <a:ext cx="6238066" cy="400110"/>
          </a:xfrm>
          <a:prstGeom prst="rect">
            <a:avLst/>
          </a:prstGeom>
          <a:noFill/>
        </p:spPr>
        <p:txBody>
          <a:bodyPr wrap="square">
            <a:spAutoFit/>
          </a:bodyPr>
          <a:lstStyle/>
          <a:p>
            <a:r>
              <a:rPr lang="en-US" sz="2000" b="1" dirty="0">
                <a:solidFill>
                  <a:schemeClr val="accent6">
                    <a:lumMod val="50000"/>
                  </a:schemeClr>
                </a:solidFill>
              </a:rPr>
              <a:t> </a:t>
            </a:r>
            <a:endParaRPr lang="en-IN" sz="2000" b="1" dirty="0">
              <a:solidFill>
                <a:schemeClr val="accent6">
                  <a:lumMod val="50000"/>
                </a:schemeClr>
              </a:solidFill>
            </a:endParaRPr>
          </a:p>
        </p:txBody>
      </p:sp>
      <p:sp>
        <p:nvSpPr>
          <p:cNvPr id="7" name="Slide Number Placeholder 6">
            <a:extLst>
              <a:ext uri="{FF2B5EF4-FFF2-40B4-BE49-F238E27FC236}">
                <a16:creationId xmlns:a16="http://schemas.microsoft.com/office/drawing/2014/main" id="{0BEC80B7-3822-A0B1-BC33-210A3D44FAF7}"/>
              </a:ext>
            </a:extLst>
          </p:cNvPr>
          <p:cNvSpPr>
            <a:spLocks noGrp="1"/>
          </p:cNvSpPr>
          <p:nvPr>
            <p:ph type="sldNum" sz="quarter" idx="12"/>
          </p:nvPr>
        </p:nvSpPr>
        <p:spPr/>
        <p:txBody>
          <a:bodyPr/>
          <a:lstStyle/>
          <a:p>
            <a:fld id="{8EC77227-B7F4-4800-97BE-1DE2687871B5}" type="slidenum">
              <a:rPr lang="en-IN" smtClean="0"/>
              <a:t>39</a:t>
            </a:fld>
            <a:endParaRPr lang="en-IN" dirty="0"/>
          </a:p>
        </p:txBody>
      </p:sp>
      <p:sp>
        <p:nvSpPr>
          <p:cNvPr id="9" name="TextBox 8">
            <a:extLst>
              <a:ext uri="{FF2B5EF4-FFF2-40B4-BE49-F238E27FC236}">
                <a16:creationId xmlns:a16="http://schemas.microsoft.com/office/drawing/2014/main" id="{35BAA898-6F03-A405-6323-3800F819A9C6}"/>
              </a:ext>
            </a:extLst>
          </p:cNvPr>
          <p:cNvSpPr txBox="1"/>
          <p:nvPr/>
        </p:nvSpPr>
        <p:spPr>
          <a:xfrm>
            <a:off x="256783" y="963846"/>
            <a:ext cx="11242959" cy="420256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t>Nagar, S., Nagar, &amp; Anglin. (2017). </a:t>
            </a:r>
            <a:r>
              <a:rPr lang="en-IN" i="1" dirty="0"/>
              <a:t>Beginning Julia Programming</a:t>
            </a:r>
            <a:r>
              <a:rPr lang="en-IN" dirty="0"/>
              <a:t>. Springer Science+ Business Media.</a:t>
            </a:r>
          </a:p>
          <a:p>
            <a:pPr marL="285750" indent="-285750" algn="just">
              <a:lnSpc>
                <a:spcPct val="150000"/>
              </a:lnSpc>
              <a:buFont typeface="Arial" panose="020B0604020202020204" pitchFamily="34" charset="0"/>
              <a:buChar char="•"/>
            </a:pPr>
            <a:r>
              <a:rPr lang="en-US" dirty="0"/>
              <a:t>Dash, S. K. (2021). </a:t>
            </a:r>
            <a:r>
              <a:rPr lang="en-US" i="1" dirty="0"/>
              <a:t>Hands-On Julia Programming: An Authoritative Guide to the Production-Ready Systems in Julia (English Edition)</a:t>
            </a:r>
            <a:r>
              <a:rPr lang="en-US" dirty="0"/>
              <a:t>. BPB Publications.</a:t>
            </a:r>
          </a:p>
          <a:p>
            <a:pPr marL="285750" indent="-285750" algn="just">
              <a:lnSpc>
                <a:spcPct val="150000"/>
              </a:lnSpc>
              <a:buFont typeface="Arial" panose="020B0604020202020204" pitchFamily="34" charset="0"/>
              <a:buChar char="•"/>
            </a:pPr>
            <a:r>
              <a:rPr lang="en-US" dirty="0"/>
              <a:t>McNicholas, P. D., &amp; Tait, P. (2019). </a:t>
            </a:r>
            <a:r>
              <a:rPr lang="en-US" i="1" dirty="0"/>
              <a:t>Data science with Julia</a:t>
            </a:r>
            <a:r>
              <a:rPr lang="en-US" dirty="0"/>
              <a:t>. Chapman and Hall/CRC.</a:t>
            </a:r>
          </a:p>
          <a:p>
            <a:pPr marL="285750" indent="-285750" algn="just">
              <a:lnSpc>
                <a:spcPct val="150000"/>
              </a:lnSpc>
              <a:buFont typeface="Arial" panose="020B0604020202020204" pitchFamily="34" charset="0"/>
              <a:buChar char="•"/>
            </a:pPr>
            <a:r>
              <a:rPr lang="en-US" dirty="0"/>
              <a:t>Phillips, L. (2023). </a:t>
            </a:r>
            <a:r>
              <a:rPr lang="en-US" i="1" dirty="0"/>
              <a:t>Practical Julia: A Hands-on Introduction for Scientific Minds</a:t>
            </a:r>
            <a:r>
              <a:rPr lang="en-US" dirty="0"/>
              <a:t>. No Starch Press</a:t>
            </a:r>
          </a:p>
          <a:p>
            <a:pPr marL="285750" indent="-285750" algn="just">
              <a:lnSpc>
                <a:spcPct val="150000"/>
              </a:lnSpc>
              <a:buFont typeface="Arial" panose="020B0604020202020204" pitchFamily="34" charset="0"/>
              <a:buChar char="•"/>
            </a:pPr>
            <a:r>
              <a:rPr lang="en-US" dirty="0"/>
              <a:t>Chaugule, S. S., &amp; Bhowmick, A. R. (2025). </a:t>
            </a:r>
            <a:r>
              <a:rPr lang="en-US" i="1" dirty="0"/>
              <a:t>A gentle introduction to statistical computing using Julia</a:t>
            </a:r>
            <a:r>
              <a:rPr lang="en-US" dirty="0"/>
              <a:t> (Version 2025). GitHub. </a:t>
            </a:r>
            <a:r>
              <a:rPr lang="en-US" dirty="0">
                <a:hlinkClick r:id="rId4"/>
              </a:rPr>
              <a:t>https://github.com/sujit016/A-Gentle-Introduction-to-Statistical-Computing-Using-Julia</a:t>
            </a:r>
            <a:endParaRPr lang="en-US" dirty="0"/>
          </a:p>
          <a:p>
            <a:pPr marL="285750" indent="-285750" algn="just">
              <a:lnSpc>
                <a:spcPct val="150000"/>
              </a:lnSpc>
              <a:buFont typeface="Arial" panose="020B0604020202020204" pitchFamily="34" charset="0"/>
              <a:buChar char="•"/>
            </a:pPr>
            <a:r>
              <a:rPr lang="en-US" dirty="0"/>
              <a:t>Verzani, J. (2025, August 29). </a:t>
            </a:r>
            <a:r>
              <a:rPr lang="en-US" i="1" dirty="0"/>
              <a:t>Calculus with Julia</a:t>
            </a:r>
            <a:r>
              <a:rPr lang="en-US" dirty="0"/>
              <a:t>. </a:t>
            </a:r>
            <a:r>
              <a:rPr lang="en-US" dirty="0">
                <a:hlinkClick r:id="rId5"/>
              </a:rPr>
              <a:t>https://jverzani.github.io/CalculusWithJuliaNotes.jl/</a:t>
            </a:r>
            <a:endParaRPr lang="en-US" dirty="0"/>
          </a:p>
          <a:p>
            <a:pPr marL="285750" indent="-285750" algn="just">
              <a:lnSpc>
                <a:spcPct val="150000"/>
              </a:lnSpc>
              <a:buFont typeface="Arial" panose="020B0604020202020204" pitchFamily="34" charset="0"/>
              <a:buChar char="•"/>
            </a:pPr>
            <a:r>
              <a:rPr lang="en-US" dirty="0" err="1"/>
              <a:t>Nazarathy</a:t>
            </a:r>
            <a:r>
              <a:rPr lang="en-US" dirty="0"/>
              <a:t>, Y., &amp; Klok, H. (2021). </a:t>
            </a:r>
            <a:r>
              <a:rPr lang="en-US" i="1" dirty="0"/>
              <a:t>Statistics with Julia: Fundamentals for data science, machine learning and artificial intelligence</a:t>
            </a:r>
            <a:r>
              <a:rPr lang="en-US" dirty="0"/>
              <a:t>. Springer Nature</a:t>
            </a:r>
          </a:p>
        </p:txBody>
      </p:sp>
    </p:spTree>
    <p:extLst>
      <p:ext uri="{BB962C8B-B14F-4D97-AF65-F5344CB8AC3E}">
        <p14:creationId xmlns:p14="http://schemas.microsoft.com/office/powerpoint/2010/main" val="42663751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12F1C-68C7-ECFE-46F4-D5B4EA6C495B}"/>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FC74149-2B68-50E8-E948-C4550FF55642}"/>
              </a:ext>
            </a:extLst>
          </p:cNvPr>
          <p:cNvSpPr txBox="1"/>
          <p:nvPr/>
        </p:nvSpPr>
        <p:spPr>
          <a:xfrm>
            <a:off x="7815050" y="2410477"/>
            <a:ext cx="1591099" cy="400110"/>
          </a:xfrm>
          <a:prstGeom prst="rect">
            <a:avLst/>
          </a:prstGeom>
          <a:noFill/>
        </p:spPr>
        <p:txBody>
          <a:bodyPr wrap="square" rtlCol="0">
            <a:spAutoFit/>
          </a:bodyPr>
          <a:lstStyle/>
          <a:p>
            <a:pPr algn="ctr"/>
            <a:r>
              <a:rPr lang="en-US" sz="2000" b="1" dirty="0">
                <a:solidFill>
                  <a:srgbClr val="7030A0"/>
                </a:solidFill>
              </a:rPr>
              <a:t> </a:t>
            </a:r>
            <a:endParaRPr lang="en-IN" sz="2000" b="1" dirty="0">
              <a:solidFill>
                <a:srgbClr val="7030A0"/>
              </a:solidFill>
            </a:endParaRPr>
          </a:p>
        </p:txBody>
      </p:sp>
      <p:pic>
        <p:nvPicPr>
          <p:cNvPr id="5" name="Google Shape;90;p1">
            <a:extLst>
              <a:ext uri="{FF2B5EF4-FFF2-40B4-BE49-F238E27FC236}">
                <a16:creationId xmlns:a16="http://schemas.microsoft.com/office/drawing/2014/main" id="{8F2B54B8-1D62-4BD1-A613-83976A2B9C23}"/>
              </a:ext>
            </a:extLst>
          </p:cNvPr>
          <p:cNvPicPr preferRelativeResize="0"/>
          <p:nvPr/>
        </p:nvPicPr>
        <p:blipFill rotWithShape="1">
          <a:blip r:embed="rId3">
            <a:alphaModFix/>
          </a:blip>
          <a:srcRect/>
          <a:stretch/>
        </p:blipFill>
        <p:spPr>
          <a:xfrm>
            <a:off x="11204812" y="0"/>
            <a:ext cx="987188" cy="1201171"/>
          </a:xfrm>
          <a:prstGeom prst="rect">
            <a:avLst/>
          </a:prstGeom>
          <a:noFill/>
          <a:ln>
            <a:noFill/>
          </a:ln>
        </p:spPr>
      </p:pic>
      <p:sp>
        <p:nvSpPr>
          <p:cNvPr id="10" name="TextBox 9">
            <a:extLst>
              <a:ext uri="{FF2B5EF4-FFF2-40B4-BE49-F238E27FC236}">
                <a16:creationId xmlns:a16="http://schemas.microsoft.com/office/drawing/2014/main" id="{3FC5AF8B-AEB6-9D14-E376-3C4DEC9F126F}"/>
              </a:ext>
            </a:extLst>
          </p:cNvPr>
          <p:cNvSpPr txBox="1"/>
          <p:nvPr/>
        </p:nvSpPr>
        <p:spPr>
          <a:xfrm>
            <a:off x="272954" y="1001116"/>
            <a:ext cx="6238066" cy="400110"/>
          </a:xfrm>
          <a:prstGeom prst="rect">
            <a:avLst/>
          </a:prstGeom>
          <a:noFill/>
        </p:spPr>
        <p:txBody>
          <a:bodyPr wrap="square">
            <a:spAutoFit/>
          </a:bodyPr>
          <a:lstStyle/>
          <a:p>
            <a:r>
              <a:rPr lang="en-US" sz="2000" b="1" dirty="0">
                <a:solidFill>
                  <a:schemeClr val="accent6">
                    <a:lumMod val="50000"/>
                  </a:schemeClr>
                </a:solidFill>
              </a:rPr>
              <a:t> </a:t>
            </a:r>
            <a:endParaRPr lang="en-IN" sz="2000" b="1" dirty="0">
              <a:solidFill>
                <a:schemeClr val="accent6">
                  <a:lumMod val="50000"/>
                </a:schemeClr>
              </a:solidFill>
            </a:endParaRPr>
          </a:p>
        </p:txBody>
      </p:sp>
      <p:sp>
        <p:nvSpPr>
          <p:cNvPr id="7" name="Slide Number Placeholder 6">
            <a:extLst>
              <a:ext uri="{FF2B5EF4-FFF2-40B4-BE49-F238E27FC236}">
                <a16:creationId xmlns:a16="http://schemas.microsoft.com/office/drawing/2014/main" id="{C3E40FD3-2608-F69D-9C52-A4DB171468CB}"/>
              </a:ext>
            </a:extLst>
          </p:cNvPr>
          <p:cNvSpPr>
            <a:spLocks noGrp="1"/>
          </p:cNvSpPr>
          <p:nvPr>
            <p:ph type="sldNum" sz="quarter" idx="12"/>
          </p:nvPr>
        </p:nvSpPr>
        <p:spPr/>
        <p:txBody>
          <a:bodyPr/>
          <a:lstStyle/>
          <a:p>
            <a:fld id="{8EC77227-B7F4-4800-97BE-1DE2687871B5}" type="slidenum">
              <a:rPr lang="en-IN" smtClean="0"/>
              <a:t>40</a:t>
            </a:fld>
            <a:endParaRPr lang="en-IN" dirty="0"/>
          </a:p>
        </p:txBody>
      </p:sp>
      <p:sp>
        <p:nvSpPr>
          <p:cNvPr id="2" name="TextBox 1">
            <a:extLst>
              <a:ext uri="{FF2B5EF4-FFF2-40B4-BE49-F238E27FC236}">
                <a16:creationId xmlns:a16="http://schemas.microsoft.com/office/drawing/2014/main" id="{CB1667DF-FB80-5E89-561F-C914FFA95C0D}"/>
              </a:ext>
            </a:extLst>
          </p:cNvPr>
          <p:cNvSpPr txBox="1"/>
          <p:nvPr/>
        </p:nvSpPr>
        <p:spPr>
          <a:xfrm>
            <a:off x="607885" y="2787392"/>
            <a:ext cx="10435949" cy="1323439"/>
          </a:xfrm>
          <a:prstGeom prst="rect">
            <a:avLst/>
          </a:prstGeom>
          <a:noFill/>
        </p:spPr>
        <p:txBody>
          <a:bodyPr wrap="square" rtlCol="0">
            <a:spAutoFit/>
          </a:bodyPr>
          <a:lstStyle/>
          <a:p>
            <a:pPr algn="ctr"/>
            <a:r>
              <a:rPr lang="en-US" sz="2800" b="1" dirty="0">
                <a:solidFill>
                  <a:srgbClr val="FF0000"/>
                </a:solidFill>
                <a:latin typeface="Papyrus" panose="03070502060502030205" pitchFamily="66" charset="0"/>
                <a:ea typeface="Cascadia Code SemiBold" panose="020B0609020000020004" pitchFamily="49" charset="0"/>
                <a:cs typeface="Cascadia Code SemiBold" panose="020B0609020000020004" pitchFamily="49" charset="0"/>
              </a:rPr>
              <a:t> </a:t>
            </a:r>
            <a:r>
              <a:rPr lang="en-US" sz="8000" b="1" dirty="0">
                <a:solidFill>
                  <a:srgbClr val="FF0000"/>
                </a:solidFill>
                <a:latin typeface="Papyrus" panose="03070502060502030205" pitchFamily="66" charset="0"/>
                <a:ea typeface="Cascadia Code SemiBold" panose="020B0609020000020004" pitchFamily="49" charset="0"/>
                <a:cs typeface="Cascadia Code SemiBold" panose="020B0609020000020004" pitchFamily="49" charset="0"/>
              </a:rPr>
              <a:t>Thank You</a:t>
            </a:r>
            <a:endParaRPr lang="en-US" sz="2800" b="1" dirty="0">
              <a:solidFill>
                <a:srgbClr val="FF0000"/>
              </a:solidFill>
              <a:latin typeface="Papyrus" panose="03070502060502030205" pitchFamily="66" charset="0"/>
              <a:ea typeface="Cascadia Code SemiBold" panose="020B0609020000020004" pitchFamily="49" charset="0"/>
              <a:cs typeface="Cascadia Code SemiBold" panose="020B0609020000020004" pitchFamily="49" charset="0"/>
            </a:endParaRPr>
          </a:p>
        </p:txBody>
      </p:sp>
    </p:spTree>
    <p:extLst>
      <p:ext uri="{BB962C8B-B14F-4D97-AF65-F5344CB8AC3E}">
        <p14:creationId xmlns:p14="http://schemas.microsoft.com/office/powerpoint/2010/main" val="1386695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1331</TotalTime>
  <Words>3542</Words>
  <Application>Microsoft Office PowerPoint</Application>
  <PresentationFormat>Widescreen</PresentationFormat>
  <Paragraphs>339</Paragraphs>
  <Slides>40</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Aptos</vt:lpstr>
      <vt:lpstr>Arial</vt:lpstr>
      <vt:lpstr>Calibri</vt:lpstr>
      <vt:lpstr>Calibri Light</vt:lpstr>
      <vt:lpstr>Cambria Math</vt:lpstr>
      <vt:lpstr>Courier New</vt:lpstr>
      <vt:lpstr>Papyrus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Sujit Chaugule</dc:creator>
  <cp:lastModifiedBy>Sujit Chaugule</cp:lastModifiedBy>
  <cp:revision>102</cp:revision>
  <dcterms:created xsi:type="dcterms:W3CDTF">2025-09-24T11:07:52Z</dcterms:created>
  <dcterms:modified xsi:type="dcterms:W3CDTF">2026-02-13T06:46:48Z</dcterms:modified>
</cp:coreProperties>
</file>